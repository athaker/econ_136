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41"/>
  </p:notesMasterIdLst>
  <p:sldIdLst>
    <p:sldId id="256" r:id="rId3"/>
    <p:sldId id="257" r:id="rId4"/>
    <p:sldId id="258" r:id="rId5"/>
    <p:sldId id="259" r:id="rId6"/>
    <p:sldId id="260" r:id="rId7"/>
    <p:sldId id="291" r:id="rId8"/>
    <p:sldId id="292"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93" r:id="rId29"/>
    <p:sldId id="280" r:id="rId30"/>
    <p:sldId id="281" r:id="rId31"/>
    <p:sldId id="282" r:id="rId32"/>
    <p:sldId id="283" r:id="rId33"/>
    <p:sldId id="284" r:id="rId34"/>
    <p:sldId id="285" r:id="rId35"/>
    <p:sldId id="286" r:id="rId36"/>
    <p:sldId id="287" r:id="rId37"/>
    <p:sldId id="288" r:id="rId38"/>
    <p:sldId id="289" r:id="rId39"/>
    <p:sldId id="290" r:id="rId40"/>
  </p:sldIdLst>
  <p:sldSz cx="9144000" cy="5143500" type="screen16x9"/>
  <p:notesSz cx="6858000" cy="9144000"/>
  <p:embeddedFontLst>
    <p:embeddedFont>
      <p:font typeface="Montserrat" pitchFamily="2" charset="77"/>
      <p:regular r:id="rId42"/>
    </p:embeddedFont>
    <p:embeddedFont>
      <p:font typeface="Noto Sans Symbols" pitchFamily="2" charset="0"/>
      <p:regular r:id="rId43"/>
      <p:bold r:id="rId44"/>
    </p:embeddedFont>
    <p:embeddedFont>
      <p:font typeface="Poppins" pitchFamily="2" charset="77"/>
      <p:regular r:id="rId45"/>
      <p:bold r:id="rId46"/>
      <p:italic r:id="rId47"/>
      <p:boldItalic r:id="rId48"/>
    </p:embeddedFont>
    <p:embeddedFont>
      <p:font typeface="Poppins Medium" panose="00000600000000000000" pitchFamily="2" charset="77"/>
      <p:regular r:id="rId49"/>
      <p:italic r:id="rId50"/>
    </p:embeddedFont>
    <p:embeddedFont>
      <p:font typeface="Poppins SemiBold" panose="00000700000000000000" pitchFamily="2" charset="77"/>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C82F5D-7F28-4AD3-9396-DA1E2200D94E}">
  <a:tblStyle styleId="{C2C82F5D-7F28-4AD3-9396-DA1E2200D94E}"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988DE2-97A2-416A-9140-A0211178012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notesMaster" Target="notesMasters/notesMaster1.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 Id="rId46" Type="http://schemas.openxmlformats.org/officeDocument/2006/relationships/font" Target="fonts/font5.fntdata"/><Relationship Id="rId47" Type="http://schemas.openxmlformats.org/officeDocument/2006/relationships/font" Target="fonts/font6.fntdata"/><Relationship Id="rId48" Type="http://schemas.openxmlformats.org/officeDocument/2006/relationships/font" Target="fonts/font7.fntdata"/><Relationship Id="rId49" Type="http://schemas.openxmlformats.org/officeDocument/2006/relationships/font" Target="fonts/font8.fntdata"/><Relationship Id="rId50" Type="http://schemas.openxmlformats.org/officeDocument/2006/relationships/font" Target="fonts/font9.fntdata"/><Relationship Id="rId51" Type="http://schemas.openxmlformats.org/officeDocument/2006/relationships/font" Target="fonts/font10.fntdata"/><Relationship Id="rId52" Type="http://schemas.openxmlformats.org/officeDocument/2006/relationships/font" Target="fonts/font11.fntdata"/><Relationship Id="rId53" Type="http://schemas.openxmlformats.org/officeDocument/2006/relationships/font" Target="fonts/font12.fntdata"/><Relationship Id="rId54" Type="http://schemas.openxmlformats.org/officeDocument/2006/relationships/font" Target="fonts/font13.fntdata"/><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44a694f44_1_72:notes"/>
          <p:cNvSpPr>
            <a:spLocks noGrp="1" noRot="1" noChangeAspect="1"/>
          </p:cNvSpPr>
          <p:nvPr>
            <p:ph type="sldImg" idx="2"/>
          </p:nvPr>
        </p:nvSpPr>
        <p:spPr>
          <a:xfrm>
            <a:off x="685800" y="1143000"/>
            <a:ext cx="5486400" cy="30876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3744a694f44_1_72:notes"/>
          <p:cNvSpPr txBox="1">
            <a:spLocks noGrp="1"/>
          </p:cNvSpPr>
          <p:nvPr>
            <p:ph type="body" idx="1"/>
          </p:nvPr>
        </p:nvSpPr>
        <p:spPr>
          <a:xfrm>
            <a:off x="685800" y="4399845"/>
            <a:ext cx="5486400" cy="360106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3744a694f44_1_72:notes"/>
          <p:cNvSpPr txBox="1">
            <a:spLocks noGrp="1"/>
          </p:cNvSpPr>
          <p:nvPr>
            <p:ph type="sldNum" idx="12"/>
          </p:nvPr>
        </p:nvSpPr>
        <p:spPr>
          <a:xfrm>
            <a:off x="3885010" y="8686800"/>
            <a:ext cx="2971800" cy="45706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760f6f90ec_0_6: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g3760f6f90ec_0_6: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760f6f90ec_0_6: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760f6f90ec_0_50: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g3760f6f90ec_0_5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3760f6f90ec_0_5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60f6f90ec_0_87: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760f6f90ec_0_87: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760f6f90ec_0_87: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60f6f90ec_0_94: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3760f6f90ec_0_94: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3760f6f90ec_0_94: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760f6f90ec_0_103: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g3760f6f90ec_0_103: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g3760f6f90ec_0_103: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760f6f90ec_0_109: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3760f6f90ec_0_10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760f6f90ec_0_10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760f6f90ec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760f6f90ec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760f6f90ec_0_12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3760f6f90ec_0_12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3760f6f90ec_0_12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760f6f90ec_0_136: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3760f6f90ec_0_136: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g3760f6f90ec_0_136: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760f6f90ec_0_144: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3760f6f90ec_0_144: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g3760f6f90ec_0_144: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760f6f90ec_0_15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760f6f90ec_0_15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760f6f90ec_0_15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760f6f90ec_0_158: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760f6f90ec_0_158: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760f6f90ec_0_158: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760f6f90ec_0_165: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3760f6f90ec_0_165: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760f6f90ec_0_165: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760f6f90ec_0_176: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760f6f90ec_0_176: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760f6f90ec_0_176: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760f6f90ec_0_369: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g3760f6f90ec_0_36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g3760f6f90ec_0_36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760f6f90ec_0_311: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760f6f90ec_0_311: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g3760f6f90ec_0_311: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760f6f90ec_0_18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760f6f90ec_0_18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3760f6f90ec_0_18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760f6f90ec_0_19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3760f6f90ec_0_19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760f6f90ec_0_19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60f6f90ec_0_206: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3760f6f90ec_0_206: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3760f6f90ec_0_206: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760f6f90ec_0_216: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760f6f90ec_0_216: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760f6f90ec_0_216: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760f6f90ec_0_269: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g3760f6f90ec_0_26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g3760f6f90ec_0_26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760f6f90ec_0_251: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g3760f6f90ec_0_251: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g3760f6f90ec_0_251: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760f6f90ec_0_258: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760f6f90ec_0_258: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760f6f90ec_0_258: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760f6f90ec_0_393: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3760f6f90ec_0_393: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3760f6f90ec_0_393: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28</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760f6f90ec_0_360: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3760f6f90ec_0_36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3760f6f90ec_0_36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760f6f90ec_0_377: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g3760f6f90ec_0_377: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g3760f6f90ec_0_377: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30</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744a694f44_1_270: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g3744a694f44_1_27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g3744a694f44_1_27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31</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7292596267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7292596267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60f6f90ec_0_28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760f6f90ec_0_28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3760f6f90ec_0_28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33</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760f6f90ec_0_302: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3760f6f90ec_0_302: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g3760f6f90ec_0_302: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34</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760f6f90ec_0_320: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g3760f6f90ec_0_320: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3760f6f90ec_0_320: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35</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760f6f90ec_0_327: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g3760f6f90ec_0_327: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g3760f6f90ec_0_327: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36</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760f6f90ec_0_339: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g3760f6f90ec_0_339: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g3760f6f90ec_0_339: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37</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760f6f90ec_0_348:notes"/>
          <p:cNvSpPr>
            <a:spLocks noGrp="1" noRot="1" noChangeAspect="1"/>
          </p:cNvSpPr>
          <p:nvPr>
            <p:ph type="sldImg" idx="2"/>
          </p:nvPr>
        </p:nvSpPr>
        <p:spPr>
          <a:xfrm>
            <a:off x="2271713" y="1143001"/>
            <a:ext cx="2314500" cy="3087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g3760f6f90ec_0_348:notes"/>
          <p:cNvSpPr txBox="1">
            <a:spLocks noGrp="1"/>
          </p:cNvSpPr>
          <p:nvPr>
            <p:ph type="body" idx="1"/>
          </p:nvPr>
        </p:nvSpPr>
        <p:spPr>
          <a:xfrm>
            <a:off x="685800" y="4399845"/>
            <a:ext cx="5486400" cy="360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g3760f6f90ec_0_348:notes"/>
          <p:cNvSpPr txBox="1">
            <a:spLocks noGrp="1"/>
          </p:cNvSpPr>
          <p:nvPr>
            <p:ph type="sldNum" idx="12"/>
          </p:nvPr>
        </p:nvSpPr>
        <p:spPr>
          <a:xfrm>
            <a:off x="388501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
  <p:cSld name="CUSTOM_2">
    <p:spTree>
      <p:nvGrpSpPr>
        <p:cNvPr id="1" name="Shape 50"/>
        <p:cNvGrpSpPr/>
        <p:nvPr/>
      </p:nvGrpSpPr>
      <p:grpSpPr>
        <a:xfrm>
          <a:off x="0" y="0"/>
          <a:ext cx="0" cy="0"/>
          <a:chOff x="0" y="0"/>
          <a:chExt cx="0" cy="0"/>
        </a:xfrm>
      </p:grpSpPr>
      <p:pic>
        <p:nvPicPr>
          <p:cNvPr id="51" name="Google Shape;51;p13" descr="AdobeStock_190473635.png"/>
          <p:cNvPicPr preferRelativeResize="0"/>
          <p:nvPr/>
        </p:nvPicPr>
        <p:blipFill rotWithShape="1">
          <a:blip r:embed="rId2">
            <a:alphaModFix amt="34460"/>
          </a:blip>
          <a:srcRect l="703" t="9837" r="9174"/>
          <a:stretch/>
        </p:blipFill>
        <p:spPr>
          <a:xfrm>
            <a:off x="-12275" y="0"/>
            <a:ext cx="9207474" cy="5186002"/>
          </a:xfrm>
          <a:prstGeom prst="rect">
            <a:avLst/>
          </a:prstGeom>
          <a:noFill/>
          <a:ln>
            <a:noFill/>
          </a:ln>
        </p:spPr>
      </p:pic>
      <p:sp>
        <p:nvSpPr>
          <p:cNvPr id="52" name="Google Shape;52;p13"/>
          <p:cNvSpPr txBox="1">
            <a:spLocks noGrp="1"/>
          </p:cNvSpPr>
          <p:nvPr>
            <p:ph type="sldNum" idx="12"/>
          </p:nvPr>
        </p:nvSpPr>
        <p:spPr>
          <a:xfrm>
            <a:off x="4484637" y="4905375"/>
            <a:ext cx="170100" cy="177000"/>
          </a:xfrm>
          <a:prstGeom prst="rect">
            <a:avLst/>
          </a:prstGeom>
        </p:spPr>
        <p:txBody>
          <a:bodyPr spcFirstLastPara="1" wrap="square" lIns="91425" tIns="91425" rIns="91425" bIns="91425" anchor="ctr" anchorCtr="0">
            <a:normAutofit fontScale="25000" lnSpcReduction="20000"/>
          </a:bodyPr>
          <a:lstStyle>
            <a:lvl1pPr lvl="0">
              <a:buClr>
                <a:srgbClr val="000000"/>
              </a:buClr>
              <a:buSzPts val="900"/>
              <a:buFont typeface="Helvetica Neue Light"/>
              <a:buNone/>
              <a:defRPr>
                <a:solidFill>
                  <a:srgbClr val="B58F36"/>
                </a:solidFill>
              </a:defRPr>
            </a:lvl1pPr>
            <a:lvl2pPr lvl="1">
              <a:buClr>
                <a:srgbClr val="000000"/>
              </a:buClr>
              <a:buSzPts val="900"/>
              <a:buFont typeface="Helvetica Neue Light"/>
              <a:buNone/>
              <a:defRPr>
                <a:solidFill>
                  <a:srgbClr val="B58F36"/>
                </a:solidFill>
              </a:defRPr>
            </a:lvl2pPr>
            <a:lvl3pPr lvl="2">
              <a:buClr>
                <a:srgbClr val="000000"/>
              </a:buClr>
              <a:buSzPts val="900"/>
              <a:buFont typeface="Helvetica Neue Light"/>
              <a:buNone/>
              <a:defRPr>
                <a:solidFill>
                  <a:srgbClr val="B58F36"/>
                </a:solidFill>
              </a:defRPr>
            </a:lvl3pPr>
            <a:lvl4pPr lvl="3">
              <a:buClr>
                <a:srgbClr val="000000"/>
              </a:buClr>
              <a:buSzPts val="900"/>
              <a:buFont typeface="Helvetica Neue Light"/>
              <a:buNone/>
              <a:defRPr>
                <a:solidFill>
                  <a:srgbClr val="B58F36"/>
                </a:solidFill>
              </a:defRPr>
            </a:lvl4pPr>
            <a:lvl5pPr lvl="4">
              <a:buClr>
                <a:srgbClr val="000000"/>
              </a:buClr>
              <a:buSzPts val="900"/>
              <a:buFont typeface="Helvetica Neue Light"/>
              <a:buNone/>
              <a:defRPr>
                <a:solidFill>
                  <a:srgbClr val="B58F36"/>
                </a:solidFill>
              </a:defRPr>
            </a:lvl5pPr>
            <a:lvl6pPr lvl="5">
              <a:buClr>
                <a:srgbClr val="000000"/>
              </a:buClr>
              <a:buSzPts val="900"/>
              <a:buFont typeface="Helvetica Neue Light"/>
              <a:buNone/>
              <a:defRPr>
                <a:solidFill>
                  <a:srgbClr val="B58F36"/>
                </a:solidFill>
              </a:defRPr>
            </a:lvl6pPr>
            <a:lvl7pPr lvl="6">
              <a:buClr>
                <a:srgbClr val="000000"/>
              </a:buClr>
              <a:buSzPts val="900"/>
              <a:buFont typeface="Helvetica Neue Light"/>
              <a:buNone/>
              <a:defRPr>
                <a:solidFill>
                  <a:srgbClr val="B58F36"/>
                </a:solidFill>
              </a:defRPr>
            </a:lvl7pPr>
            <a:lvl8pPr lvl="7">
              <a:buClr>
                <a:srgbClr val="000000"/>
              </a:buClr>
              <a:buSzPts val="900"/>
              <a:buFont typeface="Helvetica Neue Light"/>
              <a:buNone/>
              <a:defRPr>
                <a:solidFill>
                  <a:srgbClr val="B58F36"/>
                </a:solidFill>
              </a:defRPr>
            </a:lvl8pPr>
            <a:lvl9pPr lvl="8">
              <a:buClr>
                <a:srgbClr val="000000"/>
              </a:buClr>
              <a:buSzPts val="900"/>
              <a:buFont typeface="Helvetica Neue Light"/>
              <a:buNone/>
              <a:defRPr>
                <a:solidFill>
                  <a:srgbClr val="B58F36"/>
                </a:solidFill>
              </a:defRPr>
            </a:lvl9pPr>
          </a:lstStyle>
          <a:p>
            <a:pPr marL="0" lvl="0" indent="0" algn="r" rtl="0">
              <a:spcBef>
                <a:spcPts val="0"/>
              </a:spcBef>
              <a:spcAft>
                <a:spcPts val="0"/>
              </a:spcAft>
              <a:buNone/>
            </a:pPr>
            <a:fld id="{00000000-1234-1234-1234-123412341234}" type="slidenum">
              <a:rPr lang="en"/>
              <a:t>‹#›</a:t>
            </a:fld>
            <a:endParaRPr sz="500">
              <a:latin typeface="Arial"/>
              <a:ea typeface="Arial"/>
              <a:cs typeface="Arial"/>
              <a:sym typeface="Arial"/>
            </a:endParaRPr>
          </a:p>
        </p:txBody>
      </p:sp>
      <p:pic>
        <p:nvPicPr>
          <p:cNvPr id="53" name="Google Shape;53;p13" descr="logo_gold.png"/>
          <p:cNvPicPr preferRelativeResize="0"/>
          <p:nvPr/>
        </p:nvPicPr>
        <p:blipFill rotWithShape="1">
          <a:blip r:embed="rId3">
            <a:alphaModFix/>
          </a:blip>
          <a:srcRect/>
          <a:stretch/>
        </p:blipFill>
        <p:spPr>
          <a:xfrm>
            <a:off x="8545129" y="4597587"/>
            <a:ext cx="495837" cy="430698"/>
          </a:xfrm>
          <a:prstGeom prst="rect">
            <a:avLst/>
          </a:prstGeom>
          <a:noFill/>
          <a:ln>
            <a:noFill/>
          </a:ln>
        </p:spPr>
      </p:pic>
      <p:sp>
        <p:nvSpPr>
          <p:cNvPr id="54" name="Google Shape;54;p13"/>
          <p:cNvSpPr/>
          <p:nvPr/>
        </p:nvSpPr>
        <p:spPr>
          <a:xfrm>
            <a:off x="-50800" y="5064546"/>
            <a:ext cx="9246000" cy="85200"/>
          </a:xfrm>
          <a:prstGeom prst="rect">
            <a:avLst/>
          </a:prstGeom>
          <a:gradFill>
            <a:gsLst>
              <a:gs pos="0">
                <a:srgbClr val="0F2255"/>
              </a:gs>
              <a:gs pos="100000">
                <a:srgbClr val="204586"/>
              </a:gs>
            </a:gsLst>
            <a:lin ang="0" scaled="0"/>
          </a:gra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cxnSp>
        <p:nvCxnSpPr>
          <p:cNvPr id="55" name="Google Shape;55;p13"/>
          <p:cNvCxnSpPr/>
          <p:nvPr/>
        </p:nvCxnSpPr>
        <p:spPr>
          <a:xfrm>
            <a:off x="-12275" y="553500"/>
            <a:ext cx="1558500" cy="0"/>
          </a:xfrm>
          <a:prstGeom prst="straightConnector1">
            <a:avLst/>
          </a:prstGeom>
          <a:noFill/>
          <a:ln w="19050" cap="flat" cmpd="sng">
            <a:solidFill>
              <a:srgbClr val="204586"/>
            </a:solidFill>
            <a:prstDash val="solid"/>
            <a:miter lim="400000"/>
            <a:headEnd type="none" w="sm" len="sm"/>
            <a:tailEnd type="none" w="sm" len="sm"/>
          </a:ln>
        </p:spPr>
      </p:cxnSp>
      <p:sp>
        <p:nvSpPr>
          <p:cNvPr id="56" name="Google Shape;56;p13"/>
          <p:cNvSpPr txBox="1">
            <a:spLocks noGrp="1"/>
          </p:cNvSpPr>
          <p:nvPr>
            <p:ph type="title"/>
          </p:nvPr>
        </p:nvSpPr>
        <p:spPr>
          <a:xfrm>
            <a:off x="140125" y="124825"/>
            <a:ext cx="3968700" cy="517200"/>
          </a:xfrm>
          <a:prstGeom prst="rect">
            <a:avLst/>
          </a:prstGeom>
        </p:spPr>
        <p:txBody>
          <a:bodyPr spcFirstLastPara="1" wrap="square" lIns="91425" tIns="91425" rIns="91425" bIns="91425" anchor="t" anchorCtr="0">
            <a:normAutofit/>
          </a:bodyPr>
          <a:lstStyle>
            <a:lvl1pPr lvl="0" algn="l">
              <a:spcBef>
                <a:spcPts val="0"/>
              </a:spcBef>
              <a:spcAft>
                <a:spcPts val="0"/>
              </a:spcAft>
              <a:buClr>
                <a:srgbClr val="B58F36"/>
              </a:buClr>
              <a:buSzPts val="2100"/>
              <a:buNone/>
              <a:defRPr sz="2100" b="1">
                <a:solidFill>
                  <a:srgbClr val="B58F36"/>
                </a:solidFill>
              </a:defRPr>
            </a:lvl1pPr>
            <a:lvl2pPr lvl="1">
              <a:spcBef>
                <a:spcPts val="0"/>
              </a:spcBef>
              <a:spcAft>
                <a:spcPts val="0"/>
              </a:spcAft>
              <a:buSzPts val="2800"/>
              <a:buNone/>
              <a:defRPr>
                <a:highlight>
                  <a:srgbClr val="B58F36"/>
                </a:highlight>
              </a:defRPr>
            </a:lvl2pPr>
            <a:lvl3pPr lvl="2">
              <a:spcBef>
                <a:spcPts val="0"/>
              </a:spcBef>
              <a:spcAft>
                <a:spcPts val="0"/>
              </a:spcAft>
              <a:buSzPts val="2800"/>
              <a:buNone/>
              <a:defRPr>
                <a:highlight>
                  <a:srgbClr val="B58F36"/>
                </a:highlight>
              </a:defRPr>
            </a:lvl3pPr>
            <a:lvl4pPr lvl="3">
              <a:spcBef>
                <a:spcPts val="0"/>
              </a:spcBef>
              <a:spcAft>
                <a:spcPts val="0"/>
              </a:spcAft>
              <a:buSzPts val="2800"/>
              <a:buNone/>
              <a:defRPr>
                <a:highlight>
                  <a:srgbClr val="B58F36"/>
                </a:highlight>
              </a:defRPr>
            </a:lvl4pPr>
            <a:lvl5pPr lvl="4">
              <a:spcBef>
                <a:spcPts val="0"/>
              </a:spcBef>
              <a:spcAft>
                <a:spcPts val="0"/>
              </a:spcAft>
              <a:buSzPts val="2800"/>
              <a:buNone/>
              <a:defRPr>
                <a:highlight>
                  <a:srgbClr val="B58F36"/>
                </a:highlight>
              </a:defRPr>
            </a:lvl5pPr>
            <a:lvl6pPr lvl="5">
              <a:spcBef>
                <a:spcPts val="0"/>
              </a:spcBef>
              <a:spcAft>
                <a:spcPts val="0"/>
              </a:spcAft>
              <a:buSzPts val="2800"/>
              <a:buNone/>
              <a:defRPr>
                <a:highlight>
                  <a:srgbClr val="B58F36"/>
                </a:highlight>
              </a:defRPr>
            </a:lvl6pPr>
            <a:lvl7pPr lvl="6">
              <a:spcBef>
                <a:spcPts val="0"/>
              </a:spcBef>
              <a:spcAft>
                <a:spcPts val="0"/>
              </a:spcAft>
              <a:buSzPts val="2800"/>
              <a:buNone/>
              <a:defRPr>
                <a:highlight>
                  <a:srgbClr val="B58F36"/>
                </a:highlight>
              </a:defRPr>
            </a:lvl7pPr>
            <a:lvl8pPr lvl="7">
              <a:spcBef>
                <a:spcPts val="0"/>
              </a:spcBef>
              <a:spcAft>
                <a:spcPts val="0"/>
              </a:spcAft>
              <a:buSzPts val="2800"/>
              <a:buNone/>
              <a:defRPr>
                <a:highlight>
                  <a:srgbClr val="B58F36"/>
                </a:highlight>
              </a:defRPr>
            </a:lvl8pPr>
            <a:lvl9pPr lvl="8">
              <a:spcBef>
                <a:spcPts val="0"/>
              </a:spcBef>
              <a:spcAft>
                <a:spcPts val="0"/>
              </a:spcAft>
              <a:buSzPts val="2800"/>
              <a:buNone/>
              <a:defRPr>
                <a:highlight>
                  <a:srgbClr val="B58F36"/>
                </a:highlight>
              </a:defRPr>
            </a:lvl9pPr>
          </a:lstStyle>
          <a:p>
            <a:endParaRPr/>
          </a:p>
        </p:txBody>
      </p:sp>
      <p:sp>
        <p:nvSpPr>
          <p:cNvPr id="57" name="Google Shape;57;p13"/>
          <p:cNvSpPr txBox="1">
            <a:spLocks noGrp="1"/>
          </p:cNvSpPr>
          <p:nvPr>
            <p:ph type="body" idx="1"/>
          </p:nvPr>
        </p:nvSpPr>
        <p:spPr>
          <a:xfrm>
            <a:off x="195225" y="745125"/>
            <a:ext cx="4289400" cy="17655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204586"/>
              </a:buClr>
              <a:buSzPts val="1800"/>
              <a:buChar char="●"/>
              <a:defRPr>
                <a:solidFill>
                  <a:srgbClr val="204586"/>
                </a:solidFill>
              </a:defRPr>
            </a:lvl1pPr>
            <a:lvl2pPr marL="914400" lvl="1" indent="-349250">
              <a:spcBef>
                <a:spcPts val="1200"/>
              </a:spcBef>
              <a:spcAft>
                <a:spcPts val="0"/>
              </a:spcAft>
              <a:buSzPts val="1900"/>
              <a:buChar char="○"/>
              <a:defRPr sz="1400"/>
            </a:lvl2pPr>
            <a:lvl3pPr marL="1371600" lvl="2" indent="-317500">
              <a:spcBef>
                <a:spcPts val="1200"/>
              </a:spcBef>
              <a:spcAft>
                <a:spcPts val="0"/>
              </a:spcAft>
              <a:buSzPts val="1400"/>
              <a:buChar char="■"/>
              <a:defRPr sz="1400"/>
            </a:lvl3pPr>
            <a:lvl4pPr marL="1828800" lvl="3" indent="-317500">
              <a:spcBef>
                <a:spcPts val="1200"/>
              </a:spcBef>
              <a:spcAft>
                <a:spcPts val="0"/>
              </a:spcAft>
              <a:buSzPts val="1400"/>
              <a:buChar char="●"/>
              <a:defRPr sz="1400"/>
            </a:lvl4pPr>
            <a:lvl5pPr marL="2286000" lvl="4" indent="-317500">
              <a:spcBef>
                <a:spcPts val="1200"/>
              </a:spcBef>
              <a:spcAft>
                <a:spcPts val="0"/>
              </a:spcAft>
              <a:buSzPts val="1400"/>
              <a:buChar char="○"/>
              <a:defRPr sz="1400"/>
            </a:lvl5pPr>
            <a:lvl6pPr marL="2743200" lvl="5" indent="-317500">
              <a:spcBef>
                <a:spcPts val="1200"/>
              </a:spcBef>
              <a:spcAft>
                <a:spcPts val="0"/>
              </a:spcAft>
              <a:buSzPts val="1400"/>
              <a:buChar char="■"/>
              <a:defRPr sz="1400"/>
            </a:lvl6pPr>
            <a:lvl7pPr marL="3200400" lvl="6" indent="-317500">
              <a:spcBef>
                <a:spcPts val="1200"/>
              </a:spcBef>
              <a:spcAft>
                <a:spcPts val="0"/>
              </a:spcAft>
              <a:buSzPts val="1400"/>
              <a:buChar char="●"/>
              <a:defRPr sz="1400"/>
            </a:lvl7pPr>
            <a:lvl8pPr marL="3657600" lvl="7" indent="-317500">
              <a:spcBef>
                <a:spcPts val="1200"/>
              </a:spcBef>
              <a:spcAft>
                <a:spcPts val="0"/>
              </a:spcAft>
              <a:buSzPts val="1400"/>
              <a:buChar char="○"/>
              <a:defRPr sz="1400"/>
            </a:lvl8pPr>
            <a:lvl9pPr marL="4114800" lvl="8" indent="-317500">
              <a:spcBef>
                <a:spcPts val="1200"/>
              </a:spcBef>
              <a:spcAft>
                <a:spcPts val="1200"/>
              </a:spcAft>
              <a:buSzPts val="1400"/>
              <a:buChar char="■"/>
              <a:defRPr sz="1400"/>
            </a:lvl9pPr>
          </a:lstStyle>
          <a:p>
            <a:endParaRPr/>
          </a:p>
        </p:txBody>
      </p:sp>
      <p:pic>
        <p:nvPicPr>
          <p:cNvPr id="58" name="Google Shape;58;p13"/>
          <p:cNvPicPr preferRelativeResize="0"/>
          <p:nvPr/>
        </p:nvPicPr>
        <p:blipFill>
          <a:blip r:embed="rId4">
            <a:alphaModFix/>
          </a:blip>
          <a:stretch>
            <a:fillRect/>
          </a:stretch>
        </p:blipFill>
        <p:spPr>
          <a:xfrm>
            <a:off x="0" y="0"/>
            <a:ext cx="9144003" cy="51435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6226576" y="451629"/>
            <a:ext cx="28003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560831" y="1502955"/>
            <a:ext cx="8022336" cy="29140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200" b="0" i="0">
                <a:solidFill>
                  <a:schemeClr val="lt1"/>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8" name="Google Shape;68;p15"/>
          <p:cNvSpPr txBox="1">
            <a:spLocks noGrp="1"/>
          </p:cNvSpPr>
          <p:nvPr>
            <p:ph type="ftr" idx="11"/>
          </p:nvPr>
        </p:nvSpPr>
        <p:spPr>
          <a:xfrm>
            <a:off x="679094" y="4799096"/>
            <a:ext cx="3590925"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dt" idx="10"/>
          </p:nvPr>
        </p:nvSpPr>
        <p:spPr>
          <a:xfrm>
            <a:off x="7634430" y="4799164"/>
            <a:ext cx="1176654"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1">
  <p:cSld name="Blank_1">
    <p:bg>
      <p:bgPr>
        <a:blipFill>
          <a:blip r:embed="rId2">
            <a:alphaModFix/>
          </a:blip>
          <a:stretch>
            <a:fillRect/>
          </a:stretch>
        </a:blipFill>
        <a:effectLst/>
      </p:bgPr>
    </p:bg>
    <p:spTree>
      <p:nvGrpSpPr>
        <p:cNvPr id="1" name="Shape 71"/>
        <p:cNvGrpSpPr/>
        <p:nvPr/>
      </p:nvGrpSpPr>
      <p:grpSpPr>
        <a:xfrm>
          <a:off x="0" y="0"/>
          <a:ext cx="0" cy="0"/>
          <a:chOff x="0" y="0"/>
          <a:chExt cx="0" cy="0"/>
        </a:xfrm>
      </p:grpSpPr>
      <p:pic>
        <p:nvPicPr>
          <p:cNvPr id="72" name="Google Shape;72;p16"/>
          <p:cNvPicPr preferRelativeResize="0"/>
          <p:nvPr/>
        </p:nvPicPr>
        <p:blipFill rotWithShape="1">
          <a:blip r:embed="rId3">
            <a:alphaModFix/>
          </a:blip>
          <a:srcRect t="2883" b="2883"/>
          <a:stretch/>
        </p:blipFill>
        <p:spPr>
          <a:xfrm>
            <a:off x="408425" y="4595551"/>
            <a:ext cx="2118301" cy="22793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1 1 1 1 1 1">
  <p:cSld name="Blank_1_1_1_1_1_1">
    <p:bg>
      <p:bgPr>
        <a:solidFill>
          <a:schemeClr val="lt1"/>
        </a:solidFill>
        <a:effectLst/>
      </p:bgPr>
    </p:bg>
    <p:spTree>
      <p:nvGrpSpPr>
        <p:cNvPr id="1" name="Shape 73"/>
        <p:cNvGrpSpPr/>
        <p:nvPr/>
      </p:nvGrpSpPr>
      <p:grpSpPr>
        <a:xfrm>
          <a:off x="0" y="0"/>
          <a:ext cx="0" cy="0"/>
          <a:chOff x="0" y="0"/>
          <a:chExt cx="0" cy="0"/>
        </a:xfrm>
      </p:grpSpPr>
      <p:pic>
        <p:nvPicPr>
          <p:cNvPr id="74" name="Google Shape;74;p17"/>
          <p:cNvPicPr preferRelativeResize="0"/>
          <p:nvPr/>
        </p:nvPicPr>
        <p:blipFill rotWithShape="1">
          <a:blip r:embed="rId2">
            <a:alphaModFix/>
          </a:blip>
          <a:srcRect l="1767" r="1126" b="1458"/>
          <a:stretch/>
        </p:blipFill>
        <p:spPr>
          <a:xfrm>
            <a:off x="-151954" y="-66150"/>
            <a:ext cx="9473060" cy="5271769"/>
          </a:xfrm>
          <a:prstGeom prst="rect">
            <a:avLst/>
          </a:prstGeom>
          <a:solidFill>
            <a:srgbClr val="141138"/>
          </a:solidFill>
          <a:ln>
            <a:noFill/>
          </a:ln>
        </p:spPr>
      </p:pic>
      <p:sp>
        <p:nvSpPr>
          <p:cNvPr id="75" name="Google Shape;75;p17"/>
          <p:cNvSpPr/>
          <p:nvPr/>
        </p:nvSpPr>
        <p:spPr>
          <a:xfrm>
            <a:off x="-151950" y="-64200"/>
            <a:ext cx="9473100" cy="5271900"/>
          </a:xfrm>
          <a:prstGeom prst="rect">
            <a:avLst/>
          </a:prstGeom>
          <a:solidFill>
            <a:srgbClr val="141138">
              <a:alpha val="7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D1C1D"/>
              </a:solidFill>
              <a:latin typeface="Arial"/>
              <a:ea typeface="Arial"/>
              <a:cs typeface="Arial"/>
              <a:sym typeface="Arial"/>
            </a:endParaRPr>
          </a:p>
        </p:txBody>
      </p:sp>
      <p:pic>
        <p:nvPicPr>
          <p:cNvPr id="76" name="Google Shape;76;p17"/>
          <p:cNvPicPr preferRelativeResize="0"/>
          <p:nvPr/>
        </p:nvPicPr>
        <p:blipFill rotWithShape="1">
          <a:blip r:embed="rId3">
            <a:alphaModFix/>
          </a:blip>
          <a:srcRect t="2883" b="2883"/>
          <a:stretch/>
        </p:blipFill>
        <p:spPr>
          <a:xfrm>
            <a:off x="408425" y="4595551"/>
            <a:ext cx="2118301" cy="2279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lank 2 1">
  <p:cSld name="Blank_2_1">
    <p:bg>
      <p:bgPr>
        <a:solidFill>
          <a:schemeClr val="lt1"/>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ftr" idx="11"/>
          </p:nvPr>
        </p:nvSpPr>
        <p:spPr>
          <a:xfrm>
            <a:off x="679094" y="4799096"/>
            <a:ext cx="3591000" cy="196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6596930" y="4718105"/>
            <a:ext cx="21030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9pPr>
          </a:lstStyle>
          <a:p>
            <a:pPr marL="0" lvl="0" indent="0" algn="r" rtl="0">
              <a:spcBef>
                <a:spcPts val="0"/>
              </a:spcBef>
              <a:spcAft>
                <a:spcPts val="0"/>
              </a:spcAft>
              <a:buNone/>
            </a:pPr>
            <a:fld id="{00000000-1234-1234-1234-123412341234}" type="slidenum">
              <a:rPr lang="en"/>
              <a:t>‹#›</a:t>
            </a:fld>
            <a:endParaRPr/>
          </a:p>
        </p:txBody>
      </p:sp>
      <p:pic>
        <p:nvPicPr>
          <p:cNvPr id="80" name="Google Shape;80;p18"/>
          <p:cNvPicPr preferRelativeResize="0"/>
          <p:nvPr/>
        </p:nvPicPr>
        <p:blipFill rotWithShape="1">
          <a:blip r:embed="rId2">
            <a:alphaModFix/>
          </a:blip>
          <a:srcRect t="7286" b="7286"/>
          <a:stretch/>
        </p:blipFill>
        <p:spPr>
          <a:xfrm>
            <a:off x="408425" y="4595551"/>
            <a:ext cx="2118301" cy="22793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lank 2">
  <p:cSld name="Blank_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ftr" idx="11"/>
          </p:nvPr>
        </p:nvSpPr>
        <p:spPr>
          <a:xfrm>
            <a:off x="679094" y="4799096"/>
            <a:ext cx="3591000" cy="196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6596930" y="4718105"/>
            <a:ext cx="21030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9pPr>
          </a:lstStyle>
          <a:p>
            <a:pPr marL="0" lvl="0" indent="0" algn="r" rtl="0">
              <a:spcBef>
                <a:spcPts val="0"/>
              </a:spcBef>
              <a:spcAft>
                <a:spcPts val="0"/>
              </a:spcAft>
              <a:buNone/>
            </a:pPr>
            <a:fld id="{00000000-1234-1234-1234-123412341234}" type="slidenum">
              <a:rPr lang="en"/>
              <a:t>‹#›</a:t>
            </a:fld>
            <a:endParaRPr/>
          </a:p>
        </p:txBody>
      </p:sp>
      <p:pic>
        <p:nvPicPr>
          <p:cNvPr id="84" name="Google Shape;84;p19"/>
          <p:cNvPicPr preferRelativeResize="0"/>
          <p:nvPr/>
        </p:nvPicPr>
        <p:blipFill rotWithShape="1">
          <a:blip r:embed="rId3">
            <a:alphaModFix/>
          </a:blip>
          <a:srcRect t="7286" b="7286"/>
          <a:stretch/>
        </p:blipFill>
        <p:spPr>
          <a:xfrm>
            <a:off x="408425" y="4595551"/>
            <a:ext cx="2118301" cy="22793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1 1 1 1">
  <p:cSld name="Blank_1_1_1_1">
    <p:bg>
      <p:bgPr>
        <a:solidFill>
          <a:schemeClr val="lt1"/>
        </a:solidFill>
        <a:effectLst/>
      </p:bgPr>
    </p:bg>
    <p:spTree>
      <p:nvGrpSpPr>
        <p:cNvPr id="1" name="Shape 85"/>
        <p:cNvGrpSpPr/>
        <p:nvPr/>
      </p:nvGrpSpPr>
      <p:grpSpPr>
        <a:xfrm>
          <a:off x="0" y="0"/>
          <a:ext cx="0" cy="0"/>
          <a:chOff x="0" y="0"/>
          <a:chExt cx="0" cy="0"/>
        </a:xfrm>
      </p:grpSpPr>
      <p:sp>
        <p:nvSpPr>
          <p:cNvPr id="86" name="Google Shape;86;p20"/>
          <p:cNvSpPr/>
          <p:nvPr/>
        </p:nvSpPr>
        <p:spPr>
          <a:xfrm>
            <a:off x="0" y="100"/>
            <a:ext cx="2809800" cy="5143500"/>
          </a:xfrm>
          <a:prstGeom prst="rect">
            <a:avLst/>
          </a:prstGeom>
          <a:solidFill>
            <a:srgbClr val="14113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D1C1D"/>
              </a:solidFill>
              <a:latin typeface="Arial"/>
              <a:ea typeface="Arial"/>
              <a:cs typeface="Arial"/>
              <a:sym typeface="Arial"/>
            </a:endParaRPr>
          </a:p>
        </p:txBody>
      </p:sp>
      <p:pic>
        <p:nvPicPr>
          <p:cNvPr id="87" name="Google Shape;87;p20"/>
          <p:cNvPicPr preferRelativeResize="0"/>
          <p:nvPr/>
        </p:nvPicPr>
        <p:blipFill rotWithShape="1">
          <a:blip r:embed="rId2">
            <a:alphaModFix/>
          </a:blip>
          <a:srcRect t="2883" b="2883"/>
          <a:stretch/>
        </p:blipFill>
        <p:spPr>
          <a:xfrm>
            <a:off x="408425" y="4595551"/>
            <a:ext cx="2118301" cy="22793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lank 1 1 1 1 1">
  <p:cSld name="Blank_1_1_1_1_1">
    <p:bg>
      <p:bgPr>
        <a:solidFill>
          <a:schemeClr val="lt1"/>
        </a:solidFill>
        <a:effectLst/>
      </p:bgPr>
    </p:bg>
    <p:spTree>
      <p:nvGrpSpPr>
        <p:cNvPr id="1" name="Shape 88"/>
        <p:cNvGrpSpPr/>
        <p:nvPr/>
      </p:nvGrpSpPr>
      <p:grpSpPr>
        <a:xfrm>
          <a:off x="0" y="0"/>
          <a:ext cx="0" cy="0"/>
          <a:chOff x="0" y="0"/>
          <a:chExt cx="0" cy="0"/>
        </a:xfrm>
      </p:grpSpPr>
      <p:pic>
        <p:nvPicPr>
          <p:cNvPr id="89" name="Google Shape;89;p21"/>
          <p:cNvPicPr preferRelativeResize="0"/>
          <p:nvPr/>
        </p:nvPicPr>
        <p:blipFill rotWithShape="1">
          <a:blip r:embed="rId2">
            <a:alphaModFix/>
          </a:blip>
          <a:srcRect l="34448" r="34448"/>
          <a:stretch/>
        </p:blipFill>
        <p:spPr>
          <a:xfrm>
            <a:off x="0" y="0"/>
            <a:ext cx="2809800" cy="5143500"/>
          </a:xfrm>
          <a:prstGeom prst="rect">
            <a:avLst/>
          </a:prstGeom>
          <a:solidFill>
            <a:srgbClr val="141138"/>
          </a:solidFill>
          <a:ln>
            <a:noFill/>
          </a:ln>
        </p:spPr>
      </p:pic>
      <p:sp>
        <p:nvSpPr>
          <p:cNvPr id="90" name="Google Shape;90;p21"/>
          <p:cNvSpPr/>
          <p:nvPr/>
        </p:nvSpPr>
        <p:spPr>
          <a:xfrm>
            <a:off x="0" y="0"/>
            <a:ext cx="2809800" cy="5143500"/>
          </a:xfrm>
          <a:prstGeom prst="rect">
            <a:avLst/>
          </a:prstGeom>
          <a:solidFill>
            <a:srgbClr val="141138">
              <a:alpha val="7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D1C1D"/>
              </a:solidFill>
              <a:latin typeface="Arial"/>
              <a:ea typeface="Arial"/>
              <a:cs typeface="Arial"/>
              <a:sym typeface="Arial"/>
            </a:endParaRPr>
          </a:p>
        </p:txBody>
      </p:sp>
      <p:pic>
        <p:nvPicPr>
          <p:cNvPr id="91" name="Google Shape;91;p21"/>
          <p:cNvPicPr preferRelativeResize="0"/>
          <p:nvPr/>
        </p:nvPicPr>
        <p:blipFill rotWithShape="1">
          <a:blip r:embed="rId3">
            <a:alphaModFix/>
          </a:blip>
          <a:srcRect t="2883" b="2883"/>
          <a:stretch/>
        </p:blipFill>
        <p:spPr>
          <a:xfrm>
            <a:off x="408425" y="4595551"/>
            <a:ext cx="2118301" cy="227934"/>
          </a:xfrm>
          <a:prstGeom prst="rect">
            <a:avLst/>
          </a:prstGeom>
          <a:noFill/>
          <a:ln>
            <a:noFill/>
          </a:ln>
        </p:spPr>
      </p:pic>
      <p:sp>
        <p:nvSpPr>
          <p:cNvPr id="92" name="Google Shape;92;p21"/>
          <p:cNvSpPr/>
          <p:nvPr/>
        </p:nvSpPr>
        <p:spPr>
          <a:xfrm>
            <a:off x="2809800" y="100"/>
            <a:ext cx="6596100" cy="5143500"/>
          </a:xfrm>
          <a:prstGeom prst="rect">
            <a:avLst/>
          </a:prstGeom>
          <a:solidFill>
            <a:srgbClr val="14113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D1C1D"/>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93"/>
        <p:cNvGrpSpPr/>
        <p:nvPr/>
      </p:nvGrpSpPr>
      <p:grpSpPr>
        <a:xfrm>
          <a:off x="0" y="0"/>
          <a:ext cx="0" cy="0"/>
          <a:chOff x="0" y="0"/>
          <a:chExt cx="0" cy="0"/>
        </a:xfrm>
      </p:grpSpPr>
      <p:pic>
        <p:nvPicPr>
          <p:cNvPr id="94" name="Google Shape;94;p22"/>
          <p:cNvPicPr preferRelativeResize="0"/>
          <p:nvPr/>
        </p:nvPicPr>
        <p:blipFill rotWithShape="1">
          <a:blip r:embed="rId2">
            <a:alphaModFix/>
          </a:blip>
          <a:srcRect/>
          <a:stretch/>
        </p:blipFill>
        <p:spPr>
          <a:xfrm>
            <a:off x="0" y="0"/>
            <a:ext cx="9143999" cy="4667250"/>
          </a:xfrm>
          <a:prstGeom prst="rect">
            <a:avLst/>
          </a:prstGeom>
          <a:noFill/>
          <a:ln>
            <a:noFill/>
          </a:ln>
        </p:spPr>
      </p:pic>
      <p:sp>
        <p:nvSpPr>
          <p:cNvPr id="95" name="Google Shape;95;p22"/>
          <p:cNvSpPr txBox="1">
            <a:spLocks noGrp="1"/>
          </p:cNvSpPr>
          <p:nvPr>
            <p:ph type="title"/>
          </p:nvPr>
        </p:nvSpPr>
        <p:spPr>
          <a:xfrm>
            <a:off x="6226576" y="451629"/>
            <a:ext cx="28003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2"/>
          <p:cNvSpPr txBox="1">
            <a:spLocks noGrp="1"/>
          </p:cNvSpPr>
          <p:nvPr>
            <p:ph type="body" idx="1"/>
          </p:nvPr>
        </p:nvSpPr>
        <p:spPr>
          <a:xfrm>
            <a:off x="407349" y="1131788"/>
            <a:ext cx="3754120" cy="35299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800" b="0" i="0">
                <a:solidFill>
                  <a:schemeClr val="dk1"/>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7" name="Google Shape;97;p22"/>
          <p:cNvSpPr txBox="1">
            <a:spLocks noGrp="1"/>
          </p:cNvSpPr>
          <p:nvPr>
            <p:ph type="body" idx="2"/>
          </p:nvPr>
        </p:nvSpPr>
        <p:spPr>
          <a:xfrm>
            <a:off x="4707866" y="1151652"/>
            <a:ext cx="3781425" cy="338962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800" b="0" i="0">
                <a:solidFill>
                  <a:schemeClr val="dk1"/>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8" name="Google Shape;98;p22"/>
          <p:cNvSpPr txBox="1">
            <a:spLocks noGrp="1"/>
          </p:cNvSpPr>
          <p:nvPr>
            <p:ph type="ftr" idx="11"/>
          </p:nvPr>
        </p:nvSpPr>
        <p:spPr>
          <a:xfrm>
            <a:off x="679094" y="4799096"/>
            <a:ext cx="3590925"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2"/>
          <p:cNvSpPr txBox="1">
            <a:spLocks noGrp="1"/>
          </p:cNvSpPr>
          <p:nvPr>
            <p:ph type="dt" idx="10"/>
          </p:nvPr>
        </p:nvSpPr>
        <p:spPr>
          <a:xfrm>
            <a:off x="7634430" y="4799164"/>
            <a:ext cx="1176654"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rgbClr val="B398FF">
            <a:alpha val="11373"/>
          </a:srgbClr>
        </a:solidFill>
        <a:effectLst/>
      </p:bgPr>
    </p:bg>
    <p:spTree>
      <p:nvGrpSpPr>
        <p:cNvPr id="1" name="Shape 101"/>
        <p:cNvGrpSpPr/>
        <p:nvPr/>
      </p:nvGrpSpPr>
      <p:grpSpPr>
        <a:xfrm>
          <a:off x="0" y="0"/>
          <a:ext cx="0" cy="0"/>
          <a:chOff x="0" y="0"/>
          <a:chExt cx="0" cy="0"/>
        </a:xfrm>
      </p:grpSpPr>
      <p:sp>
        <p:nvSpPr>
          <p:cNvPr id="102" name="Google Shape;102;p23"/>
          <p:cNvSpPr txBox="1">
            <a:spLocks noGrp="1"/>
          </p:cNvSpPr>
          <p:nvPr>
            <p:ph type="sldNum" idx="12"/>
          </p:nvPr>
        </p:nvSpPr>
        <p:spPr>
          <a:xfrm>
            <a:off x="6596930" y="4718105"/>
            <a:ext cx="21030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73F1BC"/>
                </a:solidFill>
                <a:latin typeface="Poppins Medium"/>
                <a:ea typeface="Poppins Medium"/>
                <a:cs typeface="Poppins Medium"/>
                <a:sym typeface="Poppins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lank 1 1">
  <p:cSld name="Blank_1_1">
    <p:bg>
      <p:bgPr>
        <a:blipFill>
          <a:blip r:embed="rId2">
            <a:alphaModFix/>
          </a:blip>
          <a:stretch>
            <a:fillRect/>
          </a:stretch>
        </a:blipFill>
        <a:effectLst/>
      </p:bgPr>
    </p:bg>
    <p:spTree>
      <p:nvGrpSpPr>
        <p:cNvPr id="1" name="Shape 103"/>
        <p:cNvGrpSpPr/>
        <p:nvPr/>
      </p:nvGrpSpPr>
      <p:grpSpPr>
        <a:xfrm>
          <a:off x="0" y="0"/>
          <a:ext cx="0" cy="0"/>
          <a:chOff x="0" y="0"/>
          <a:chExt cx="0" cy="0"/>
        </a:xfrm>
      </p:grpSpPr>
      <p:pic>
        <p:nvPicPr>
          <p:cNvPr id="104" name="Google Shape;104;p24"/>
          <p:cNvPicPr preferRelativeResize="0"/>
          <p:nvPr/>
        </p:nvPicPr>
        <p:blipFill rotWithShape="1">
          <a:blip r:embed="rId3">
            <a:alphaModFix/>
          </a:blip>
          <a:srcRect t="2883" b="2883"/>
          <a:stretch/>
        </p:blipFill>
        <p:spPr>
          <a:xfrm>
            <a:off x="408425" y="4595551"/>
            <a:ext cx="2118301" cy="2279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Blank 1 1 1">
  <p:cSld name="Blank_1_1_1">
    <p:bg>
      <p:bgPr>
        <a:solidFill>
          <a:schemeClr val="lt1"/>
        </a:solidFill>
        <a:effectLst/>
      </p:bgPr>
    </p:bg>
    <p:spTree>
      <p:nvGrpSpPr>
        <p:cNvPr id="1" name="Shape 105"/>
        <p:cNvGrpSpPr/>
        <p:nvPr/>
      </p:nvGrpSpPr>
      <p:grpSpPr>
        <a:xfrm>
          <a:off x="0" y="0"/>
          <a:ext cx="0" cy="0"/>
          <a:chOff x="0" y="0"/>
          <a:chExt cx="0" cy="0"/>
        </a:xfrm>
      </p:grpSpPr>
      <p:sp>
        <p:nvSpPr>
          <p:cNvPr id="106" name="Google Shape;106;p25"/>
          <p:cNvSpPr/>
          <p:nvPr/>
        </p:nvSpPr>
        <p:spPr>
          <a:xfrm>
            <a:off x="0" y="100"/>
            <a:ext cx="2809800" cy="5143500"/>
          </a:xfrm>
          <a:prstGeom prst="rect">
            <a:avLst/>
          </a:prstGeom>
          <a:solidFill>
            <a:srgbClr val="14113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D1C1D"/>
              </a:solidFill>
              <a:latin typeface="Arial"/>
              <a:ea typeface="Arial"/>
              <a:cs typeface="Arial"/>
              <a:sym typeface="Arial"/>
            </a:endParaRPr>
          </a:p>
        </p:txBody>
      </p:sp>
      <p:pic>
        <p:nvPicPr>
          <p:cNvPr id="107" name="Google Shape;107;p25"/>
          <p:cNvPicPr preferRelativeResize="0"/>
          <p:nvPr/>
        </p:nvPicPr>
        <p:blipFill rotWithShape="1">
          <a:blip r:embed="rId2">
            <a:alphaModFix/>
          </a:blip>
          <a:srcRect t="2883" b="2883"/>
          <a:stretch/>
        </p:blipFill>
        <p:spPr>
          <a:xfrm>
            <a:off x="408425" y="4595551"/>
            <a:ext cx="2118301" cy="227934"/>
          </a:xfrm>
          <a:prstGeom prst="rect">
            <a:avLst/>
          </a:prstGeom>
          <a:noFill/>
          <a:ln>
            <a:noFill/>
          </a:ln>
        </p:spPr>
      </p:pic>
      <p:sp>
        <p:nvSpPr>
          <p:cNvPr id="108" name="Google Shape;108;p25"/>
          <p:cNvSpPr txBox="1">
            <a:spLocks noGrp="1"/>
          </p:cNvSpPr>
          <p:nvPr>
            <p:ph type="title"/>
          </p:nvPr>
        </p:nvSpPr>
        <p:spPr>
          <a:xfrm>
            <a:off x="436575" y="463025"/>
            <a:ext cx="2063700" cy="873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Font typeface="Montserrat"/>
              <a:buNone/>
              <a:defRPr sz="2800" b="1">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Blank 1 1 1 1 2">
  <p:cSld name="Blank_1_1_1_1_2">
    <p:bg>
      <p:bgPr>
        <a:solidFill>
          <a:schemeClr val="lt1"/>
        </a:solidFill>
        <a:effectLst/>
      </p:bgPr>
    </p:bg>
    <p:spTree>
      <p:nvGrpSpPr>
        <p:cNvPr id="1" name="Shape 109"/>
        <p:cNvGrpSpPr/>
        <p:nvPr/>
      </p:nvGrpSpPr>
      <p:grpSpPr>
        <a:xfrm>
          <a:off x="0" y="0"/>
          <a:ext cx="0" cy="0"/>
          <a:chOff x="0" y="0"/>
          <a:chExt cx="0" cy="0"/>
        </a:xfrm>
      </p:grpSpPr>
      <p:sp>
        <p:nvSpPr>
          <p:cNvPr id="110" name="Google Shape;110;p26"/>
          <p:cNvSpPr/>
          <p:nvPr/>
        </p:nvSpPr>
        <p:spPr>
          <a:xfrm>
            <a:off x="4506450" y="100"/>
            <a:ext cx="4648200" cy="1600200"/>
          </a:xfrm>
          <a:prstGeom prst="rect">
            <a:avLst/>
          </a:prstGeom>
          <a:solidFill>
            <a:srgbClr val="27126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6"/>
          <p:cNvSpPr/>
          <p:nvPr/>
        </p:nvSpPr>
        <p:spPr>
          <a:xfrm>
            <a:off x="4582650" y="1609725"/>
            <a:ext cx="4572000" cy="3533700"/>
          </a:xfrm>
          <a:prstGeom prst="rect">
            <a:avLst/>
          </a:prstGeom>
          <a:solidFill>
            <a:srgbClr val="B398FF">
              <a:alpha val="1137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6"/>
          <p:cNvSpPr/>
          <p:nvPr/>
        </p:nvSpPr>
        <p:spPr>
          <a:xfrm>
            <a:off x="-1225" y="100"/>
            <a:ext cx="4572000" cy="1600200"/>
          </a:xfrm>
          <a:prstGeom prst="rect">
            <a:avLst/>
          </a:prstGeom>
          <a:solidFill>
            <a:srgbClr val="14113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3" name="Google Shape;113;p26"/>
          <p:cNvPicPr preferRelativeResize="0"/>
          <p:nvPr/>
        </p:nvPicPr>
        <p:blipFill rotWithShape="1">
          <a:blip r:embed="rId2">
            <a:alphaModFix/>
          </a:blip>
          <a:srcRect t="7286" b="7286"/>
          <a:stretch/>
        </p:blipFill>
        <p:spPr>
          <a:xfrm>
            <a:off x="408425" y="4595551"/>
            <a:ext cx="2118301" cy="22793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27"/>
          <p:cNvSpPr txBox="1">
            <a:spLocks noGrp="1"/>
          </p:cNvSpPr>
          <p:nvPr>
            <p:ph type="subTitle" idx="1"/>
          </p:nvPr>
        </p:nvSpPr>
        <p:spPr>
          <a:xfrm>
            <a:off x="1371600" y="2880360"/>
            <a:ext cx="6400800" cy="12858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27"/>
          <p:cNvSpPr txBox="1">
            <a:spLocks noGrp="1"/>
          </p:cNvSpPr>
          <p:nvPr>
            <p:ph type="ftr" idx="11"/>
          </p:nvPr>
        </p:nvSpPr>
        <p:spPr>
          <a:xfrm>
            <a:off x="679094" y="4799096"/>
            <a:ext cx="3590925"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7" name="Google Shape;117;p27"/>
          <p:cNvPicPr preferRelativeResize="0"/>
          <p:nvPr/>
        </p:nvPicPr>
        <p:blipFill rotWithShape="1">
          <a:blip r:embed="rId3">
            <a:alphaModFix/>
          </a:blip>
          <a:srcRect t="7286" b="7286"/>
          <a:stretch/>
        </p:blipFill>
        <p:spPr>
          <a:xfrm>
            <a:off x="408425" y="4595551"/>
            <a:ext cx="2118301" cy="22793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8"/>
        <p:cNvGrpSpPr/>
        <p:nvPr/>
      </p:nvGrpSpPr>
      <p:grpSpPr>
        <a:xfrm>
          <a:off x="0" y="0"/>
          <a:ext cx="0" cy="0"/>
          <a:chOff x="0" y="0"/>
          <a:chExt cx="0" cy="0"/>
        </a:xfrm>
      </p:grpSpPr>
      <p:sp>
        <p:nvSpPr>
          <p:cNvPr id="119" name="Google Shape;119;p28"/>
          <p:cNvSpPr txBox="1">
            <a:spLocks noGrp="1"/>
          </p:cNvSpPr>
          <p:nvPr>
            <p:ph type="title"/>
          </p:nvPr>
        </p:nvSpPr>
        <p:spPr>
          <a:xfrm>
            <a:off x="6226576" y="451629"/>
            <a:ext cx="28003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rgbClr val="D9D9D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28"/>
          <p:cNvSpPr txBox="1">
            <a:spLocks noGrp="1"/>
          </p:cNvSpPr>
          <p:nvPr>
            <p:ph type="ftr" idx="11"/>
          </p:nvPr>
        </p:nvSpPr>
        <p:spPr>
          <a:xfrm>
            <a:off x="679094" y="4799096"/>
            <a:ext cx="3590925"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8"/>
          <p:cNvSpPr txBox="1">
            <a:spLocks noGrp="1"/>
          </p:cNvSpPr>
          <p:nvPr>
            <p:ph type="dt" idx="10"/>
          </p:nvPr>
        </p:nvSpPr>
        <p:spPr>
          <a:xfrm>
            <a:off x="7634430" y="4799164"/>
            <a:ext cx="1176654" cy="19621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6666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8"/>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29"/>
          <p:cNvSpPr txBox="1">
            <a:spLocks noGrp="1"/>
          </p:cNvSpPr>
          <p:nvPr>
            <p:ph type="ctrTitle"/>
          </p:nvPr>
        </p:nvSpPr>
        <p:spPr>
          <a:xfrm>
            <a:off x="311708" y="744575"/>
            <a:ext cx="8520600" cy="2052600"/>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5" name="Google Shape;125;p29"/>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6" name="Google Shape;126;p29"/>
          <p:cNvSpPr txBox="1">
            <a:spLocks noGrp="1"/>
          </p:cNvSpPr>
          <p:nvPr>
            <p:ph type="sldNum" idx="12"/>
          </p:nvPr>
        </p:nvSpPr>
        <p:spPr>
          <a:xfrm>
            <a:off x="8472458" y="4663217"/>
            <a:ext cx="5487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9" name="Google Shape;129;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30" name="Google Shape;13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6226576" y="451629"/>
            <a:ext cx="28003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rgbClr val="D9D9D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4"/>
          <p:cNvSpPr txBox="1">
            <a:spLocks noGrp="1"/>
          </p:cNvSpPr>
          <p:nvPr>
            <p:ph type="body" idx="1"/>
          </p:nvPr>
        </p:nvSpPr>
        <p:spPr>
          <a:xfrm>
            <a:off x="560831" y="1502955"/>
            <a:ext cx="8022336" cy="29140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2" name="Google Shape;62;p14"/>
          <p:cNvSpPr txBox="1">
            <a:spLocks noGrp="1"/>
          </p:cNvSpPr>
          <p:nvPr>
            <p:ph type="ftr" idx="11"/>
          </p:nvPr>
        </p:nvSpPr>
        <p:spPr>
          <a:xfrm>
            <a:off x="679094" y="4799096"/>
            <a:ext cx="3590925" cy="19621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3" name="Google Shape;63;p14"/>
          <p:cNvSpPr txBox="1">
            <a:spLocks noGrp="1"/>
          </p:cNvSpPr>
          <p:nvPr>
            <p:ph type="dt" idx="10"/>
          </p:nvPr>
        </p:nvSpPr>
        <p:spPr>
          <a:xfrm>
            <a:off x="7634430" y="4799164"/>
            <a:ext cx="1176654" cy="19621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rgbClr val="6666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4" name="Google Shape;64;p14"/>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2.png"/><Relationship Id="rId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4.jpg"/><Relationship Id="rId5"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hyperlink" Target="https://github.com/athaker/econ_136/blob/master/kalshi-market-making-demo.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athaker/econ_136/blob/master/kalshi-market-making-demo.p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hyperlink" Target="https://cdn.robinhood.com/assets/robinhood/legal/RHF%20SEC%20Rule%20606%20and%20607%20Disclosure%20Q2%202021.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hyperlink" Target="https://developers.google.com/machine-learning/crash-cours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4.jp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1"/>
          <p:cNvSpPr txBox="1"/>
          <p:nvPr/>
        </p:nvSpPr>
        <p:spPr>
          <a:xfrm>
            <a:off x="3748100" y="1721675"/>
            <a:ext cx="5007000" cy="1355700"/>
          </a:xfrm>
          <a:prstGeom prst="rect">
            <a:avLst/>
          </a:prstGeom>
          <a:noFill/>
          <a:ln>
            <a:noFill/>
          </a:ln>
        </p:spPr>
        <p:txBody>
          <a:bodyPr spcFirstLastPara="1" wrap="square" lIns="91425" tIns="91425" rIns="91425" bIns="91425" anchor="t" anchorCtr="0">
            <a:noAutofit/>
          </a:bodyPr>
          <a:lstStyle/>
          <a:p>
            <a:pPr lvl="0">
              <a:lnSpc>
                <a:spcPct val="90000"/>
              </a:lnSpc>
              <a:buSzPts val="4200"/>
            </a:pPr>
            <a:r>
              <a:rPr lang="en-US" sz="2800" b="1" dirty="0">
                <a:solidFill>
                  <a:schemeClr val="bg1"/>
                </a:solidFill>
              </a:rPr>
              <a:t>The Alpha in the Crowd: AI, Prediction Markets, and a Live Trading Demo</a:t>
            </a:r>
            <a:endParaRPr sz="6600" b="1" i="0" u="none" strike="noStrike" cap="none" dirty="0">
              <a:solidFill>
                <a:schemeClr val="bg1"/>
              </a:solidFill>
              <a:latin typeface="Poppins"/>
              <a:ea typeface="Poppins"/>
              <a:cs typeface="Poppins"/>
              <a:sym typeface="Poppins"/>
            </a:endParaRPr>
          </a:p>
        </p:txBody>
      </p:sp>
      <p:grpSp>
        <p:nvGrpSpPr>
          <p:cNvPr id="137" name="Google Shape;137;p31"/>
          <p:cNvGrpSpPr/>
          <p:nvPr/>
        </p:nvGrpSpPr>
        <p:grpSpPr>
          <a:xfrm>
            <a:off x="575108" y="1343054"/>
            <a:ext cx="3098519" cy="2178347"/>
            <a:chOff x="792400" y="464500"/>
            <a:chExt cx="3351925" cy="2356498"/>
          </a:xfrm>
        </p:grpSpPr>
        <p:pic>
          <p:nvPicPr>
            <p:cNvPr id="138" name="Google Shape;138;p31"/>
            <p:cNvPicPr preferRelativeResize="0"/>
            <p:nvPr/>
          </p:nvPicPr>
          <p:blipFill rotWithShape="1">
            <a:blip r:embed="rId4">
              <a:alphaModFix/>
            </a:blip>
            <a:srcRect/>
            <a:stretch/>
          </p:blipFill>
          <p:spPr>
            <a:xfrm>
              <a:off x="792400" y="464500"/>
              <a:ext cx="3121725" cy="2356498"/>
            </a:xfrm>
            <a:prstGeom prst="rect">
              <a:avLst/>
            </a:prstGeom>
            <a:noFill/>
            <a:ln>
              <a:noFill/>
            </a:ln>
          </p:spPr>
        </p:pic>
        <p:pic>
          <p:nvPicPr>
            <p:cNvPr id="139" name="Google Shape;139;p31"/>
            <p:cNvPicPr preferRelativeResize="0"/>
            <p:nvPr/>
          </p:nvPicPr>
          <p:blipFill rotWithShape="1">
            <a:blip r:embed="rId5">
              <a:alphaModFix/>
            </a:blip>
            <a:srcRect/>
            <a:stretch/>
          </p:blipFill>
          <p:spPr>
            <a:xfrm>
              <a:off x="4106725" y="857949"/>
              <a:ext cx="37600" cy="1569600"/>
            </a:xfrm>
            <a:prstGeom prst="rect">
              <a:avLst/>
            </a:prstGeom>
            <a:noFill/>
            <a:ln>
              <a:noFill/>
            </a:ln>
          </p:spPr>
        </p:pic>
      </p:grpSp>
      <p:sp>
        <p:nvSpPr>
          <p:cNvPr id="140" name="Google Shape;140;p31"/>
          <p:cNvSpPr txBox="1"/>
          <p:nvPr/>
        </p:nvSpPr>
        <p:spPr>
          <a:xfrm>
            <a:off x="575100" y="4430725"/>
            <a:ext cx="7106100" cy="418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B398FF"/>
                </a:solidFill>
                <a:latin typeface="Poppins SemiBold"/>
                <a:ea typeface="Poppins SemiBold"/>
                <a:cs typeface="Poppins SemiBold"/>
                <a:sym typeface="Poppins SemiBold"/>
              </a:rPr>
              <a:t>THE VENETIAN, LAS VEGAS</a:t>
            </a:r>
            <a:endParaRPr sz="1800" b="0" i="0" u="none" strike="noStrike" cap="none">
              <a:solidFill>
                <a:srgbClr val="B398FF"/>
              </a:solidFill>
              <a:latin typeface="Poppins SemiBold"/>
              <a:ea typeface="Poppins SemiBold"/>
              <a:cs typeface="Poppins SemiBold"/>
              <a:sym typeface="Poppins SemiBold"/>
            </a:endParaRPr>
          </a:p>
        </p:txBody>
      </p:sp>
      <p:sp>
        <p:nvSpPr>
          <p:cNvPr id="141" name="Google Shape;141;p31"/>
          <p:cNvSpPr txBox="1"/>
          <p:nvPr/>
        </p:nvSpPr>
        <p:spPr>
          <a:xfrm>
            <a:off x="5490350" y="4430725"/>
            <a:ext cx="3228600" cy="418200"/>
          </a:xfrm>
          <a:prstGeom prst="rect">
            <a:avLst/>
          </a:prstGeom>
          <a:noFill/>
          <a:ln>
            <a:noFill/>
          </a:ln>
        </p:spPr>
        <p:txBody>
          <a:bodyPr spcFirstLastPara="1" wrap="square" lIns="91425" tIns="91425" rIns="91425" bIns="91425" anchor="t" anchorCtr="0">
            <a:noAutofit/>
          </a:bodyPr>
          <a:lstStyle/>
          <a:p>
            <a:pPr marL="0" marR="0" lvl="0" indent="0" algn="r" rtl="0">
              <a:lnSpc>
                <a:spcPct val="70000"/>
              </a:lnSpc>
              <a:spcBef>
                <a:spcPts val="0"/>
              </a:spcBef>
              <a:spcAft>
                <a:spcPts val="0"/>
              </a:spcAft>
              <a:buClr>
                <a:srgbClr val="000000"/>
              </a:buClr>
              <a:buSzPts val="2500"/>
              <a:buFont typeface="Arial"/>
              <a:buNone/>
            </a:pPr>
            <a:r>
              <a:rPr lang="en" sz="2500" b="1" i="0" u="none" strike="noStrike" cap="none">
                <a:solidFill>
                  <a:schemeClr val="lt1"/>
                </a:solidFill>
                <a:latin typeface="Poppins"/>
                <a:ea typeface="Poppins"/>
                <a:cs typeface="Poppins"/>
                <a:sym typeface="Poppins"/>
              </a:rPr>
              <a:t>AUGUST </a:t>
            </a:r>
            <a:r>
              <a:rPr lang="en" sz="2500" b="1" i="0" u="none" strike="noStrike" cap="none">
                <a:solidFill>
                  <a:srgbClr val="30DDC1"/>
                </a:solidFill>
                <a:latin typeface="Poppins"/>
                <a:ea typeface="Poppins"/>
                <a:cs typeface="Poppins"/>
                <a:sym typeface="Poppins"/>
              </a:rPr>
              <a:t>4</a:t>
            </a:r>
            <a:r>
              <a:rPr lang="en" sz="2500" b="1">
                <a:solidFill>
                  <a:srgbClr val="30DDC1"/>
                </a:solidFill>
                <a:latin typeface="Poppins"/>
                <a:ea typeface="Poppins"/>
                <a:cs typeface="Poppins"/>
                <a:sym typeface="Poppins"/>
              </a:rPr>
              <a:t>-6</a:t>
            </a:r>
            <a:r>
              <a:rPr lang="en" sz="2500" b="1" i="0" u="none" strike="noStrike" cap="none">
                <a:solidFill>
                  <a:srgbClr val="30DDC1"/>
                </a:solidFill>
                <a:latin typeface="Poppins"/>
                <a:ea typeface="Poppins"/>
                <a:cs typeface="Poppins"/>
                <a:sym typeface="Poppins"/>
              </a:rPr>
              <a:t>,</a:t>
            </a:r>
            <a:r>
              <a:rPr lang="en" sz="2500" b="1">
                <a:solidFill>
                  <a:srgbClr val="30DDC1"/>
                </a:solidFill>
                <a:latin typeface="Poppins"/>
                <a:ea typeface="Poppins"/>
                <a:cs typeface="Poppins"/>
                <a:sym typeface="Poppins"/>
              </a:rPr>
              <a:t> </a:t>
            </a:r>
            <a:r>
              <a:rPr lang="en" sz="2500" b="1" i="0" u="none" strike="noStrike" cap="none">
                <a:solidFill>
                  <a:srgbClr val="30DDC1"/>
                </a:solidFill>
                <a:latin typeface="Poppins"/>
                <a:ea typeface="Poppins"/>
                <a:cs typeface="Poppins"/>
                <a:sym typeface="Poppins"/>
              </a:rPr>
              <a:t>2026</a:t>
            </a:r>
            <a:endParaRPr sz="2500" b="1" i="0" u="none" strike="noStrike" cap="none">
              <a:solidFill>
                <a:srgbClr val="30DDC1"/>
              </a:solidFill>
              <a:latin typeface="Poppins"/>
              <a:ea typeface="Poppins"/>
              <a:cs typeface="Poppins"/>
              <a:sym typeface="Poppins"/>
            </a:endParaRPr>
          </a:p>
        </p:txBody>
      </p:sp>
      <p:sp>
        <p:nvSpPr>
          <p:cNvPr id="142" name="Google Shape;142;p31"/>
          <p:cNvSpPr txBox="1">
            <a:spLocks noGrp="1"/>
          </p:cNvSpPr>
          <p:nvPr>
            <p:ph type="subTitle" idx="4294967295"/>
          </p:nvPr>
        </p:nvSpPr>
        <p:spPr>
          <a:xfrm>
            <a:off x="575100" y="3373500"/>
            <a:ext cx="42948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100"/>
              <a:t>By: Avi Thaker and Daniel Sonner</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
        <p:cNvGrpSpPr/>
        <p:nvPr/>
      </p:nvGrpSpPr>
      <p:grpSpPr>
        <a:xfrm>
          <a:off x="0" y="0"/>
          <a:ext cx="0" cy="0"/>
          <a:chOff x="0" y="0"/>
          <a:chExt cx="0" cy="0"/>
        </a:xfrm>
      </p:grpSpPr>
      <p:sp>
        <p:nvSpPr>
          <p:cNvPr id="148" name="Google Shape;148;p32"/>
          <p:cNvSpPr txBox="1"/>
          <p:nvPr/>
        </p:nvSpPr>
        <p:spPr>
          <a:xfrm>
            <a:off x="340225" y="533350"/>
            <a:ext cx="3798900" cy="1248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000"/>
              <a:buFont typeface="Arial"/>
              <a:buNone/>
            </a:pPr>
            <a:r>
              <a:rPr lang="en" sz="4000" b="1">
                <a:solidFill>
                  <a:schemeClr val="lt1"/>
                </a:solidFill>
                <a:latin typeface="Poppins"/>
                <a:ea typeface="Poppins"/>
                <a:cs typeface="Poppins"/>
                <a:sym typeface="Poppins"/>
              </a:rPr>
              <a:t>Team</a:t>
            </a:r>
            <a:endParaRPr sz="4000" b="1" i="0" u="none" strike="noStrike" cap="none">
              <a:solidFill>
                <a:srgbClr val="73F1BC"/>
              </a:solidFill>
              <a:latin typeface="Poppins"/>
              <a:ea typeface="Poppins"/>
              <a:cs typeface="Poppins"/>
              <a:sym typeface="Poppins"/>
            </a:endParaRPr>
          </a:p>
        </p:txBody>
      </p:sp>
      <p:sp>
        <p:nvSpPr>
          <p:cNvPr id="149" name="Google Shape;149;p32"/>
          <p:cNvSpPr txBox="1"/>
          <p:nvPr/>
        </p:nvSpPr>
        <p:spPr>
          <a:xfrm>
            <a:off x="1632263" y="2798850"/>
            <a:ext cx="2683500" cy="1080000"/>
          </a:xfrm>
          <a:prstGeom prst="rect">
            <a:avLst/>
          </a:prstGeom>
          <a:noFill/>
          <a:ln>
            <a:noFill/>
          </a:ln>
        </p:spPr>
        <p:txBody>
          <a:bodyPr spcFirstLastPara="1" wrap="square" lIns="91425" tIns="91425" rIns="91425" bIns="91425" anchor="t" anchorCtr="0">
            <a:noAutofit/>
          </a:bodyPr>
          <a:lstStyle/>
          <a:p>
            <a:pPr marL="114300" lvl="0" indent="-120650" algn="l" rtl="0">
              <a:spcBef>
                <a:spcPts val="0"/>
              </a:spcBef>
              <a:spcAft>
                <a:spcPts val="0"/>
              </a:spcAft>
              <a:buClr>
                <a:schemeClr val="lt1"/>
              </a:buClr>
              <a:buSzPts val="1100"/>
              <a:buChar char="•"/>
            </a:pPr>
            <a:r>
              <a:rPr lang="en" sz="1100">
                <a:solidFill>
                  <a:schemeClr val="lt1"/>
                </a:solidFill>
              </a:rPr>
              <a:t>7 years consulting for hedge funds</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5 Machine Learning Patents Granted, 2 Pending</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Built document understanding tools utilized by many top banks</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Harvey Mudd, Microsoft, GSK, Goldman Sachs</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Series 65</a:t>
            </a:r>
            <a:endParaRPr sz="1100">
              <a:solidFill>
                <a:schemeClr val="lt1"/>
              </a:solidFill>
              <a:latin typeface="Poppins"/>
              <a:ea typeface="Poppins"/>
              <a:cs typeface="Poppins"/>
              <a:sym typeface="Poppins"/>
            </a:endParaRPr>
          </a:p>
        </p:txBody>
      </p:sp>
      <p:pic>
        <p:nvPicPr>
          <p:cNvPr id="150" name="Google Shape;150;p32" descr="aug_2022.jpg"/>
          <p:cNvPicPr preferRelativeResize="0"/>
          <p:nvPr/>
        </p:nvPicPr>
        <p:blipFill rotWithShape="1">
          <a:blip r:embed="rId4">
            <a:alphaModFix/>
          </a:blip>
          <a:srcRect t="13593" b="17960"/>
          <a:stretch/>
        </p:blipFill>
        <p:spPr>
          <a:xfrm>
            <a:off x="2187230" y="803910"/>
            <a:ext cx="1573560" cy="1436076"/>
          </a:xfrm>
          <a:custGeom>
            <a:avLst/>
            <a:gdLst/>
            <a:ahLst/>
            <a:cxnLst/>
            <a:rect l="l" t="t" r="r" b="b"/>
            <a:pathLst>
              <a:path w="21600" h="21600" extrusionOk="0">
                <a:moveTo>
                  <a:pt x="0" y="0"/>
                </a:moveTo>
                <a:lnTo>
                  <a:pt x="10799" y="21600"/>
                </a:lnTo>
                <a:lnTo>
                  <a:pt x="21600" y="0"/>
                </a:lnTo>
                <a:lnTo>
                  <a:pt x="0" y="0"/>
                </a:lnTo>
                <a:close/>
              </a:path>
            </a:pathLst>
          </a:custGeom>
          <a:noFill/>
          <a:ln w="63500" cap="flat" cmpd="sng">
            <a:solidFill>
              <a:srgbClr val="AC914D"/>
            </a:solidFill>
            <a:prstDash val="solid"/>
            <a:miter lim="400000"/>
            <a:headEnd type="none" w="sm" len="sm"/>
            <a:tailEnd type="none" w="sm" len="sm"/>
          </a:ln>
        </p:spPr>
      </p:pic>
      <p:grpSp>
        <p:nvGrpSpPr>
          <p:cNvPr id="151" name="Google Shape;151;p32"/>
          <p:cNvGrpSpPr/>
          <p:nvPr/>
        </p:nvGrpSpPr>
        <p:grpSpPr>
          <a:xfrm>
            <a:off x="5472101" y="803909"/>
            <a:ext cx="1573588" cy="1988141"/>
            <a:chOff x="-57" y="-1"/>
            <a:chExt cx="4196235" cy="5301709"/>
          </a:xfrm>
        </p:grpSpPr>
        <p:pic>
          <p:nvPicPr>
            <p:cNvPr id="152" name="Google Shape;152;p32" descr="aug_2022.jpg"/>
            <p:cNvPicPr preferRelativeResize="0"/>
            <p:nvPr/>
          </p:nvPicPr>
          <p:blipFill rotWithShape="1">
            <a:blip r:embed="rId5">
              <a:alphaModFix/>
            </a:blip>
            <a:srcRect l="8575" t="10777" r="8575" b="23063"/>
            <a:stretch/>
          </p:blipFill>
          <p:spPr>
            <a:xfrm>
              <a:off x="0" y="-1"/>
              <a:ext cx="4196178" cy="3829464"/>
            </a:xfrm>
            <a:custGeom>
              <a:avLst/>
              <a:gdLst/>
              <a:ahLst/>
              <a:cxnLst/>
              <a:rect l="l" t="t" r="r" b="b"/>
              <a:pathLst>
                <a:path w="21600" h="21600" extrusionOk="0">
                  <a:moveTo>
                    <a:pt x="0" y="0"/>
                  </a:moveTo>
                  <a:lnTo>
                    <a:pt x="10799" y="21600"/>
                  </a:lnTo>
                  <a:lnTo>
                    <a:pt x="21600" y="0"/>
                  </a:lnTo>
                  <a:lnTo>
                    <a:pt x="0" y="0"/>
                  </a:lnTo>
                  <a:close/>
                </a:path>
              </a:pathLst>
            </a:custGeom>
            <a:noFill/>
            <a:ln w="63500" cap="flat" cmpd="sng">
              <a:solidFill>
                <a:srgbClr val="AC914D"/>
              </a:solidFill>
              <a:prstDash val="solid"/>
              <a:miter lim="400000"/>
              <a:headEnd type="none" w="sm" len="sm"/>
              <a:tailEnd type="none" w="sm" len="sm"/>
            </a:ln>
          </p:spPr>
        </p:pic>
        <p:sp>
          <p:nvSpPr>
            <p:cNvPr id="153" name="Google Shape;153;p32"/>
            <p:cNvSpPr txBox="1"/>
            <p:nvPr/>
          </p:nvSpPr>
          <p:spPr>
            <a:xfrm>
              <a:off x="-57" y="4090908"/>
              <a:ext cx="4196100" cy="1210800"/>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C4A045"/>
                </a:buClr>
                <a:buSzPts val="1600"/>
                <a:buFont typeface="Helvetica Neue"/>
                <a:buNone/>
              </a:pPr>
              <a:r>
                <a:rPr lang="en" sz="1600" b="1" i="0" u="none" strike="noStrike" cap="none">
                  <a:solidFill>
                    <a:srgbClr val="C4A045"/>
                  </a:solidFill>
                </a:rPr>
                <a:t>Daniel Sonner</a:t>
              </a:r>
              <a:endParaRPr sz="500"/>
            </a:p>
            <a:p>
              <a:pPr marL="0" marR="0" lvl="0" indent="0" algn="ctr" rtl="0">
                <a:lnSpc>
                  <a:spcPct val="100000"/>
                </a:lnSpc>
                <a:spcBef>
                  <a:spcPts val="0"/>
                </a:spcBef>
                <a:spcAft>
                  <a:spcPts val="0"/>
                </a:spcAft>
                <a:buClr>
                  <a:srgbClr val="204586"/>
                </a:buClr>
                <a:buSzPts val="1100"/>
                <a:buFont typeface="Helvetica Neue Light"/>
                <a:buNone/>
              </a:pPr>
              <a:r>
                <a:rPr lang="en" sz="1100" i="0" u="none" strike="noStrike" cap="none">
                  <a:solidFill>
                    <a:srgbClr val="204586"/>
                  </a:solidFill>
                </a:rPr>
                <a:t>Co-Founder</a:t>
              </a:r>
              <a:endParaRPr sz="500"/>
            </a:p>
          </p:txBody>
        </p:sp>
      </p:grpSp>
      <p:sp>
        <p:nvSpPr>
          <p:cNvPr id="154" name="Google Shape;154;p32"/>
          <p:cNvSpPr txBox="1"/>
          <p:nvPr/>
        </p:nvSpPr>
        <p:spPr>
          <a:xfrm>
            <a:off x="2280125" y="2344643"/>
            <a:ext cx="1387800" cy="454200"/>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C4A045"/>
              </a:buClr>
              <a:buSzPts val="1600"/>
              <a:buFont typeface="Helvetica Neue"/>
              <a:buNone/>
            </a:pPr>
            <a:r>
              <a:rPr lang="en" sz="1600" b="1">
                <a:solidFill>
                  <a:srgbClr val="C4A045"/>
                </a:solidFill>
              </a:rPr>
              <a:t>Avi Thaker</a:t>
            </a:r>
            <a:endParaRPr sz="500"/>
          </a:p>
          <a:p>
            <a:pPr marL="0" marR="0" lvl="0" indent="0" algn="ctr" rtl="0">
              <a:lnSpc>
                <a:spcPct val="100000"/>
              </a:lnSpc>
              <a:spcBef>
                <a:spcPts val="0"/>
              </a:spcBef>
              <a:spcAft>
                <a:spcPts val="0"/>
              </a:spcAft>
              <a:buClr>
                <a:srgbClr val="204586"/>
              </a:buClr>
              <a:buSzPts val="1100"/>
              <a:buFont typeface="Helvetica Neue Light"/>
              <a:buNone/>
            </a:pPr>
            <a:r>
              <a:rPr lang="en" sz="1100" i="0" u="none" strike="noStrike" cap="none">
                <a:solidFill>
                  <a:srgbClr val="204586"/>
                </a:solidFill>
              </a:rPr>
              <a:t>Co-Founder</a:t>
            </a:r>
            <a:endParaRPr sz="500"/>
          </a:p>
        </p:txBody>
      </p:sp>
      <p:sp>
        <p:nvSpPr>
          <p:cNvPr id="155" name="Google Shape;155;p32"/>
          <p:cNvSpPr txBox="1"/>
          <p:nvPr/>
        </p:nvSpPr>
        <p:spPr>
          <a:xfrm>
            <a:off x="4758900" y="2798850"/>
            <a:ext cx="3000000" cy="1457100"/>
          </a:xfrm>
          <a:prstGeom prst="rect">
            <a:avLst/>
          </a:prstGeom>
          <a:noFill/>
          <a:ln>
            <a:noFill/>
          </a:ln>
        </p:spPr>
        <p:txBody>
          <a:bodyPr spcFirstLastPara="1" wrap="square" lIns="91425" tIns="91425" rIns="91425" bIns="91425" anchor="t" anchorCtr="0">
            <a:spAutoFit/>
          </a:bodyPr>
          <a:lstStyle/>
          <a:p>
            <a:pPr marL="114300" lvl="0" indent="-120650" algn="l" rtl="0">
              <a:spcBef>
                <a:spcPts val="0"/>
              </a:spcBef>
              <a:spcAft>
                <a:spcPts val="0"/>
              </a:spcAft>
              <a:buClr>
                <a:schemeClr val="lt1"/>
              </a:buClr>
              <a:buSzPts val="1100"/>
              <a:buChar char="•"/>
            </a:pPr>
            <a:r>
              <a:rPr lang="en" sz="1100">
                <a:solidFill>
                  <a:schemeClr val="lt1"/>
                </a:solidFill>
              </a:rPr>
              <a:t>4+ Years Systems engineering at Pure Storage</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1 Patent</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Computer Science, Harvey Mudd</a:t>
            </a:r>
            <a:endParaRPr sz="11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World Champion Bridge Player</a:t>
            </a:r>
            <a:r>
              <a:rPr lang="en" sz="1100" baseline="30000">
                <a:solidFill>
                  <a:schemeClr val="lt1"/>
                </a:solidFill>
              </a:rPr>
              <a:t>1</a:t>
            </a:r>
            <a:endParaRPr sz="1100" baseline="30000">
              <a:solidFill>
                <a:schemeClr val="lt1"/>
              </a:solidFill>
            </a:endParaRPr>
          </a:p>
          <a:p>
            <a:pPr marL="114300" lvl="0" indent="-120650" algn="l" rtl="0">
              <a:spcBef>
                <a:spcPts val="500"/>
              </a:spcBef>
              <a:spcAft>
                <a:spcPts val="0"/>
              </a:spcAft>
              <a:buClr>
                <a:schemeClr val="lt1"/>
              </a:buClr>
              <a:buSzPts val="1100"/>
              <a:buChar char="•"/>
            </a:pPr>
            <a:r>
              <a:rPr lang="en" sz="1100">
                <a:solidFill>
                  <a:schemeClr val="lt1"/>
                </a:solidFill>
              </a:rPr>
              <a:t>Series 3, Series 65</a:t>
            </a:r>
            <a:endParaRPr sz="11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3"/>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Participate in the Winnings</a:t>
            </a:r>
            <a:endParaRPr sz="4000" b="1" i="0" u="none" strike="noStrike" cap="none">
              <a:solidFill>
                <a:srgbClr val="6D3BF5"/>
              </a:solidFill>
              <a:latin typeface="Poppins"/>
              <a:ea typeface="Poppins"/>
              <a:cs typeface="Poppins"/>
              <a:sym typeface="Poppins"/>
            </a:endParaRPr>
          </a:p>
        </p:txBody>
      </p:sp>
      <p:sp>
        <p:nvSpPr>
          <p:cNvPr id="162" name="Google Shape;162;p33"/>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rgbClr val="595959"/>
                </a:solidFill>
              </a:rPr>
              <a:t>Fill out this form and you will receive </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b="1" i="1">
                <a:solidFill>
                  <a:srgbClr val="595959"/>
                </a:solidFill>
              </a:rPr>
              <a:t>f(P)=max($20,0.50×P)</a:t>
            </a:r>
            <a:endParaRPr sz="1800" b="1" i="1">
              <a:solidFill>
                <a:srgbClr val="595959"/>
              </a:solidFill>
            </a:endParaRPr>
          </a:p>
          <a:p>
            <a:pPr marL="457200" lvl="0" indent="-342900" algn="l" rtl="0">
              <a:lnSpc>
                <a:spcPct val="115000"/>
              </a:lnSpc>
              <a:spcBef>
                <a:spcPts val="1200"/>
              </a:spcBef>
              <a:spcAft>
                <a:spcPts val="0"/>
              </a:spcAft>
              <a:buClr>
                <a:srgbClr val="595959"/>
              </a:buClr>
              <a:buSzPts val="1800"/>
              <a:buChar char="●"/>
            </a:pPr>
            <a:r>
              <a:rPr lang="en" sz="1800">
                <a:solidFill>
                  <a:srgbClr val="595959"/>
                </a:solidFill>
              </a:rPr>
              <a:t>f(P) is the final amount.</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$20 is the fixed dollar amount.</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0.50×P represents 50% of the profits.</a:t>
            </a:r>
            <a:endParaRPr sz="1800">
              <a:solidFill>
                <a:srgbClr val="595959"/>
              </a:solidFill>
            </a:endParaRPr>
          </a:p>
          <a:p>
            <a:pPr marL="0" marR="0" lvl="0" indent="0" algn="l" rtl="0">
              <a:lnSpc>
                <a:spcPct val="115000"/>
              </a:lnSpc>
              <a:spcBef>
                <a:spcPts val="1200"/>
              </a:spcBef>
              <a:spcAft>
                <a:spcPts val="0"/>
              </a:spcAft>
              <a:buClr>
                <a:schemeClr val="dk1"/>
              </a:buClr>
              <a:buSzPts val="1100"/>
              <a:buFont typeface="Arial"/>
              <a:buNone/>
            </a:pPr>
            <a:endParaRPr sz="1100">
              <a:solidFill>
                <a:schemeClr val="dk1"/>
              </a:solidFill>
              <a:latin typeface="Poppins"/>
              <a:ea typeface="Poppins"/>
              <a:cs typeface="Poppins"/>
              <a:sym typeface="Poppins"/>
            </a:endParaRPr>
          </a:p>
        </p:txBody>
      </p:sp>
      <p:pic>
        <p:nvPicPr>
          <p:cNvPr id="163" name="Google Shape;163;p33"/>
          <p:cNvPicPr preferRelativeResize="0"/>
          <p:nvPr/>
        </p:nvPicPr>
        <p:blipFill>
          <a:blip r:embed="rId3">
            <a:alphaModFix/>
          </a:blip>
          <a:stretch>
            <a:fillRect/>
          </a:stretch>
        </p:blipFill>
        <p:spPr>
          <a:xfrm>
            <a:off x="4894100" y="1037750"/>
            <a:ext cx="3820977" cy="382097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What is an AI Agent</a:t>
            </a:r>
            <a:endParaRPr sz="4000" b="1" i="0" u="none" strike="noStrike" cap="non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Char char="●"/>
            </a:pPr>
            <a:r>
              <a:rPr lang="en" sz="1800">
                <a:solidFill>
                  <a:srgbClr val="595959"/>
                </a:solidFill>
              </a:rPr>
              <a:t>Autonomous - can operate and make decisions on their own to complete a task</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Planning and Execution -  develop its own plan to achieve its goals and execute upon those actions</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Tool Use - interact with various tools, APIs, web browsers, etc.</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There are varying levels of complexity of agents. We will start simple and provide you the framework to build your own agents.</a:t>
            </a:r>
            <a:endParaRPr sz="1800">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sz="1800">
                <a:solidFill>
                  <a:srgbClr val="595959"/>
                </a:solidFill>
              </a:rPr>
              <a:t>Agents can have narrow or broad scopes (domain expert / generalist). </a:t>
            </a:r>
            <a:endParaRPr sz="18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How does an Agent Learn?</a:t>
            </a:r>
            <a:endParaRPr sz="4000" b="1" i="0" u="none" strike="noStrike" cap="none">
              <a:solidFill>
                <a:srgbClr val="6D3BF5"/>
              </a:solidFill>
              <a:latin typeface="Poppins"/>
              <a:ea typeface="Poppins"/>
              <a:cs typeface="Poppins"/>
              <a:sym typeface="Poppins"/>
            </a:endParaRPr>
          </a:p>
        </p:txBody>
      </p:sp>
      <p:sp>
        <p:nvSpPr>
          <p:cNvPr id="177" name="Google Shape;177;p35"/>
          <p:cNvSpPr txBox="1"/>
          <p:nvPr/>
        </p:nvSpPr>
        <p:spPr>
          <a:xfrm>
            <a:off x="332225" y="932000"/>
            <a:ext cx="4392300" cy="69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595959"/>
                </a:solidFill>
              </a:rPr>
              <a:t>An agent is an actor in an environment, who gets a reward/penalty based upon actions taken. </a:t>
            </a:r>
            <a:br>
              <a:rPr lang="en">
                <a:solidFill>
                  <a:srgbClr val="595959"/>
                </a:solidFill>
              </a:rPr>
            </a:br>
            <a:r>
              <a:rPr lang="en">
                <a:solidFill>
                  <a:srgbClr val="595959"/>
                </a:solidFill>
              </a:rPr>
              <a:t>The agent plays many games and “learns” each time.</a:t>
            </a:r>
            <a:br>
              <a:rPr lang="en">
                <a:solidFill>
                  <a:srgbClr val="595959"/>
                </a:solidFill>
              </a:rPr>
            </a:br>
            <a:r>
              <a:rPr lang="en">
                <a:solidFill>
                  <a:srgbClr val="595959"/>
                </a:solidFill>
              </a:rPr>
              <a:t>The agent learns to maximize its reward.</a:t>
            </a:r>
            <a:endParaRPr>
              <a:solidFill>
                <a:srgbClr val="595959"/>
              </a:solidFill>
            </a:endParaRPr>
          </a:p>
          <a:p>
            <a:pPr marL="0" lvl="0" indent="0" algn="l" rtl="0">
              <a:lnSpc>
                <a:spcPct val="115000"/>
              </a:lnSpc>
              <a:spcBef>
                <a:spcPts val="1200"/>
              </a:spcBef>
              <a:spcAft>
                <a:spcPts val="1200"/>
              </a:spcAft>
              <a:buClr>
                <a:schemeClr val="dk1"/>
              </a:buClr>
              <a:buSzPts val="1100"/>
              <a:buFont typeface="Arial"/>
              <a:buNone/>
            </a:pPr>
            <a:endParaRPr>
              <a:solidFill>
                <a:srgbClr val="595959"/>
              </a:solidFill>
            </a:endParaRPr>
          </a:p>
        </p:txBody>
      </p:sp>
      <p:pic>
        <p:nvPicPr>
          <p:cNvPr id="178" name="Google Shape;178;p35"/>
          <p:cNvPicPr preferRelativeResize="0"/>
          <p:nvPr/>
        </p:nvPicPr>
        <p:blipFill>
          <a:blip r:embed="rId3">
            <a:alphaModFix/>
          </a:blip>
          <a:stretch>
            <a:fillRect/>
          </a:stretch>
        </p:blipFill>
        <p:spPr>
          <a:xfrm>
            <a:off x="807850" y="2181175"/>
            <a:ext cx="2734300" cy="2214927"/>
          </a:xfrm>
          <a:prstGeom prst="rect">
            <a:avLst/>
          </a:prstGeom>
          <a:noFill/>
          <a:ln>
            <a:noFill/>
          </a:ln>
        </p:spPr>
      </p:pic>
      <p:pic>
        <p:nvPicPr>
          <p:cNvPr id="179" name="Google Shape;179;p35"/>
          <p:cNvPicPr preferRelativeResize="0"/>
          <p:nvPr/>
        </p:nvPicPr>
        <p:blipFill>
          <a:blip r:embed="rId4">
            <a:alphaModFix/>
          </a:blip>
          <a:stretch>
            <a:fillRect/>
          </a:stretch>
        </p:blipFill>
        <p:spPr>
          <a:xfrm>
            <a:off x="4724400" y="1170125"/>
            <a:ext cx="4267200" cy="2667000"/>
          </a:xfrm>
          <a:prstGeom prst="rect">
            <a:avLst/>
          </a:prstGeom>
          <a:noFill/>
          <a:ln>
            <a:noFill/>
          </a:ln>
        </p:spPr>
      </p:pic>
      <p:sp>
        <p:nvSpPr>
          <p:cNvPr id="180" name="Google Shape;180;p35"/>
          <p:cNvSpPr txBox="1"/>
          <p:nvPr/>
        </p:nvSpPr>
        <p:spPr>
          <a:xfrm>
            <a:off x="5046900" y="3837125"/>
            <a:ext cx="3785400" cy="67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2"/>
                </a:solidFill>
              </a:rPr>
              <a:t>Video games were the first agents to be trained, and a great way to frame thinking about them! (as early as 1948 in NIM).</a:t>
            </a:r>
            <a:endParaRPr sz="1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Prediction Markets in 2026</a:t>
            </a:r>
            <a:endParaRPr sz="4000" b="1" i="0" u="none" strike="noStrike" cap="non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Char char="●"/>
            </a:pPr>
            <a:r>
              <a:rPr lang="en" sz="1800">
                <a:solidFill>
                  <a:srgbClr val="595959"/>
                </a:solidFill>
              </a:rPr>
              <a:t>Event contracts: binary markets that settle at $1 (YES) or $0 (NO) - the price IS the market-implied probability (sub-penny in the tails)</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CFTC-regulated: Kalshi’s Oct 2024 court win opened election markets - institutions followed (ICE, brokers, retail apps)</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Kalshi traded $23.8B in 2025; the 2026 midterms are the marquee event, with House control alone near $19M traded</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Every price is a probability: a natural playground for agents - forecasting, cross-venue arbitrage, and market making.</a:t>
            </a:r>
            <a:endParaRPr sz="1800">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sz="1800">
                <a:solidFill>
                  <a:srgbClr val="595959"/>
                </a:solidFill>
              </a:rPr>
              <a:t>Event outcomes are largely uncorrelated to equities - a genuinely new source of diversifying returns. </a:t>
            </a:r>
            <a:endParaRPr sz="1800">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Making Markets in Binaries</a:t>
            </a:r>
            <a:endParaRPr sz="4000" b="1" i="0" u="none" strike="noStrike" cap="non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Char char="●"/>
            </a:pPr>
            <a:r>
              <a:rPr lang="en" sz="1800">
                <a:solidFill>
                  <a:srgbClr val="595959"/>
                </a:solidFill>
              </a:rPr>
              <a:t>One book per contract: buying YES at P is identical to selling NO at 100 - P; ticks are 1¢, and 0.1¢ below 10¢ / above 90¢</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Quote both sides and earn the spread - makers pay no fee on most series; takers pay ≈7% × P × (1 − P) per contract</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The enemy is adverse selection: probabilities jump on news (polls, rulings, debates) faster than you can pull quotes</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Risk is bounded per contract (max loss is known up front), but inventory turns binary near resolution - size accordingly.</a:t>
            </a:r>
            <a:endParaRPr sz="1800">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sz="1800">
                <a:solidFill>
                  <a:srgbClr val="595959"/>
                </a:solidFill>
              </a:rPr>
              <a:t>Today: a simple agent quoting a live Kalshi market two-sided, with real money. </a:t>
            </a:r>
            <a:endParaRPr sz="1800">
              <a:solidFill>
                <a:srgbClr val="59595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6"/>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Our Agent</a:t>
            </a:r>
            <a:endParaRPr sz="4000" b="1" i="0" u="none" strike="noStrike" cap="none">
              <a:solidFill>
                <a:srgbClr val="6D3BF5"/>
              </a:solidFill>
              <a:latin typeface="Poppins"/>
              <a:ea typeface="Poppins"/>
              <a:cs typeface="Poppins"/>
              <a:sym typeface="Poppins"/>
            </a:endParaRPr>
          </a:p>
        </p:txBody>
      </p:sp>
      <p:sp>
        <p:nvSpPr>
          <p:cNvPr id="187" name="Google Shape;187;p36"/>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rgbClr val="595959"/>
                </a:solidFill>
              </a:rPr>
              <a:t>Environment:</a:t>
            </a:r>
            <a:endParaRPr b="1">
              <a:solidFill>
                <a:srgbClr val="595959"/>
              </a:solidFill>
            </a:endParaRPr>
          </a:p>
          <a:p>
            <a:pPr marL="457200" lvl="0" indent="-317500" algn="l" rtl="0">
              <a:lnSpc>
                <a:spcPct val="115000"/>
              </a:lnSpc>
              <a:spcBef>
                <a:spcPts val="1200"/>
              </a:spcBef>
              <a:spcAft>
                <a:spcPts val="0"/>
              </a:spcAft>
              <a:buClr>
                <a:srgbClr val="595959"/>
              </a:buClr>
              <a:buSzPts val="1400"/>
              <a:buChar char="-"/>
            </a:pPr>
            <a:r>
              <a:rPr lang="en">
                <a:solidFill>
                  <a:srgbClr val="595959"/>
                </a:solidFill>
              </a:rPr>
              <a:t>A Kalshi order book (state: best YES bid/ask, book depth, our inventory - sampled each second)</a:t>
            </a:r>
            <a:endParaRPr>
              <a:solidFill>
                <a:srgbClr val="595959"/>
              </a:solidFill>
            </a:endParaRPr>
          </a:p>
          <a:p>
            <a:pPr marL="457200" lvl="0" indent="-317500" algn="l" rtl="0">
              <a:lnSpc>
                <a:spcPct val="115000"/>
              </a:lnSpc>
              <a:spcBef>
                <a:spcPts val="0"/>
              </a:spcBef>
              <a:spcAft>
                <a:spcPts val="0"/>
              </a:spcAft>
              <a:buClr>
                <a:srgbClr val="595959"/>
              </a:buClr>
              <a:buSzPts val="1400"/>
              <a:buChar char="-"/>
            </a:pPr>
            <a:r>
              <a:rPr lang="en">
                <a:solidFill>
                  <a:srgbClr val="595959"/>
                </a:solidFill>
              </a:rPr>
              <a:t>Market: picked live by our scanner - we need a wide spread and a short queue (House control is 1¢ wide and 200k deep: unquotable)</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595959"/>
                </a:solidFill>
              </a:rPr>
              <a:t>Actions:</a:t>
            </a:r>
            <a:endParaRPr b="1">
              <a:solidFill>
                <a:srgbClr val="595959"/>
              </a:solidFill>
            </a:endParaRPr>
          </a:p>
          <a:p>
            <a:pPr marL="457200" lvl="0" indent="-317500" algn="l" rtl="0">
              <a:lnSpc>
                <a:spcPct val="115000"/>
              </a:lnSpc>
              <a:spcBef>
                <a:spcPts val="1200"/>
              </a:spcBef>
              <a:spcAft>
                <a:spcPts val="0"/>
              </a:spcAft>
              <a:buClr>
                <a:srgbClr val="595959"/>
              </a:buClr>
              <a:buSzPts val="1400"/>
              <a:buChar char="-"/>
            </a:pPr>
            <a:r>
              <a:rPr lang="en">
                <a:solidFill>
                  <a:srgbClr val="595959"/>
                </a:solidFill>
              </a:rPr>
              <a:t>Quote two-sided around a microprice (size-weighted mid), skewed by inventory</a:t>
            </a:r>
            <a:endParaRPr>
              <a:solidFill>
                <a:srgbClr val="595959"/>
              </a:solidFill>
            </a:endParaRPr>
          </a:p>
          <a:p>
            <a:pPr marL="457200" lvl="0" indent="-317500" algn="l" rtl="0">
              <a:lnSpc>
                <a:spcPct val="115000"/>
              </a:lnSpc>
              <a:spcBef>
                <a:spcPts val="0"/>
              </a:spcBef>
              <a:spcAft>
                <a:spcPts val="0"/>
              </a:spcAft>
              <a:buClr>
                <a:srgbClr val="595959"/>
              </a:buClr>
              <a:buSzPts val="1400"/>
              <a:buChar char="-"/>
            </a:pPr>
            <a:r>
              <a:rPr lang="en">
                <a:solidFill>
                  <a:srgbClr val="595959"/>
                </a:solidFill>
              </a:rPr>
              <a:t>Agent picks the posture — SYMMETRIC / LEAN BUY / LEAN SELL; the lean slides the quote toward fair, never tightening past fees (inventory capped, killed flat at the end)</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595959"/>
                </a:solidFill>
              </a:rPr>
              <a:t>Reward:</a:t>
            </a:r>
            <a:endParaRPr b="1">
              <a:solidFill>
                <a:srgbClr val="595959"/>
              </a:solidFill>
            </a:endParaRPr>
          </a:p>
          <a:p>
            <a:pPr marL="457200" lvl="0" indent="-317500" algn="l" rtl="0">
              <a:lnSpc>
                <a:spcPct val="115000"/>
              </a:lnSpc>
              <a:spcBef>
                <a:spcPts val="1200"/>
              </a:spcBef>
              <a:spcAft>
                <a:spcPts val="0"/>
              </a:spcAft>
              <a:buClr>
                <a:srgbClr val="595959"/>
              </a:buClr>
              <a:buSzPts val="1400"/>
              <a:buChar char="-"/>
            </a:pPr>
            <a:r>
              <a:rPr lang="en">
                <a:solidFill>
                  <a:srgbClr val="595959"/>
                </a:solidFill>
              </a:rPr>
              <a:t>Spread captured minus adverse selection, subject to inventory risk (holding through news is painful).</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Try it yourself: </a:t>
            </a:r>
            <a:r>
              <a:rPr lang="en" u="sng">
                <a:solidFill>
                  <a:srgbClr val="0097A7"/>
                </a:solidFill>
                <a:hlinkClick r:id="rId3">
                  <a:extLst>
                    <a:ext uri="{A12FA001-AC4F-418D-AE19-62706E023703}">
                      <ahyp:hlinkClr xmlns:ahyp="http://schemas.microsoft.com/office/drawing/2018/hyperlinkcolor" val="tx"/>
                    </a:ext>
                  </a:extLst>
                </a:hlinkClick>
              </a:rPr>
              <a:t>https://github.com/athaker/econ_136/blob/master/kalshi-market-making-demo.py</a:t>
            </a:r>
            <a:endParaRPr>
              <a:solidFill>
                <a:srgbClr val="595959"/>
              </a:solidFill>
            </a:endParaRPr>
          </a:p>
          <a:p>
            <a:pPr marL="0" lvl="0" indent="0" algn="l" rtl="0">
              <a:lnSpc>
                <a:spcPct val="115000"/>
              </a:lnSpc>
              <a:spcBef>
                <a:spcPts val="1200"/>
              </a:spcBef>
              <a:spcAft>
                <a:spcPts val="1200"/>
              </a:spcAft>
              <a:buClr>
                <a:schemeClr val="dk1"/>
              </a:buClr>
              <a:buSzPts val="1100"/>
              <a:buFont typeface="Arial"/>
              <a:buNone/>
            </a:pPr>
            <a:endParaRPr>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7"/>
          <p:cNvSpPr txBox="1"/>
          <p:nvPr/>
        </p:nvSpPr>
        <p:spPr>
          <a:xfrm>
            <a:off x="484175" y="1693800"/>
            <a:ext cx="7331700" cy="14016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200"/>
              <a:buFont typeface="Arial"/>
              <a:buNone/>
            </a:pPr>
            <a:r>
              <a:rPr lang="en" sz="5000" b="1">
                <a:solidFill>
                  <a:srgbClr val="FFFFFF"/>
                </a:solidFill>
                <a:latin typeface="Poppins"/>
                <a:ea typeface="Poppins"/>
                <a:cs typeface="Poppins"/>
                <a:sym typeface="Poppins"/>
              </a:rPr>
              <a:t>Let’s try it with real money!</a:t>
            </a:r>
            <a:endParaRPr sz="5000" b="1" i="0" u="none" strike="noStrike" cap="none">
              <a:solidFill>
                <a:srgbClr val="FFFFFF"/>
              </a:solidFill>
              <a:latin typeface="Poppins"/>
              <a:ea typeface="Poppins"/>
              <a:cs typeface="Poppins"/>
              <a:sym typeface="Poppins"/>
            </a:endParaRPr>
          </a:p>
        </p:txBody>
      </p:sp>
      <p:sp>
        <p:nvSpPr>
          <p:cNvPr id="194" name="Google Shape;194;p37"/>
          <p:cNvSpPr txBox="1"/>
          <p:nvPr/>
        </p:nvSpPr>
        <p:spPr>
          <a:xfrm>
            <a:off x="497875" y="3325850"/>
            <a:ext cx="8180400" cy="502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1600" b="1">
                <a:solidFill>
                  <a:srgbClr val="595959"/>
                </a:solidFill>
              </a:rPr>
              <a:t>Please don’t try this at home. This is a demo only. This is not financial advice.</a:t>
            </a:r>
            <a:endParaRPr sz="1600" b="1">
              <a:solidFill>
                <a:srgbClr val="595959"/>
              </a:solidFill>
            </a:endParaRPr>
          </a:p>
          <a:p>
            <a:pPr marL="0" marR="0" lvl="0" indent="0" algn="l" rtl="0">
              <a:lnSpc>
                <a:spcPct val="100000"/>
              </a:lnSpc>
              <a:spcBef>
                <a:spcPts val="1200"/>
              </a:spcBef>
              <a:spcAft>
                <a:spcPts val="0"/>
              </a:spcAft>
              <a:buClr>
                <a:srgbClr val="000000"/>
              </a:buClr>
              <a:buSzPts val="1100"/>
              <a:buFont typeface="Arial"/>
              <a:buNone/>
            </a:pPr>
            <a:endParaRPr sz="2000">
              <a:solidFill>
                <a:srgbClr val="FFFFFF"/>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2000"/>
          </a:p>
          <a:p>
            <a:pPr marL="0" lvl="0" indent="0" algn="l" rtl="0">
              <a:spcBef>
                <a:spcPts val="1200"/>
              </a:spcBef>
              <a:spcAft>
                <a:spcPts val="0"/>
              </a:spcAft>
              <a:buNone/>
            </a:pPr>
            <a:endParaRPr sz="2000"/>
          </a:p>
          <a:p>
            <a:pPr marL="0" lvl="0" indent="0" algn="l" rtl="0">
              <a:spcBef>
                <a:spcPts val="1200"/>
              </a:spcBef>
              <a:spcAft>
                <a:spcPts val="1200"/>
              </a:spcAft>
              <a:buNone/>
            </a:pPr>
            <a:r>
              <a:rPr lang="en" sz="2000"/>
              <a:t>The Code: </a:t>
            </a:r>
            <a:r>
              <a:rPr lang="en" sz="2000" u="sng">
                <a:solidFill>
                  <a:schemeClr val="accent5"/>
                </a:solidFill>
                <a:hlinkClick r:id="rId3">
                  <a:extLst>
                    <a:ext uri="{A12FA001-AC4F-418D-AE19-62706E023703}">
                      <ahyp:hlinkClr xmlns:ahyp="http://schemas.microsoft.com/office/drawing/2018/hyperlinkcolor" val="tx"/>
                    </a:ext>
                  </a:extLst>
                </a:hlinkClick>
              </a:rPr>
              <a:t>https://github.com/athaker/econ_136/blob/master/kalshi-market-making-demo.py</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p:nvPr/>
        </p:nvSpPr>
        <p:spPr>
          <a:xfrm>
            <a:off x="484175" y="1693800"/>
            <a:ext cx="7331700" cy="14016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200"/>
              <a:buFont typeface="Arial"/>
              <a:buNone/>
            </a:pPr>
            <a:r>
              <a:rPr lang="en" sz="5000" b="1">
                <a:solidFill>
                  <a:srgbClr val="FFFFFF"/>
                </a:solidFill>
                <a:latin typeface="Poppins"/>
                <a:ea typeface="Poppins"/>
                <a:cs typeface="Poppins"/>
                <a:sym typeface="Poppins"/>
              </a:rPr>
              <a:t>But why does this matter?</a:t>
            </a:r>
            <a:endParaRPr sz="5000" b="1" i="0" u="none" strike="noStrike" cap="none">
              <a:solidFill>
                <a:srgbClr val="FFFFFF"/>
              </a:solidFill>
              <a:latin typeface="Poppins"/>
              <a:ea typeface="Poppins"/>
              <a:cs typeface="Poppins"/>
              <a:sym typeface="Poppins"/>
            </a:endParaRPr>
          </a:p>
        </p:txBody>
      </p:sp>
      <p:sp>
        <p:nvSpPr>
          <p:cNvPr id="206" name="Google Shape;206;p39"/>
          <p:cNvSpPr txBox="1"/>
          <p:nvPr/>
        </p:nvSpPr>
        <p:spPr>
          <a:xfrm>
            <a:off x="497875" y="3325850"/>
            <a:ext cx="8180400" cy="50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rgbClr val="595959"/>
                </a:solidFill>
              </a:rPr>
              <a:t>Agents/AI have been around for forever, and applied to finance for decades. Institutional flows are showing that uncorrelated assets are paramount for long term growth. </a:t>
            </a:r>
            <a:endParaRPr sz="1800">
              <a:solidFill>
                <a:srgbClr val="595959"/>
              </a:solidFill>
            </a:endParaRPr>
          </a:p>
          <a:p>
            <a:pPr marL="0" lvl="0" indent="0" algn="ctr" rtl="0">
              <a:lnSpc>
                <a:spcPct val="115000"/>
              </a:lnSpc>
              <a:spcBef>
                <a:spcPts val="1200"/>
              </a:spcBef>
              <a:spcAft>
                <a:spcPts val="0"/>
              </a:spcAft>
              <a:buClr>
                <a:schemeClr val="dk1"/>
              </a:buClr>
              <a:buSzPts val="1100"/>
              <a:buFont typeface="Arial"/>
              <a:buNone/>
            </a:pPr>
            <a:endParaRPr sz="1600" b="1">
              <a:solidFill>
                <a:srgbClr val="595959"/>
              </a:solidFill>
            </a:endParaRPr>
          </a:p>
          <a:p>
            <a:pPr marL="0" marR="0" lvl="0" indent="0" algn="l" rtl="0">
              <a:lnSpc>
                <a:spcPct val="100000"/>
              </a:lnSpc>
              <a:spcBef>
                <a:spcPts val="1200"/>
              </a:spcBef>
              <a:spcAft>
                <a:spcPts val="0"/>
              </a:spcAft>
              <a:buClr>
                <a:srgbClr val="000000"/>
              </a:buClr>
              <a:buSzPts val="1100"/>
              <a:buFont typeface="Arial"/>
              <a:buNone/>
            </a:pPr>
            <a:endParaRPr sz="2000">
              <a:solidFill>
                <a:srgbClr val="FFFFFF"/>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0"/>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Institutions are Moving to Alts</a:t>
            </a:r>
            <a:endParaRPr sz="4000" b="1" i="0" u="none" strike="noStrike" cap="none">
              <a:solidFill>
                <a:srgbClr val="6D3BF5"/>
              </a:solidFill>
              <a:latin typeface="Poppins"/>
              <a:ea typeface="Poppins"/>
              <a:cs typeface="Poppins"/>
              <a:sym typeface="Poppins"/>
            </a:endParaRPr>
          </a:p>
        </p:txBody>
      </p:sp>
      <p:pic>
        <p:nvPicPr>
          <p:cNvPr id="213" name="Google Shape;213;p40" title="Chart"/>
          <p:cNvPicPr preferRelativeResize="0"/>
          <p:nvPr/>
        </p:nvPicPr>
        <p:blipFill>
          <a:blip r:embed="rId3">
            <a:alphaModFix/>
          </a:blip>
          <a:stretch>
            <a:fillRect/>
          </a:stretch>
        </p:blipFill>
        <p:spPr>
          <a:xfrm>
            <a:off x="670375" y="1017725"/>
            <a:ext cx="5572676" cy="3438275"/>
          </a:xfrm>
          <a:prstGeom prst="rect">
            <a:avLst/>
          </a:prstGeom>
          <a:noFill/>
          <a:ln>
            <a:noFill/>
          </a:ln>
        </p:spPr>
      </p:pic>
      <p:sp>
        <p:nvSpPr>
          <p:cNvPr id="214" name="Google Shape;214;p40"/>
          <p:cNvSpPr txBox="1"/>
          <p:nvPr/>
        </p:nvSpPr>
        <p:spPr>
          <a:xfrm>
            <a:off x="6862925" y="2036700"/>
            <a:ext cx="1800600" cy="10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About 50% of alts are AI powered!</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1"/>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Yale Leads the Pack</a:t>
            </a:r>
            <a:endParaRPr sz="4000" b="1" i="0" u="none" strike="noStrike" cap="none">
              <a:solidFill>
                <a:srgbClr val="6D3BF5"/>
              </a:solidFill>
              <a:latin typeface="Poppins"/>
              <a:ea typeface="Poppins"/>
              <a:cs typeface="Poppins"/>
              <a:sym typeface="Poppins"/>
            </a:endParaRPr>
          </a:p>
        </p:txBody>
      </p:sp>
      <p:pic>
        <p:nvPicPr>
          <p:cNvPr id="221" name="Google Shape;221;p41" title="Chart"/>
          <p:cNvPicPr preferRelativeResize="0"/>
          <p:nvPr/>
        </p:nvPicPr>
        <p:blipFill>
          <a:blip r:embed="rId3">
            <a:alphaModFix/>
          </a:blip>
          <a:stretch>
            <a:fillRect/>
          </a:stretch>
        </p:blipFill>
        <p:spPr>
          <a:xfrm>
            <a:off x="1659987" y="897550"/>
            <a:ext cx="5824026" cy="3601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2"/>
          <p:cNvSpPr txBox="1"/>
          <p:nvPr/>
        </p:nvSpPr>
        <p:spPr>
          <a:xfrm>
            <a:off x="484175" y="1693800"/>
            <a:ext cx="7331700" cy="14016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200"/>
              <a:buFont typeface="Arial"/>
              <a:buNone/>
            </a:pPr>
            <a:r>
              <a:rPr lang="en" sz="5000" b="1">
                <a:solidFill>
                  <a:srgbClr val="FFFFFF"/>
                </a:solidFill>
                <a:latin typeface="Poppins"/>
                <a:ea typeface="Poppins"/>
                <a:cs typeface="Poppins"/>
                <a:sym typeface="Poppins"/>
              </a:rPr>
              <a:t>How does this affect me?</a:t>
            </a:r>
            <a:endParaRPr sz="5000" b="1" i="0" u="none" strike="noStrike" cap="none">
              <a:solidFill>
                <a:srgbClr val="FFFFFF"/>
              </a:solidFill>
              <a:latin typeface="Poppins"/>
              <a:ea typeface="Poppins"/>
              <a:cs typeface="Poppins"/>
              <a:sym typeface="Poppins"/>
            </a:endParaRPr>
          </a:p>
        </p:txBody>
      </p:sp>
      <p:sp>
        <p:nvSpPr>
          <p:cNvPr id="228" name="Google Shape;228;p42"/>
          <p:cNvSpPr txBox="1"/>
          <p:nvPr/>
        </p:nvSpPr>
        <p:spPr>
          <a:xfrm>
            <a:off x="497875" y="3325850"/>
            <a:ext cx="8180400" cy="502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600" b="1">
              <a:solidFill>
                <a:srgbClr val="595959"/>
              </a:solidFill>
            </a:endParaRPr>
          </a:p>
          <a:p>
            <a:pPr marL="0" marR="0" lvl="0" indent="0" algn="l" rtl="0">
              <a:lnSpc>
                <a:spcPct val="100000"/>
              </a:lnSpc>
              <a:spcBef>
                <a:spcPts val="1200"/>
              </a:spcBef>
              <a:spcAft>
                <a:spcPts val="0"/>
              </a:spcAft>
              <a:buClr>
                <a:srgbClr val="000000"/>
              </a:buClr>
              <a:buSzPts val="1100"/>
              <a:buFont typeface="Arial"/>
              <a:buNone/>
            </a:pPr>
            <a:endParaRPr sz="2000">
              <a:solidFill>
                <a:srgbClr val="FFFFFF"/>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Drawdowns are Painful</a:t>
            </a:r>
            <a:endParaRPr sz="4000" b="1" i="0" u="none" strike="noStrike" cap="none">
              <a:solidFill>
                <a:srgbClr val="6D3BF5"/>
              </a:solidFill>
              <a:latin typeface="Poppins"/>
              <a:ea typeface="Poppins"/>
              <a:cs typeface="Poppins"/>
              <a:sym typeface="Poppins"/>
            </a:endParaRPr>
          </a:p>
        </p:txBody>
      </p:sp>
      <p:graphicFrame>
        <p:nvGraphicFramePr>
          <p:cNvPr id="235" name="Google Shape;235;p43"/>
          <p:cNvGraphicFramePr/>
          <p:nvPr/>
        </p:nvGraphicFramePr>
        <p:xfrm>
          <a:off x="1600200" y="2011363"/>
          <a:ext cx="3000000" cy="3000000"/>
        </p:xfrm>
        <a:graphic>
          <a:graphicData uri="http://schemas.openxmlformats.org/drawingml/2006/table">
            <a:tbl>
              <a:tblPr>
                <a:noFill/>
                <a:tableStyleId>{C2C82F5D-7F28-4AD3-9396-DA1E2200D94E}</a:tableStyleId>
              </a:tblPr>
              <a:tblGrid>
                <a:gridCol w="742950">
                  <a:extLst>
                    <a:ext uri="{9D8B030D-6E8A-4147-A177-3AD203B41FA5}">
                      <a16:colId xmlns:a16="http://schemas.microsoft.com/office/drawing/2014/main" val="20000"/>
                    </a:ext>
                  </a:extLst>
                </a:gridCol>
                <a:gridCol w="742950">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gridCol w="742950">
                  <a:extLst>
                    <a:ext uri="{9D8B030D-6E8A-4147-A177-3AD203B41FA5}">
                      <a16:colId xmlns:a16="http://schemas.microsoft.com/office/drawing/2014/main" val="20004"/>
                    </a:ext>
                  </a:extLst>
                </a:gridCol>
                <a:gridCol w="742950">
                  <a:extLst>
                    <a:ext uri="{9D8B030D-6E8A-4147-A177-3AD203B41FA5}">
                      <a16:colId xmlns:a16="http://schemas.microsoft.com/office/drawing/2014/main" val="20005"/>
                    </a:ext>
                  </a:extLst>
                </a:gridCol>
                <a:gridCol w="742950">
                  <a:extLst>
                    <a:ext uri="{9D8B030D-6E8A-4147-A177-3AD203B41FA5}">
                      <a16:colId xmlns:a16="http://schemas.microsoft.com/office/drawing/2014/main" val="20006"/>
                    </a:ext>
                  </a:extLst>
                </a:gridCol>
                <a:gridCol w="742950">
                  <a:extLst>
                    <a:ext uri="{9D8B030D-6E8A-4147-A177-3AD203B41FA5}">
                      <a16:colId xmlns:a16="http://schemas.microsoft.com/office/drawing/2014/main" val="20007"/>
                    </a:ext>
                  </a:extLst>
                </a:gridCol>
              </a:tblGrid>
              <a:tr h="200025">
                <a:tc rowSpan="2">
                  <a:txBody>
                    <a:bodyPr/>
                    <a:lstStyle/>
                    <a:p>
                      <a:pPr marL="0" lvl="0" indent="0" algn="l" rtl="0">
                        <a:lnSpc>
                          <a:spcPct val="115000"/>
                        </a:lnSpc>
                        <a:spcBef>
                          <a:spcPts val="0"/>
                        </a:spcBef>
                        <a:spcAft>
                          <a:spcPts val="0"/>
                        </a:spcAft>
                        <a:buNone/>
                      </a:pPr>
                      <a:endParaRPr sz="1000" b="1"/>
                    </a:p>
                    <a:p>
                      <a:pPr marL="0" lvl="0" indent="0" algn="l" rtl="0">
                        <a:lnSpc>
                          <a:spcPct val="115000"/>
                        </a:lnSpc>
                        <a:spcBef>
                          <a:spcPts val="0"/>
                        </a:spcBef>
                        <a:spcAft>
                          <a:spcPts val="0"/>
                        </a:spcAft>
                        <a:buNone/>
                      </a:pPr>
                      <a:r>
                        <a:rPr lang="en" sz="1000" b="1"/>
                        <a:t>Portfolio Loss</a:t>
                      </a:r>
                      <a:endParaRPr sz="1000" b="1"/>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rowSpan="2">
                  <a:txBody>
                    <a:bodyPr/>
                    <a:lstStyle/>
                    <a:p>
                      <a:pPr marL="0" lvl="0" indent="0" algn="l" rtl="0">
                        <a:lnSpc>
                          <a:spcPct val="115000"/>
                        </a:lnSpc>
                        <a:spcBef>
                          <a:spcPts val="0"/>
                        </a:spcBef>
                        <a:spcAft>
                          <a:spcPts val="0"/>
                        </a:spcAft>
                        <a:buNone/>
                      </a:pPr>
                      <a:r>
                        <a:rPr lang="en" sz="1000" b="1"/>
                        <a:t>Gain to Restore Loss</a:t>
                      </a:r>
                      <a:endParaRPr sz="1000" b="1"/>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gridSpan="6">
                  <a:txBody>
                    <a:bodyPr/>
                    <a:lstStyle/>
                    <a:p>
                      <a:pPr marL="0" lvl="0" indent="0" algn="l" rtl="0">
                        <a:lnSpc>
                          <a:spcPct val="115000"/>
                        </a:lnSpc>
                        <a:spcBef>
                          <a:spcPts val="0"/>
                        </a:spcBef>
                        <a:spcAft>
                          <a:spcPts val="0"/>
                        </a:spcAft>
                        <a:buNone/>
                      </a:pPr>
                      <a:r>
                        <a:rPr lang="en" sz="1000" b="1"/>
                        <a:t>Percentage Change of recovery from loss within N years</a:t>
                      </a:r>
                      <a:endParaRPr sz="1000" b="1"/>
                    </a:p>
                  </a:txBody>
                  <a:tcPr marL="0" marR="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2900">
                <a:tc vMerge="1">
                  <a:txBody>
                    <a:bodyPr/>
                    <a:lstStyle/>
                    <a:p>
                      <a:endParaRPr lang="en-US"/>
                    </a:p>
                  </a:txBody>
                  <a:tcPr/>
                </a:tc>
                <a:tc vMerge="1">
                  <a:txBody>
                    <a:bodyPr/>
                    <a:lstStyle/>
                    <a:p>
                      <a:endParaRPr lang="en-US"/>
                    </a:p>
                  </a:txBody>
                  <a:tcPr/>
                </a:tc>
                <a:tc>
                  <a:txBody>
                    <a:bodyPr/>
                    <a:lstStyle/>
                    <a:p>
                      <a:pPr marL="0" lvl="0" indent="0" algn="r" rtl="0">
                        <a:lnSpc>
                          <a:spcPct val="115000"/>
                        </a:lnSpc>
                        <a:spcBef>
                          <a:spcPts val="0"/>
                        </a:spcBef>
                        <a:spcAft>
                          <a:spcPts val="0"/>
                        </a:spcAft>
                        <a:buNone/>
                      </a:pPr>
                      <a:r>
                        <a:rPr lang="en" sz="1000"/>
                        <a:t>1</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r" rtl="0">
                        <a:lnSpc>
                          <a:spcPct val="115000"/>
                        </a:lnSpc>
                        <a:spcBef>
                          <a:spcPts val="0"/>
                        </a:spcBef>
                        <a:spcAft>
                          <a:spcPts val="0"/>
                        </a:spcAft>
                        <a:buNone/>
                      </a:pPr>
                      <a:r>
                        <a:rPr lang="en" sz="1000"/>
                        <a:t>-10.00%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11.11%</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52.50%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74.40%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86.10%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78.40%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77.80%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93.50%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r" rtl="0">
                        <a:lnSpc>
                          <a:spcPct val="115000"/>
                        </a:lnSpc>
                        <a:spcBef>
                          <a:spcPts val="0"/>
                        </a:spcBef>
                        <a:spcAft>
                          <a:spcPts val="0"/>
                        </a:spcAft>
                        <a:buNone/>
                      </a:pPr>
                      <a:r>
                        <a:rPr lang="en" sz="1000"/>
                        <a:t>-20.00%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25.00%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25.00%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48.70%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68.40%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67.60%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72.20%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93.50%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r" rtl="0">
                        <a:lnSpc>
                          <a:spcPct val="115000"/>
                        </a:lnSpc>
                        <a:spcBef>
                          <a:spcPts val="0"/>
                        </a:spcBef>
                        <a:spcAft>
                          <a:spcPts val="0"/>
                        </a:spcAft>
                        <a:buNone/>
                      </a:pPr>
                      <a:r>
                        <a:rPr lang="en" sz="1000"/>
                        <a:t>-35.00%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53.85%</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17.90%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34.20%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56.80%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61.10%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93.50%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r" rtl="0">
                        <a:lnSpc>
                          <a:spcPct val="115000"/>
                        </a:lnSpc>
                        <a:spcBef>
                          <a:spcPts val="0"/>
                        </a:spcBef>
                        <a:spcAft>
                          <a:spcPts val="0"/>
                        </a:spcAft>
                        <a:buNone/>
                      </a:pPr>
                      <a:r>
                        <a:rPr lang="en" sz="1000"/>
                        <a:t>-50.00%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7.90%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13.50%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36.10%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80.60%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r" rtl="0">
                        <a:lnSpc>
                          <a:spcPct val="115000"/>
                        </a:lnSpc>
                        <a:spcBef>
                          <a:spcPts val="0"/>
                        </a:spcBef>
                        <a:spcAft>
                          <a:spcPts val="0"/>
                        </a:spcAft>
                        <a:buNone/>
                      </a:pPr>
                      <a:r>
                        <a:rPr lang="en" sz="1000"/>
                        <a:t>-65.00%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185.71%</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2.70%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5.60%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61.30%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Portfolio Construction can Reduce Pain</a:t>
            </a:r>
            <a:endParaRPr sz="4000" b="1" i="0" u="none" strike="noStrike" cap="none">
              <a:solidFill>
                <a:srgbClr val="6D3BF5"/>
              </a:solidFill>
              <a:latin typeface="Poppins"/>
              <a:ea typeface="Poppins"/>
              <a:cs typeface="Poppins"/>
              <a:sym typeface="Poppins"/>
            </a:endParaRPr>
          </a:p>
        </p:txBody>
      </p:sp>
      <p:pic>
        <p:nvPicPr>
          <p:cNvPr id="242" name="Google Shape;242;p44" title="Chart"/>
          <p:cNvPicPr preferRelativeResize="0"/>
          <p:nvPr/>
        </p:nvPicPr>
        <p:blipFill>
          <a:blip r:embed="rId3">
            <a:alphaModFix/>
          </a:blip>
          <a:stretch>
            <a:fillRect/>
          </a:stretch>
        </p:blipFill>
        <p:spPr>
          <a:xfrm>
            <a:off x="86024" y="1477650"/>
            <a:ext cx="4603200" cy="2846301"/>
          </a:xfrm>
          <a:prstGeom prst="rect">
            <a:avLst/>
          </a:prstGeom>
          <a:noFill/>
          <a:ln>
            <a:noFill/>
          </a:ln>
        </p:spPr>
      </p:pic>
      <p:graphicFrame>
        <p:nvGraphicFramePr>
          <p:cNvPr id="243" name="Google Shape;243;p44"/>
          <p:cNvGraphicFramePr/>
          <p:nvPr/>
        </p:nvGraphicFramePr>
        <p:xfrm>
          <a:off x="4794925" y="951000"/>
          <a:ext cx="3000000" cy="3000000"/>
        </p:xfrm>
        <a:graphic>
          <a:graphicData uri="http://schemas.openxmlformats.org/drawingml/2006/table">
            <a:tbl>
              <a:tblPr>
                <a:noFill/>
                <a:tableStyleId>{C2C82F5D-7F28-4AD3-9396-DA1E2200D94E}</a:tableStyleId>
              </a:tblPr>
              <a:tblGrid>
                <a:gridCol w="846225">
                  <a:extLst>
                    <a:ext uri="{9D8B030D-6E8A-4147-A177-3AD203B41FA5}">
                      <a16:colId xmlns:a16="http://schemas.microsoft.com/office/drawing/2014/main" val="20000"/>
                    </a:ext>
                  </a:extLst>
                </a:gridCol>
                <a:gridCol w="846225">
                  <a:extLst>
                    <a:ext uri="{9D8B030D-6E8A-4147-A177-3AD203B41FA5}">
                      <a16:colId xmlns:a16="http://schemas.microsoft.com/office/drawing/2014/main" val="20001"/>
                    </a:ext>
                  </a:extLst>
                </a:gridCol>
                <a:gridCol w="846225">
                  <a:extLst>
                    <a:ext uri="{9D8B030D-6E8A-4147-A177-3AD203B41FA5}">
                      <a16:colId xmlns:a16="http://schemas.microsoft.com/office/drawing/2014/main" val="20002"/>
                    </a:ext>
                  </a:extLst>
                </a:gridCol>
                <a:gridCol w="846225">
                  <a:extLst>
                    <a:ext uri="{9D8B030D-6E8A-4147-A177-3AD203B41FA5}">
                      <a16:colId xmlns:a16="http://schemas.microsoft.com/office/drawing/2014/main" val="20003"/>
                    </a:ext>
                  </a:extLst>
                </a:gridCol>
                <a:gridCol w="846225">
                  <a:extLst>
                    <a:ext uri="{9D8B030D-6E8A-4147-A177-3AD203B41FA5}">
                      <a16:colId xmlns:a16="http://schemas.microsoft.com/office/drawing/2014/main" val="20004"/>
                    </a:ext>
                  </a:extLst>
                </a:gridCol>
              </a:tblGrid>
              <a:tr h="209550">
                <a:tc>
                  <a:txBody>
                    <a:bodyPr/>
                    <a:lstStyle/>
                    <a:p>
                      <a:pPr marL="0" lvl="0" indent="0" algn="l" rtl="0">
                        <a:lnSpc>
                          <a:spcPct val="115000"/>
                        </a:lnSpc>
                        <a:spcBef>
                          <a:spcPts val="0"/>
                        </a:spcBef>
                        <a:spcAft>
                          <a:spcPts val="0"/>
                        </a:spcAft>
                        <a:buNone/>
                      </a:pPr>
                      <a:r>
                        <a:rPr lang="en" sz="1000" b="1"/>
                        <a:t>Metric</a:t>
                      </a:r>
                      <a:endParaRPr sz="1000" b="1"/>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b="1"/>
                        <a:t>S&amp;P500</a:t>
                      </a:r>
                      <a:endParaRPr sz="1000" b="1"/>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b="1"/>
                        <a:t>Uncorrelated</a:t>
                      </a:r>
                      <a:endParaRPr sz="1000" b="1"/>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b="1"/>
                        <a:t>Blended</a:t>
                      </a:r>
                      <a:endParaRPr sz="1000" b="1"/>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b="1"/>
                        <a:t>Rebalanced</a:t>
                      </a:r>
                      <a:endParaRPr sz="1000" b="1"/>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t>Average</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6.47%</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5.79%</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5.19%</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6.13%</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STD</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17.78%</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15.73%</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9.18%</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4.51%</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t>Sharpe</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0.36</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0.37</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0.56</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1.36</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44" name="Google Shape;244;p44"/>
          <p:cNvPicPr preferRelativeResize="0"/>
          <p:nvPr/>
        </p:nvPicPr>
        <p:blipFill>
          <a:blip r:embed="rId4">
            <a:alphaModFix/>
          </a:blip>
          <a:stretch>
            <a:fillRect/>
          </a:stretch>
        </p:blipFill>
        <p:spPr>
          <a:xfrm>
            <a:off x="4894850" y="1943325"/>
            <a:ext cx="3810000" cy="2419350"/>
          </a:xfrm>
          <a:prstGeom prst="rect">
            <a:avLst/>
          </a:prstGeom>
          <a:noFill/>
          <a:ln>
            <a:noFill/>
          </a:ln>
        </p:spPr>
      </p:pic>
      <p:sp>
        <p:nvSpPr>
          <p:cNvPr id="245" name="Google Shape;245;p44"/>
          <p:cNvSpPr txBox="1"/>
          <p:nvPr/>
        </p:nvSpPr>
        <p:spPr>
          <a:xfrm>
            <a:off x="5113975" y="4423050"/>
            <a:ext cx="3527400" cy="27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Seek truly diversified investments that exhibit long term uncorrelation. Bonds (AGG) often are very correlated.</a:t>
            </a:r>
            <a:endParaRPr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5"/>
          <p:cNvSpPr txBox="1"/>
          <p:nvPr/>
        </p:nvSpPr>
        <p:spPr>
          <a:xfrm>
            <a:off x="484175" y="1693800"/>
            <a:ext cx="7331700" cy="14016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200"/>
              <a:buFont typeface="Arial"/>
              <a:buNone/>
            </a:pPr>
            <a:r>
              <a:rPr lang="en" sz="5000" b="1">
                <a:solidFill>
                  <a:srgbClr val="FFFFFF"/>
                </a:solidFill>
                <a:latin typeface="Poppins"/>
                <a:ea typeface="Poppins"/>
                <a:cs typeface="Poppins"/>
                <a:sym typeface="Poppins"/>
              </a:rPr>
              <a:t>Getting started!</a:t>
            </a:r>
            <a:endParaRPr sz="5000" b="1" i="0" u="none" strike="noStrike" cap="none">
              <a:solidFill>
                <a:srgbClr val="FFFFFF"/>
              </a:solidFill>
              <a:latin typeface="Poppins"/>
              <a:ea typeface="Poppins"/>
              <a:cs typeface="Poppins"/>
              <a:sym typeface="Poppins"/>
            </a:endParaRPr>
          </a:p>
        </p:txBody>
      </p:sp>
      <p:sp>
        <p:nvSpPr>
          <p:cNvPr id="252" name="Google Shape;252;p45"/>
          <p:cNvSpPr txBox="1"/>
          <p:nvPr/>
        </p:nvSpPr>
        <p:spPr>
          <a:xfrm>
            <a:off x="497875" y="3325850"/>
            <a:ext cx="8180400" cy="502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600" b="1">
              <a:solidFill>
                <a:srgbClr val="595959"/>
              </a:solidFill>
            </a:endParaRPr>
          </a:p>
          <a:p>
            <a:pPr marL="0" marR="0" lvl="0" indent="0" algn="l" rtl="0">
              <a:lnSpc>
                <a:spcPct val="100000"/>
              </a:lnSpc>
              <a:spcBef>
                <a:spcPts val="1200"/>
              </a:spcBef>
              <a:spcAft>
                <a:spcPts val="0"/>
              </a:spcAft>
              <a:buClr>
                <a:srgbClr val="000000"/>
              </a:buClr>
              <a:buSzPts val="1100"/>
              <a:buFont typeface="Arial"/>
              <a:buNone/>
            </a:pPr>
            <a:endParaRPr sz="2000">
              <a:solidFill>
                <a:srgbClr val="FFFFFF"/>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6"/>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A Visual Guide</a:t>
            </a:r>
            <a:endParaRPr sz="4000" b="1" i="0" u="none" strike="noStrike" cap="none">
              <a:solidFill>
                <a:srgbClr val="6D3BF5"/>
              </a:solidFill>
              <a:latin typeface="Poppins"/>
              <a:ea typeface="Poppins"/>
              <a:cs typeface="Poppins"/>
              <a:sym typeface="Poppins"/>
            </a:endParaRPr>
          </a:p>
        </p:txBody>
      </p:sp>
      <p:pic>
        <p:nvPicPr>
          <p:cNvPr id="259" name="Google Shape;259;p46"/>
          <p:cNvPicPr preferRelativeResize="0"/>
          <p:nvPr/>
        </p:nvPicPr>
        <p:blipFill>
          <a:blip r:embed="rId3">
            <a:alphaModFix/>
          </a:blip>
          <a:stretch>
            <a:fillRect/>
          </a:stretch>
        </p:blipFill>
        <p:spPr>
          <a:xfrm>
            <a:off x="2067195" y="897550"/>
            <a:ext cx="5009613" cy="3757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7"/>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Be Careful of Fees: Robinhood PFOF - September 2024</a:t>
            </a:r>
            <a:endParaRPr sz="4000" b="1" i="0" u="none" strike="noStrike" cap="none">
              <a:solidFill>
                <a:srgbClr val="6D3BF5"/>
              </a:solidFill>
              <a:latin typeface="Poppins"/>
              <a:ea typeface="Poppins"/>
              <a:cs typeface="Poppins"/>
              <a:sym typeface="Poppins"/>
            </a:endParaRPr>
          </a:p>
        </p:txBody>
      </p:sp>
      <p:graphicFrame>
        <p:nvGraphicFramePr>
          <p:cNvPr id="266" name="Google Shape;266;p47"/>
          <p:cNvGraphicFramePr/>
          <p:nvPr/>
        </p:nvGraphicFramePr>
        <p:xfrm>
          <a:off x="285750" y="1623025"/>
          <a:ext cx="3000000" cy="3000000"/>
        </p:xfrm>
        <a:graphic>
          <a:graphicData uri="http://schemas.openxmlformats.org/drawingml/2006/table">
            <a:tbl>
              <a:tblPr>
                <a:noFill/>
                <a:tableStyleId>{8E988DE2-97A2-416A-9140-A02111780125}</a:tableStyleId>
              </a:tblPr>
              <a:tblGrid>
                <a:gridCol w="952500">
                  <a:extLst>
                    <a:ext uri="{9D8B030D-6E8A-4147-A177-3AD203B41FA5}">
                      <a16:colId xmlns:a16="http://schemas.microsoft.com/office/drawing/2014/main" val="20000"/>
                    </a:ext>
                  </a:extLst>
                </a:gridCol>
                <a:gridCol w="1075375">
                  <a:extLst>
                    <a:ext uri="{9D8B030D-6E8A-4147-A177-3AD203B41FA5}">
                      <a16:colId xmlns:a16="http://schemas.microsoft.com/office/drawing/2014/main" val="20001"/>
                    </a:ext>
                  </a:extLst>
                </a:gridCol>
                <a:gridCol w="829625">
                  <a:extLst>
                    <a:ext uri="{9D8B030D-6E8A-4147-A177-3AD203B41FA5}">
                      <a16:colId xmlns:a16="http://schemas.microsoft.com/office/drawing/2014/main" val="20002"/>
                    </a:ext>
                  </a:extLst>
                </a:gridCol>
                <a:gridCol w="1136825">
                  <a:extLst>
                    <a:ext uri="{9D8B030D-6E8A-4147-A177-3AD203B41FA5}">
                      <a16:colId xmlns:a16="http://schemas.microsoft.com/office/drawing/2014/main" val="20003"/>
                    </a:ext>
                  </a:extLst>
                </a:gridCol>
                <a:gridCol w="768175">
                  <a:extLst>
                    <a:ext uri="{9D8B030D-6E8A-4147-A177-3AD203B41FA5}">
                      <a16:colId xmlns:a16="http://schemas.microsoft.com/office/drawing/2014/main" val="20004"/>
                    </a:ext>
                  </a:extLst>
                </a:gridCol>
                <a:gridCol w="1145625">
                  <a:extLst>
                    <a:ext uri="{9D8B030D-6E8A-4147-A177-3AD203B41FA5}">
                      <a16:colId xmlns:a16="http://schemas.microsoft.com/office/drawing/2014/main" val="20005"/>
                    </a:ext>
                  </a:extLst>
                </a:gridCol>
                <a:gridCol w="759375">
                  <a:extLst>
                    <a:ext uri="{9D8B030D-6E8A-4147-A177-3AD203B41FA5}">
                      <a16:colId xmlns:a16="http://schemas.microsoft.com/office/drawing/2014/main" val="20006"/>
                    </a:ext>
                  </a:extLst>
                </a:gridCol>
                <a:gridCol w="1066600">
                  <a:extLst>
                    <a:ext uri="{9D8B030D-6E8A-4147-A177-3AD203B41FA5}">
                      <a16:colId xmlns:a16="http://schemas.microsoft.com/office/drawing/2014/main" val="20007"/>
                    </a:ext>
                  </a:extLst>
                </a:gridCol>
                <a:gridCol w="838400">
                  <a:extLst>
                    <a:ext uri="{9D8B030D-6E8A-4147-A177-3AD203B41FA5}">
                      <a16:colId xmlns:a16="http://schemas.microsoft.com/office/drawing/2014/main" val="20008"/>
                    </a:ext>
                  </a:extLst>
                </a:gridCol>
              </a:tblGrid>
              <a:tr h="100000">
                <a:tc>
                  <a:txBody>
                    <a:bodyPr/>
                    <a:lstStyle/>
                    <a:p>
                      <a:pPr marL="0" lvl="0" indent="0" algn="l" rtl="0">
                        <a:lnSpc>
                          <a:spcPct val="115000"/>
                        </a:lnSpc>
                        <a:spcBef>
                          <a:spcPts val="0"/>
                        </a:spcBef>
                        <a:spcAft>
                          <a:spcPts val="0"/>
                        </a:spcAft>
                        <a:buNone/>
                      </a:pPr>
                      <a:r>
                        <a:rPr lang="en" sz="1200" b="1"/>
                        <a:t>Type</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Paid/Received for Market Orders (USD)</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Market Orders(cents per hundred shares)</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 Received for Marketable Limit Orders (USD)</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Marketable Limit Orders(cents per hundred shares)</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Non-Marketable Limit Orders(USD)</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Non-Marketable Limit Orders(cents per hundred shares)</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Other Orders(USD)</a:t>
                      </a:r>
                      <a:endParaRPr sz="7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700" b="1"/>
                        <a:t>Net Payment Paid/Received for Other Orders(cents per hundred shares)</a:t>
                      </a:r>
                      <a:endParaRPr sz="700" b="1"/>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37000">
                <a:tc>
                  <a:txBody>
                    <a:bodyPr/>
                    <a:lstStyle/>
                    <a:p>
                      <a:pPr marL="0" lvl="0" indent="0" algn="l" rtl="0">
                        <a:lnSpc>
                          <a:spcPct val="115000"/>
                        </a:lnSpc>
                        <a:spcBef>
                          <a:spcPts val="0"/>
                        </a:spcBef>
                        <a:spcAft>
                          <a:spcPts val="0"/>
                        </a:spcAft>
                        <a:buNone/>
                      </a:pPr>
                      <a:r>
                        <a:rPr lang="en" sz="1200"/>
                        <a:t>S&amp;P500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$476,120.14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$0.54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$506,842.39</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$0.45</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$159,669.04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$0.49</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$406,231.62</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$0.33</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37000">
                <a:tc>
                  <a:txBody>
                    <a:bodyPr/>
                    <a:lstStyle/>
                    <a:p>
                      <a:pPr marL="0" lvl="0" indent="0" algn="l" rtl="0">
                        <a:lnSpc>
                          <a:spcPct val="115000"/>
                        </a:lnSpc>
                        <a:spcBef>
                          <a:spcPts val="0"/>
                        </a:spcBef>
                        <a:spcAft>
                          <a:spcPts val="0"/>
                        </a:spcAft>
                        <a:buNone/>
                      </a:pPr>
                      <a:r>
                        <a:rPr lang="en" sz="1200"/>
                        <a:t>Non S&amp;P500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$2,595,718.32</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$0.17</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$2,764,997.73</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$0.10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$1,214,001.70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$0.10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$746,273.38</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$0.17</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37000">
                <a:tc>
                  <a:txBody>
                    <a:bodyPr/>
                    <a:lstStyle/>
                    <a:p>
                      <a:pPr marL="0" lvl="0" indent="0" algn="l" rtl="0">
                        <a:lnSpc>
                          <a:spcPct val="115000"/>
                        </a:lnSpc>
                        <a:spcBef>
                          <a:spcPts val="0"/>
                        </a:spcBef>
                        <a:spcAft>
                          <a:spcPts val="0"/>
                        </a:spcAft>
                        <a:buNone/>
                      </a:pPr>
                      <a:r>
                        <a:rPr lang="en" sz="1200"/>
                        <a:t>Options</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$267,735.21</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$0.35</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$26,281,705.80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$0.36</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$21,002,467.90</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$0.47</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$4,900,789.94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t>$0.41</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67" name="Google Shape;267;p47"/>
          <p:cNvSpPr txBox="1"/>
          <p:nvPr/>
        </p:nvSpPr>
        <p:spPr>
          <a:xfrm>
            <a:off x="1071250" y="3977025"/>
            <a:ext cx="7118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rgbClr val="0097A7"/>
                </a:solidFill>
                <a:hlinkClick r:id="rId3">
                  <a:extLst>
                    <a:ext uri="{A12FA001-AC4F-418D-AE19-62706E023703}">
                      <ahyp:hlinkClr xmlns:ahyp="http://schemas.microsoft.com/office/drawing/2018/hyperlinkcolor" val="tx"/>
                    </a:ext>
                  </a:extLst>
                </a:hlinkClick>
              </a:rPr>
              <a:t>Robinhood Financial LLC - Held NMS Stocks and Options Order Routing Public Report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8"/>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The Efficient Market</a:t>
            </a:r>
            <a:endParaRPr sz="4000" b="1" i="0" u="none" strike="noStrike" cap="none">
              <a:solidFill>
                <a:srgbClr val="6D3BF5"/>
              </a:solidFill>
              <a:latin typeface="Poppins"/>
              <a:ea typeface="Poppins"/>
              <a:cs typeface="Poppins"/>
              <a:sym typeface="Poppins"/>
            </a:endParaRPr>
          </a:p>
        </p:txBody>
      </p:sp>
      <p:sp>
        <p:nvSpPr>
          <p:cNvPr id="274" name="Google Shape;274;p48"/>
          <p:cNvSpPr txBox="1"/>
          <p:nvPr/>
        </p:nvSpPr>
        <p:spPr>
          <a:xfrm>
            <a:off x="12825" y="932000"/>
            <a:ext cx="5055900" cy="6939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rgbClr val="595959"/>
              </a:buClr>
              <a:buSzPts val="1300"/>
              <a:buChar char="●"/>
            </a:pPr>
            <a:r>
              <a:rPr lang="en" sz="1300">
                <a:solidFill>
                  <a:srgbClr val="595959"/>
                </a:solidFill>
              </a:rPr>
              <a:t>Impossible to “beat the market” </a:t>
            </a:r>
            <a:endParaRPr sz="1300">
              <a:solidFill>
                <a:srgbClr val="595959"/>
              </a:solidFill>
            </a:endParaRPr>
          </a:p>
          <a:p>
            <a:pPr marL="914400" lvl="1" indent="-311150" algn="l" rtl="0">
              <a:lnSpc>
                <a:spcPct val="115000"/>
              </a:lnSpc>
              <a:spcBef>
                <a:spcPts val="0"/>
              </a:spcBef>
              <a:spcAft>
                <a:spcPts val="0"/>
              </a:spcAft>
              <a:buClr>
                <a:srgbClr val="595959"/>
              </a:buClr>
              <a:buSzPts val="1300"/>
              <a:buChar char="○"/>
            </a:pPr>
            <a:r>
              <a:rPr lang="en" sz="1300">
                <a:solidFill>
                  <a:srgbClr val="595959"/>
                </a:solidFill>
              </a:rPr>
              <a:t>Market efficiency causes prices to incorporate and reflect all relevant information</a:t>
            </a:r>
            <a:endParaRPr sz="1300">
              <a:solidFill>
                <a:srgbClr val="595959"/>
              </a:solidFill>
            </a:endParaRPr>
          </a:p>
          <a:p>
            <a:pPr marL="1371600" lvl="2" indent="-311150" algn="l" rtl="0">
              <a:lnSpc>
                <a:spcPct val="115000"/>
              </a:lnSpc>
              <a:spcBef>
                <a:spcPts val="0"/>
              </a:spcBef>
              <a:spcAft>
                <a:spcPts val="0"/>
              </a:spcAft>
              <a:buClr>
                <a:srgbClr val="595959"/>
              </a:buClr>
              <a:buSzPts val="1300"/>
              <a:buChar char="■"/>
            </a:pPr>
            <a:r>
              <a:rPr lang="en" sz="1300">
                <a:solidFill>
                  <a:srgbClr val="595959"/>
                </a:solidFill>
              </a:rPr>
              <a:t>Prices adjust quickly to new information</a:t>
            </a:r>
            <a:endParaRPr sz="1300">
              <a:solidFill>
                <a:srgbClr val="595959"/>
              </a:solidFill>
            </a:endParaRPr>
          </a:p>
          <a:p>
            <a:pPr marL="1371600" lvl="2" indent="-311150" algn="l" rtl="0">
              <a:lnSpc>
                <a:spcPct val="115000"/>
              </a:lnSpc>
              <a:spcBef>
                <a:spcPts val="0"/>
              </a:spcBef>
              <a:spcAft>
                <a:spcPts val="0"/>
              </a:spcAft>
              <a:buClr>
                <a:srgbClr val="595959"/>
              </a:buClr>
              <a:buSzPts val="1300"/>
              <a:buChar char="■"/>
            </a:pPr>
            <a:r>
              <a:rPr lang="en" sz="1300">
                <a:solidFill>
                  <a:srgbClr val="595959"/>
                </a:solidFill>
              </a:rPr>
              <a:t>Prices should reflect all available information</a:t>
            </a:r>
            <a:endParaRPr sz="1300">
              <a:solidFill>
                <a:srgbClr val="595959"/>
              </a:solidFill>
            </a:endParaRPr>
          </a:p>
          <a:p>
            <a:pPr marL="914400" lvl="1" indent="-311150" algn="l" rtl="0">
              <a:lnSpc>
                <a:spcPct val="115000"/>
              </a:lnSpc>
              <a:spcBef>
                <a:spcPts val="0"/>
              </a:spcBef>
              <a:spcAft>
                <a:spcPts val="0"/>
              </a:spcAft>
              <a:buClr>
                <a:srgbClr val="595959"/>
              </a:buClr>
              <a:buSzPts val="1300"/>
              <a:buChar char="○"/>
            </a:pPr>
            <a:r>
              <a:rPr lang="en" sz="1300">
                <a:solidFill>
                  <a:srgbClr val="595959"/>
                </a:solidFill>
              </a:rPr>
              <a:t>Securities always trade at their fair value </a:t>
            </a:r>
            <a:endParaRPr sz="1300">
              <a:solidFill>
                <a:srgbClr val="595959"/>
              </a:solidFill>
            </a:endParaRPr>
          </a:p>
          <a:p>
            <a:pPr marL="914400" lvl="1" indent="-311150" algn="l" rtl="0">
              <a:lnSpc>
                <a:spcPct val="115000"/>
              </a:lnSpc>
              <a:spcBef>
                <a:spcPts val="0"/>
              </a:spcBef>
              <a:spcAft>
                <a:spcPts val="0"/>
              </a:spcAft>
              <a:buClr>
                <a:srgbClr val="595959"/>
              </a:buClr>
              <a:buSzPts val="1300"/>
              <a:buChar char="○"/>
            </a:pPr>
            <a:r>
              <a:rPr lang="en" sz="1300">
                <a:solidFill>
                  <a:srgbClr val="595959"/>
                </a:solidFill>
              </a:rPr>
              <a:t>The only way to obtain higher returns is to purchase riskier investments</a:t>
            </a:r>
            <a:endParaRPr sz="1300">
              <a:solidFill>
                <a:srgbClr val="595959"/>
              </a:solidFill>
            </a:endParaRPr>
          </a:p>
          <a:p>
            <a:pPr marL="914400" lvl="1" indent="-311150" algn="l" rtl="0">
              <a:lnSpc>
                <a:spcPct val="115000"/>
              </a:lnSpc>
              <a:spcBef>
                <a:spcPts val="0"/>
              </a:spcBef>
              <a:spcAft>
                <a:spcPts val="0"/>
              </a:spcAft>
              <a:buClr>
                <a:srgbClr val="595959"/>
              </a:buClr>
              <a:buSzPts val="1300"/>
              <a:buChar char="○"/>
            </a:pPr>
            <a:r>
              <a:rPr lang="en" sz="1300">
                <a:solidFill>
                  <a:srgbClr val="595959"/>
                </a:solidFill>
              </a:rPr>
              <a:t>Cannot predict trends, history does not indicate future</a:t>
            </a:r>
            <a:endParaRPr sz="1300">
              <a:solidFill>
                <a:srgbClr val="595959"/>
              </a:solidFill>
            </a:endParaRPr>
          </a:p>
          <a:p>
            <a:pPr marL="457200" lvl="0" indent="-311150" algn="l" rtl="0">
              <a:lnSpc>
                <a:spcPct val="115000"/>
              </a:lnSpc>
              <a:spcBef>
                <a:spcPts val="0"/>
              </a:spcBef>
              <a:spcAft>
                <a:spcPts val="0"/>
              </a:spcAft>
              <a:buClr>
                <a:srgbClr val="595959"/>
              </a:buClr>
              <a:buSzPts val="1300"/>
              <a:buChar char="●"/>
            </a:pPr>
            <a:r>
              <a:rPr lang="en" sz="1300">
                <a:solidFill>
                  <a:srgbClr val="595959"/>
                </a:solidFill>
              </a:rPr>
              <a:t>The market is becoming increasingly more efficient</a:t>
            </a:r>
            <a:endParaRPr sz="1300">
              <a:solidFill>
                <a:srgbClr val="595959"/>
              </a:solidFill>
            </a:endParaRPr>
          </a:p>
          <a:p>
            <a:pPr marL="457200" lvl="0" indent="-311150" algn="l" rtl="0">
              <a:lnSpc>
                <a:spcPct val="115000"/>
              </a:lnSpc>
              <a:spcBef>
                <a:spcPts val="0"/>
              </a:spcBef>
              <a:spcAft>
                <a:spcPts val="0"/>
              </a:spcAft>
              <a:buClr>
                <a:srgbClr val="595959"/>
              </a:buClr>
              <a:buSzPts val="1300"/>
              <a:buChar char="●"/>
            </a:pPr>
            <a:r>
              <a:rPr lang="en" sz="1300">
                <a:solidFill>
                  <a:srgbClr val="595959"/>
                </a:solidFill>
              </a:rPr>
              <a:t>Warren Buffett? Citadel? Virtu?</a:t>
            </a:r>
            <a:endParaRPr sz="1300">
              <a:solidFill>
                <a:srgbClr val="595959"/>
              </a:solidFill>
            </a:endParaRPr>
          </a:p>
          <a:p>
            <a:pPr marL="914400" lvl="1" indent="-311150" algn="l" rtl="0">
              <a:lnSpc>
                <a:spcPct val="115000"/>
              </a:lnSpc>
              <a:spcBef>
                <a:spcPts val="0"/>
              </a:spcBef>
              <a:spcAft>
                <a:spcPts val="0"/>
              </a:spcAft>
              <a:buClr>
                <a:srgbClr val="595959"/>
              </a:buClr>
              <a:buSzPts val="1300"/>
              <a:buChar char="○"/>
            </a:pPr>
            <a:r>
              <a:rPr lang="en" sz="1300">
                <a:solidFill>
                  <a:srgbClr val="595959"/>
                </a:solidFill>
              </a:rPr>
              <a:t>When filing for its IPO in March 2014, it was disclosed that during five years Virtu Financial made profit 1,277 out of 1,278 days, losing money just one day.</a:t>
            </a:r>
            <a:endParaRPr sz="1300">
              <a:solidFill>
                <a:srgbClr val="595959"/>
              </a:solidFill>
            </a:endParaRPr>
          </a:p>
        </p:txBody>
      </p:sp>
      <p:pic>
        <p:nvPicPr>
          <p:cNvPr id="275" name="Google Shape;275;p48"/>
          <p:cNvPicPr preferRelativeResize="0"/>
          <p:nvPr/>
        </p:nvPicPr>
        <p:blipFill>
          <a:blip r:embed="rId3">
            <a:alphaModFix/>
          </a:blip>
          <a:stretch>
            <a:fillRect/>
          </a:stretch>
        </p:blipFill>
        <p:spPr>
          <a:xfrm>
            <a:off x="5258525" y="1538663"/>
            <a:ext cx="3885475" cy="20661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9"/>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Statistical Sampling</a:t>
            </a:r>
            <a:endParaRPr sz="4000" b="1" i="0" u="none" strike="noStrike" cap="none">
              <a:solidFill>
                <a:srgbClr val="6D3BF5"/>
              </a:solidFill>
              <a:latin typeface="Poppins"/>
              <a:ea typeface="Poppins"/>
              <a:cs typeface="Poppins"/>
              <a:sym typeface="Poppins"/>
            </a:endParaRPr>
          </a:p>
        </p:txBody>
      </p:sp>
      <p:sp>
        <p:nvSpPr>
          <p:cNvPr id="282" name="Google Shape;282;p49"/>
          <p:cNvSpPr txBox="1"/>
          <p:nvPr/>
        </p:nvSpPr>
        <p:spPr>
          <a:xfrm>
            <a:off x="0" y="2224800"/>
            <a:ext cx="5055900" cy="6939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rgbClr val="595959"/>
              </a:buClr>
              <a:buSzPts val="1300"/>
              <a:buChar char="●"/>
            </a:pPr>
            <a:r>
              <a:rPr lang="en" sz="1300">
                <a:solidFill>
                  <a:srgbClr val="595959"/>
                </a:solidFill>
              </a:rPr>
              <a:t>Some investors are simply lucky</a:t>
            </a:r>
            <a:endParaRPr sz="1300">
              <a:solidFill>
                <a:srgbClr val="595959"/>
              </a:solidFill>
            </a:endParaRPr>
          </a:p>
          <a:p>
            <a:pPr marL="457200" lvl="0" indent="-311150" algn="l" rtl="0">
              <a:lnSpc>
                <a:spcPct val="115000"/>
              </a:lnSpc>
              <a:spcBef>
                <a:spcPts val="0"/>
              </a:spcBef>
              <a:spcAft>
                <a:spcPts val="0"/>
              </a:spcAft>
              <a:buClr>
                <a:srgbClr val="595959"/>
              </a:buClr>
              <a:buSzPts val="1300"/>
              <a:buChar char="●"/>
            </a:pPr>
            <a:r>
              <a:rPr lang="en" sz="1300">
                <a:solidFill>
                  <a:srgbClr val="595959"/>
                </a:solidFill>
              </a:rPr>
              <a:t>If you were to have a bunch of monkeys throw darts at a wall and use that to pick stocks you will have some major outperformers. </a:t>
            </a:r>
            <a:endParaRPr sz="1300">
              <a:solidFill>
                <a:srgbClr val="595959"/>
              </a:solidFill>
            </a:endParaRPr>
          </a:p>
        </p:txBody>
      </p:sp>
      <p:pic>
        <p:nvPicPr>
          <p:cNvPr id="283" name="Google Shape;283;p49"/>
          <p:cNvPicPr preferRelativeResize="0"/>
          <p:nvPr/>
        </p:nvPicPr>
        <p:blipFill>
          <a:blip r:embed="rId3">
            <a:alphaModFix/>
          </a:blip>
          <a:stretch>
            <a:fillRect/>
          </a:stretch>
        </p:blipFill>
        <p:spPr>
          <a:xfrm>
            <a:off x="5131325" y="1456925"/>
            <a:ext cx="3933300" cy="2077974"/>
          </a:xfrm>
          <a:prstGeom prst="rect">
            <a:avLst/>
          </a:prstGeom>
          <a:noFill/>
          <a:ln>
            <a:noFill/>
          </a:ln>
        </p:spPr>
      </p:pic>
      <p:sp>
        <p:nvSpPr>
          <p:cNvPr id="284" name="Google Shape;284;p49"/>
          <p:cNvSpPr txBox="1"/>
          <p:nvPr/>
        </p:nvSpPr>
        <p:spPr>
          <a:xfrm>
            <a:off x="2118000" y="3607925"/>
            <a:ext cx="4908000" cy="86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latin typeface="Calibri"/>
                <a:ea typeface="Calibri"/>
                <a:cs typeface="Calibri"/>
                <a:sym typeface="Calibri"/>
              </a:rPr>
              <a:t>“</a:t>
            </a:r>
            <a:r>
              <a:rPr lang="en" sz="1000" i="1">
                <a:solidFill>
                  <a:schemeClr val="dk1"/>
                </a:solidFill>
                <a:latin typeface="Calibri"/>
                <a:ea typeface="Calibri"/>
                <a:cs typeface="Calibri"/>
                <a:sym typeface="Calibri"/>
              </a:rPr>
              <a:t>In statistical terms, I figure I have traded about 2 million contracts, with an average profit of $70 per contract (after slippage of perhaps $20). This average is approximately 700 standard deviations away from randomness.”</a:t>
            </a:r>
            <a:endParaRPr sz="1000" i="1">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a:solidFill>
                  <a:schemeClr val="dk1"/>
                </a:solidFill>
                <a:latin typeface="Calibri"/>
                <a:ea typeface="Calibri"/>
                <a:cs typeface="Calibri"/>
                <a:sym typeface="Calibri"/>
              </a:rPr>
              <a:t>    ~ </a:t>
            </a:r>
            <a:r>
              <a:rPr lang="en" sz="1000" i="1">
                <a:solidFill>
                  <a:schemeClr val="dk1"/>
                </a:solidFill>
                <a:latin typeface="Calibri"/>
                <a:ea typeface="Calibri"/>
                <a:cs typeface="Calibri"/>
                <a:sym typeface="Calibri"/>
              </a:rPr>
              <a:t>The Education of a Speculator</a:t>
            </a:r>
            <a:endParaRPr sz="1000" i="1">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0"/>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AI/ML is only One Part</a:t>
            </a:r>
            <a:endParaRPr sz="4000" b="1" i="0" u="none" strike="noStrike" cap="none">
              <a:solidFill>
                <a:srgbClr val="6D3BF5"/>
              </a:solidFill>
              <a:latin typeface="Poppins"/>
              <a:ea typeface="Poppins"/>
              <a:cs typeface="Poppins"/>
              <a:sym typeface="Poppins"/>
            </a:endParaRPr>
          </a:p>
        </p:txBody>
      </p:sp>
      <p:sp>
        <p:nvSpPr>
          <p:cNvPr id="291" name="Google Shape;291;p50"/>
          <p:cNvSpPr txBox="1"/>
          <p:nvPr/>
        </p:nvSpPr>
        <p:spPr>
          <a:xfrm>
            <a:off x="0" y="1139350"/>
            <a:ext cx="4325700" cy="3052800"/>
          </a:xfrm>
          <a:prstGeom prst="rect">
            <a:avLst/>
          </a:prstGeom>
          <a:noFill/>
          <a:ln>
            <a:noFill/>
          </a:ln>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Clr>
                <a:srgbClr val="595959"/>
              </a:buClr>
              <a:buSzPts val="1900"/>
              <a:buChar char="●"/>
            </a:pPr>
            <a:r>
              <a:rPr lang="en" sz="1900">
                <a:solidFill>
                  <a:srgbClr val="595959"/>
                </a:solidFill>
              </a:rPr>
              <a:t>Arguably the most important thing in Deep Learning / AI</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High quality data drives model performance</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Models today are often trained on the whole internet</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Identify what you are good at and that will drive performance</a:t>
            </a:r>
            <a:endParaRPr sz="1900">
              <a:solidFill>
                <a:srgbClr val="595959"/>
              </a:solidFill>
            </a:endParaRPr>
          </a:p>
        </p:txBody>
      </p:sp>
      <p:pic>
        <p:nvPicPr>
          <p:cNvPr id="292" name="Google Shape;292;p50"/>
          <p:cNvPicPr preferRelativeResize="0"/>
          <p:nvPr/>
        </p:nvPicPr>
        <p:blipFill rotWithShape="1">
          <a:blip r:embed="rId3">
            <a:alphaModFix/>
          </a:blip>
          <a:srcRect/>
          <a:stretch/>
        </p:blipFill>
        <p:spPr>
          <a:xfrm>
            <a:off x="4325638" y="1101119"/>
            <a:ext cx="4562475" cy="2990850"/>
          </a:xfrm>
          <a:prstGeom prst="rect">
            <a:avLst/>
          </a:prstGeom>
          <a:noFill/>
          <a:ln>
            <a:noFill/>
          </a:ln>
        </p:spPr>
      </p:pic>
      <p:sp>
        <p:nvSpPr>
          <p:cNvPr id="293" name="Google Shape;293;p50"/>
          <p:cNvSpPr/>
          <p:nvPr/>
        </p:nvSpPr>
        <p:spPr>
          <a:xfrm>
            <a:off x="4671888" y="3909650"/>
            <a:ext cx="3870000" cy="677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1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https://developers.google.com/machine-learning/crash-course</a:t>
            </a:r>
            <a:r>
              <a:rPr lang="en" sz="1100">
                <a:solidFill>
                  <a:schemeClr val="dk1"/>
                </a:solidFill>
                <a:latin typeface="Calibri"/>
                <a:ea typeface="Calibri"/>
                <a:cs typeface="Calibri"/>
                <a:sym typeface="Calibri"/>
              </a:rPr>
              <a:t> </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1"/>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Backtesting a Strategy</a:t>
            </a:r>
            <a:endParaRPr sz="4000" b="1" i="0" u="none" strike="noStrike" cap="none">
              <a:solidFill>
                <a:srgbClr val="6D3BF5"/>
              </a:solidFill>
              <a:latin typeface="Poppins"/>
              <a:ea typeface="Poppins"/>
              <a:cs typeface="Poppins"/>
              <a:sym typeface="Poppins"/>
            </a:endParaRPr>
          </a:p>
        </p:txBody>
      </p:sp>
      <p:sp>
        <p:nvSpPr>
          <p:cNvPr id="300" name="Google Shape;300;p51"/>
          <p:cNvSpPr txBox="1"/>
          <p:nvPr/>
        </p:nvSpPr>
        <p:spPr>
          <a:xfrm>
            <a:off x="0" y="1139350"/>
            <a:ext cx="4325700" cy="3052800"/>
          </a:xfrm>
          <a:prstGeom prst="rect">
            <a:avLst/>
          </a:prstGeom>
          <a:noFill/>
          <a:ln>
            <a:noFill/>
          </a:ln>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Clr>
                <a:srgbClr val="595959"/>
              </a:buClr>
              <a:buSzPts val="1900"/>
              <a:buChar char="●"/>
            </a:pPr>
            <a:r>
              <a:rPr lang="en" sz="1900">
                <a:solidFill>
                  <a:srgbClr val="595959"/>
                </a:solidFill>
              </a:rPr>
              <a:t>Does the strategy work across many assets?</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How many years does it work for?</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Risk Tolerance?</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Maximum Drawdown?</a:t>
            </a:r>
            <a:endParaRPr sz="1900">
              <a:solidFill>
                <a:srgbClr val="595959"/>
              </a:solidFill>
            </a:endParaRPr>
          </a:p>
          <a:p>
            <a:pPr marL="457200" lvl="0" indent="-349250" algn="l" rtl="0">
              <a:lnSpc>
                <a:spcPct val="115000"/>
              </a:lnSpc>
              <a:spcBef>
                <a:spcPts val="0"/>
              </a:spcBef>
              <a:spcAft>
                <a:spcPts val="0"/>
              </a:spcAft>
              <a:buClr>
                <a:srgbClr val="595959"/>
              </a:buClr>
              <a:buSzPts val="1900"/>
              <a:buChar char="●"/>
            </a:pPr>
            <a:r>
              <a:rPr lang="en" sz="1900">
                <a:solidFill>
                  <a:srgbClr val="595959"/>
                </a:solidFill>
              </a:rPr>
              <a:t>Fees? Trading frequency?</a:t>
            </a:r>
            <a:endParaRPr sz="1900">
              <a:solidFill>
                <a:srgbClr val="595959"/>
              </a:solidFill>
            </a:endParaRPr>
          </a:p>
        </p:txBody>
      </p:sp>
      <p:pic>
        <p:nvPicPr>
          <p:cNvPr id="301" name="Google Shape;301;p51"/>
          <p:cNvPicPr preferRelativeResize="0"/>
          <p:nvPr/>
        </p:nvPicPr>
        <p:blipFill>
          <a:blip r:embed="rId3">
            <a:alphaModFix/>
          </a:blip>
          <a:stretch>
            <a:fillRect/>
          </a:stretch>
        </p:blipFill>
        <p:spPr>
          <a:xfrm>
            <a:off x="5302350" y="1149798"/>
            <a:ext cx="3747849" cy="3308025"/>
          </a:xfrm>
          <a:prstGeom prst="rect">
            <a:avLst/>
          </a:prstGeom>
          <a:noFill/>
          <a:ln>
            <a:noFill/>
          </a:ln>
        </p:spPr>
      </p:pic>
      <p:pic>
        <p:nvPicPr>
          <p:cNvPr id="302" name="Google Shape;302;p51"/>
          <p:cNvPicPr preferRelativeResize="0"/>
          <p:nvPr/>
        </p:nvPicPr>
        <p:blipFill>
          <a:blip r:embed="rId4">
            <a:alphaModFix/>
          </a:blip>
          <a:stretch>
            <a:fillRect/>
          </a:stretch>
        </p:blipFill>
        <p:spPr>
          <a:xfrm>
            <a:off x="3407088" y="3665175"/>
            <a:ext cx="1857375" cy="1478325"/>
          </a:xfrm>
          <a:prstGeom prst="rect">
            <a:avLst/>
          </a:prstGeom>
          <a:noFill/>
          <a:ln>
            <a:noFill/>
          </a:ln>
        </p:spPr>
      </p:pic>
      <p:sp>
        <p:nvSpPr>
          <p:cNvPr id="303" name="Google Shape;303;p51"/>
          <p:cNvSpPr txBox="1"/>
          <p:nvPr/>
        </p:nvSpPr>
        <p:spPr>
          <a:xfrm>
            <a:off x="4455150" y="4287288"/>
            <a:ext cx="1066200" cy="74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50">
                <a:solidFill>
                  <a:schemeClr val="dk1"/>
                </a:solidFill>
                <a:latin typeface="Calibri"/>
                <a:ea typeface="Calibri"/>
                <a:cs typeface="Calibri"/>
                <a:sym typeface="Calibri"/>
              </a:rPr>
              <a:t>Sharpe:1.299</a:t>
            </a:r>
            <a:endParaRPr sz="65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650">
                <a:solidFill>
                  <a:schemeClr val="dk1"/>
                </a:solidFill>
                <a:latin typeface="Calibri"/>
                <a:ea typeface="Calibri"/>
                <a:cs typeface="Calibri"/>
                <a:sym typeface="Calibri"/>
              </a:rPr>
              <a:t>PPC:0.338</a:t>
            </a:r>
            <a:endParaRPr sz="65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650">
                <a:solidFill>
                  <a:schemeClr val="dk1"/>
                </a:solidFill>
                <a:latin typeface="Calibri"/>
                <a:ea typeface="Calibri"/>
                <a:cs typeface="Calibri"/>
                <a:sym typeface="Calibri"/>
              </a:rPr>
              <a:t>Wins:255</a:t>
            </a:r>
            <a:endParaRPr sz="65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650">
                <a:solidFill>
                  <a:schemeClr val="dk1"/>
                </a:solidFill>
                <a:latin typeface="Calibri"/>
                <a:ea typeface="Calibri"/>
                <a:cs typeface="Calibri"/>
                <a:sym typeface="Calibri"/>
              </a:rPr>
              <a:t>Losses:202</a:t>
            </a:r>
            <a:endParaRPr sz="65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650">
                <a:solidFill>
                  <a:schemeClr val="dk1"/>
                </a:solidFill>
                <a:latin typeface="Calibri"/>
                <a:ea typeface="Calibri"/>
                <a:cs typeface="Calibri"/>
                <a:sym typeface="Calibri"/>
              </a:rPr>
              <a:t>Trades:463.0</a:t>
            </a:r>
            <a:endParaRPr sz="650">
              <a:solidFill>
                <a:schemeClr val="dk1"/>
              </a:solidFill>
              <a:latin typeface="Calibri"/>
              <a:ea typeface="Calibri"/>
              <a:cs typeface="Calibri"/>
              <a:sym typeface="Calibri"/>
            </a:endParaRPr>
          </a:p>
        </p:txBody>
      </p:sp>
      <p:sp>
        <p:nvSpPr>
          <p:cNvPr id="304" name="Google Shape;304;p51"/>
          <p:cNvSpPr txBox="1"/>
          <p:nvPr/>
        </p:nvSpPr>
        <p:spPr>
          <a:xfrm>
            <a:off x="5769800" y="4259238"/>
            <a:ext cx="3000000" cy="80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solidFill>
                  <a:schemeClr val="dk1"/>
                </a:solidFill>
                <a:latin typeface="Calibri"/>
                <a:ea typeface="Calibri"/>
                <a:cs typeface="Calibri"/>
                <a:sym typeface="Calibri"/>
              </a:rPr>
              <a:t>In Sample: SPY 2004-2010</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a:solidFill>
                  <a:schemeClr val="dk1"/>
                </a:solidFill>
                <a:latin typeface="Calibri"/>
                <a:ea typeface="Calibri"/>
                <a:cs typeface="Calibri"/>
                <a:sym typeface="Calibri"/>
              </a:rPr>
              <a:t>Out of Sample: Assets Randomly Selected:</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a:solidFill>
                  <a:schemeClr val="dk1"/>
                </a:solidFill>
                <a:latin typeface="Calibri"/>
                <a:ea typeface="Calibri"/>
                <a:cs typeface="Calibri"/>
                <a:sym typeface="Calibri"/>
              </a:rPr>
              <a:t>ADBE XLNX BBBY CFN EMC ADP AFL DE T SPLS DG ADS</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a:solidFill>
                  <a:schemeClr val="dk1"/>
                </a:solidFill>
                <a:latin typeface="Calibri"/>
                <a:ea typeface="Calibri"/>
                <a:cs typeface="Calibri"/>
                <a:sym typeface="Calibri"/>
              </a:rPr>
              <a:t>ALL MET CL PX WYN</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2"/>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Technical Indicators</a:t>
            </a:r>
            <a:endParaRPr sz="4000" b="1" i="0" u="none" strike="noStrike" cap="none">
              <a:solidFill>
                <a:srgbClr val="6D3BF5"/>
              </a:solidFill>
              <a:latin typeface="Poppins"/>
              <a:ea typeface="Poppins"/>
              <a:cs typeface="Poppins"/>
              <a:sym typeface="Poppins"/>
            </a:endParaRPr>
          </a:p>
        </p:txBody>
      </p:sp>
      <p:sp>
        <p:nvSpPr>
          <p:cNvPr id="311" name="Google Shape;311;p52"/>
          <p:cNvSpPr txBox="1"/>
          <p:nvPr/>
        </p:nvSpPr>
        <p:spPr>
          <a:xfrm>
            <a:off x="340225" y="1749975"/>
            <a:ext cx="5481300" cy="19893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000"/>
              </a:spcBef>
              <a:spcAft>
                <a:spcPts val="0"/>
              </a:spcAft>
              <a:buClr>
                <a:srgbClr val="404040"/>
              </a:buClr>
              <a:buSzPts val="2000"/>
              <a:buChar char="●"/>
            </a:pPr>
            <a:r>
              <a:rPr lang="en" sz="2000">
                <a:solidFill>
                  <a:srgbClr val="404040"/>
                </a:solidFill>
              </a:rPr>
              <a:t>Technical indicators are mostly </a:t>
            </a:r>
            <a:r>
              <a:rPr lang="en" sz="2000" b="1">
                <a:solidFill>
                  <a:srgbClr val="404040"/>
                </a:solidFill>
              </a:rPr>
              <a:t>useless</a:t>
            </a:r>
            <a:r>
              <a:rPr lang="en" sz="2000">
                <a:solidFill>
                  <a:srgbClr val="404040"/>
                </a:solidFill>
              </a:rPr>
              <a:t> on their own</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Must identify a market phenomenon and statistically validate it</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Simplicity and understandability usually are better</a:t>
            </a:r>
            <a:endParaRPr sz="2000">
              <a:solidFill>
                <a:srgbClr val="595959"/>
              </a:solidFill>
            </a:endParaRPr>
          </a:p>
        </p:txBody>
      </p:sp>
      <p:sp>
        <p:nvSpPr>
          <p:cNvPr id="312" name="Google Shape;312;p52"/>
          <p:cNvSpPr txBox="1"/>
          <p:nvPr/>
        </p:nvSpPr>
        <p:spPr>
          <a:xfrm>
            <a:off x="6061900" y="193650"/>
            <a:ext cx="3000000" cy="475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Accumulation/Distribution (AD)</a:t>
            </a:r>
            <a:endParaRPr sz="1100"/>
          </a:p>
          <a:p>
            <a:pPr marL="0" lvl="0" indent="0" algn="l" rtl="0">
              <a:spcBef>
                <a:spcPts val="0"/>
              </a:spcBef>
              <a:spcAft>
                <a:spcPts val="0"/>
              </a:spcAft>
              <a:buNone/>
            </a:pPr>
            <a:r>
              <a:rPr lang="en" sz="1100"/>
              <a:t>Average Directional Movement (ADX)</a:t>
            </a:r>
            <a:endParaRPr sz="1100"/>
          </a:p>
          <a:p>
            <a:pPr marL="0" lvl="0" indent="0" algn="l" rtl="0">
              <a:spcBef>
                <a:spcPts val="0"/>
              </a:spcBef>
              <a:spcAft>
                <a:spcPts val="0"/>
              </a:spcAft>
              <a:buNone/>
            </a:pPr>
            <a:r>
              <a:rPr lang="en" sz="1100"/>
              <a:t>Absolute Price Oscillator (APO)</a:t>
            </a:r>
            <a:endParaRPr sz="1100"/>
          </a:p>
          <a:p>
            <a:pPr marL="0" lvl="0" indent="0" algn="l" rtl="0">
              <a:spcBef>
                <a:spcPts val="0"/>
              </a:spcBef>
              <a:spcAft>
                <a:spcPts val="0"/>
              </a:spcAft>
              <a:buNone/>
            </a:pPr>
            <a:r>
              <a:rPr lang="en" sz="1100"/>
              <a:t>Aroon Oscillator (ARO)</a:t>
            </a:r>
            <a:endParaRPr sz="1100"/>
          </a:p>
          <a:p>
            <a:pPr marL="0" lvl="0" indent="0" algn="l" rtl="0">
              <a:spcBef>
                <a:spcPts val="0"/>
              </a:spcBef>
              <a:spcAft>
                <a:spcPts val="0"/>
              </a:spcAft>
              <a:buNone/>
            </a:pPr>
            <a:r>
              <a:rPr lang="en" sz="1100"/>
              <a:t>Average True Range (ATR)</a:t>
            </a:r>
            <a:endParaRPr sz="1100"/>
          </a:p>
          <a:p>
            <a:pPr marL="0" lvl="0" indent="0" algn="l" rtl="0">
              <a:spcBef>
                <a:spcPts val="0"/>
              </a:spcBef>
              <a:spcAft>
                <a:spcPts val="0"/>
              </a:spcAft>
              <a:buNone/>
            </a:pPr>
            <a:r>
              <a:rPr lang="en" sz="1100"/>
              <a:t>Bollinger Band (BBANDS)</a:t>
            </a:r>
            <a:endParaRPr sz="1100"/>
          </a:p>
          <a:p>
            <a:pPr marL="0" lvl="0" indent="0" algn="l" rtl="0">
              <a:spcBef>
                <a:spcPts val="0"/>
              </a:spcBef>
              <a:spcAft>
                <a:spcPts val="0"/>
              </a:spcAft>
              <a:buNone/>
            </a:pPr>
            <a:r>
              <a:rPr lang="en" sz="1100"/>
              <a:t>Directional Movement Indicators (DMI)</a:t>
            </a:r>
            <a:endParaRPr sz="1100"/>
          </a:p>
          <a:p>
            <a:pPr marL="0" lvl="0" indent="0" algn="l" rtl="0">
              <a:spcBef>
                <a:spcPts val="0"/>
              </a:spcBef>
              <a:spcAft>
                <a:spcPts val="0"/>
              </a:spcAft>
              <a:buNone/>
            </a:pPr>
            <a:r>
              <a:rPr lang="en" sz="1100"/>
              <a:t>Exponential (EMA)</a:t>
            </a:r>
            <a:endParaRPr sz="1100"/>
          </a:p>
          <a:p>
            <a:pPr marL="0" lvl="0" indent="0" algn="l" rtl="0">
              <a:spcBef>
                <a:spcPts val="0"/>
              </a:spcBef>
              <a:spcAft>
                <a:spcPts val="0"/>
              </a:spcAft>
              <a:buNone/>
            </a:pPr>
            <a:r>
              <a:rPr lang="en" sz="1100"/>
              <a:t>Fill Indicator (FILL)</a:t>
            </a:r>
            <a:endParaRPr sz="1100"/>
          </a:p>
          <a:p>
            <a:pPr marL="0" lvl="0" indent="0" algn="l" rtl="0">
              <a:spcBef>
                <a:spcPts val="0"/>
              </a:spcBef>
              <a:spcAft>
                <a:spcPts val="0"/>
              </a:spcAft>
              <a:buNone/>
            </a:pPr>
            <a:r>
              <a:rPr lang="en" sz="1100"/>
              <a:t>Ichimoku (ICH)</a:t>
            </a:r>
            <a:endParaRPr sz="1100"/>
          </a:p>
          <a:p>
            <a:pPr marL="0" lvl="0" indent="0" algn="l" rtl="0">
              <a:spcBef>
                <a:spcPts val="0"/>
              </a:spcBef>
              <a:spcAft>
                <a:spcPts val="0"/>
              </a:spcAft>
              <a:buNone/>
            </a:pPr>
            <a:r>
              <a:rPr lang="en" sz="1100"/>
              <a:t>Keltner Channel (KC)</a:t>
            </a:r>
            <a:endParaRPr sz="1100"/>
          </a:p>
          <a:p>
            <a:pPr marL="0" lvl="0" indent="0" algn="l" rtl="0">
              <a:spcBef>
                <a:spcPts val="0"/>
              </a:spcBef>
              <a:spcAft>
                <a:spcPts val="0"/>
              </a:spcAft>
              <a:buNone/>
            </a:pPr>
            <a:r>
              <a:rPr lang="en" sz="1100"/>
              <a:t>Linear Regression (LR)</a:t>
            </a:r>
            <a:endParaRPr sz="1100"/>
          </a:p>
          <a:p>
            <a:pPr marL="0" lvl="0" indent="0" algn="l" rtl="0">
              <a:spcBef>
                <a:spcPts val="0"/>
              </a:spcBef>
              <a:spcAft>
                <a:spcPts val="0"/>
              </a:spcAft>
              <a:buNone/>
            </a:pPr>
            <a:r>
              <a:rPr lang="en" sz="1100"/>
              <a:t>Moving Average Convergence Divergence (MACD)</a:t>
            </a:r>
            <a:endParaRPr sz="1100"/>
          </a:p>
          <a:p>
            <a:pPr marL="0" lvl="0" indent="0" algn="l" rtl="0">
              <a:spcBef>
                <a:spcPts val="0"/>
              </a:spcBef>
              <a:spcAft>
                <a:spcPts val="0"/>
              </a:spcAft>
              <a:buNone/>
            </a:pPr>
            <a:r>
              <a:rPr lang="en" sz="1100"/>
              <a:t>On Balance Volume (OBV)</a:t>
            </a:r>
            <a:endParaRPr sz="1100"/>
          </a:p>
          <a:p>
            <a:pPr marL="0" lvl="0" indent="0" algn="l" rtl="0">
              <a:spcBef>
                <a:spcPts val="0"/>
              </a:spcBef>
              <a:spcAft>
                <a:spcPts val="0"/>
              </a:spcAft>
              <a:buNone/>
            </a:pPr>
            <a:r>
              <a:rPr lang="en" sz="1100"/>
              <a:t>Relative Strength Indicator (RSI)</a:t>
            </a:r>
            <a:endParaRPr sz="1100"/>
          </a:p>
          <a:p>
            <a:pPr marL="0" lvl="0" indent="0" algn="l" rtl="0">
              <a:spcBef>
                <a:spcPts val="0"/>
              </a:spcBef>
              <a:spcAft>
                <a:spcPts val="0"/>
              </a:spcAft>
              <a:buNone/>
            </a:pPr>
            <a:r>
              <a:rPr lang="en" sz="1100"/>
              <a:t>Parabolic Sar (SAR)</a:t>
            </a:r>
            <a:endParaRPr sz="1100"/>
          </a:p>
          <a:p>
            <a:pPr marL="0" lvl="0" indent="0" algn="l" rtl="0">
              <a:spcBef>
                <a:spcPts val="0"/>
              </a:spcBef>
              <a:spcAft>
                <a:spcPts val="0"/>
              </a:spcAft>
              <a:buNone/>
            </a:pPr>
            <a:r>
              <a:rPr lang="en" sz="1100"/>
              <a:t>Simple Moving Average (SMA)</a:t>
            </a:r>
            <a:endParaRPr sz="1100"/>
          </a:p>
          <a:p>
            <a:pPr marL="0" lvl="0" indent="0" algn="l" rtl="0">
              <a:spcBef>
                <a:spcPts val="0"/>
              </a:spcBef>
              <a:spcAft>
                <a:spcPts val="0"/>
              </a:spcAft>
              <a:buNone/>
            </a:pPr>
            <a:r>
              <a:rPr lang="en" sz="1100"/>
              <a:t>Triple Exponential Moving Average (TEMA)</a:t>
            </a:r>
            <a:endParaRPr sz="1100"/>
          </a:p>
          <a:p>
            <a:pPr marL="0" lvl="0" indent="0" algn="l" rtl="0">
              <a:spcBef>
                <a:spcPts val="0"/>
              </a:spcBef>
              <a:spcAft>
                <a:spcPts val="0"/>
              </a:spcAft>
              <a:buNone/>
            </a:pPr>
            <a:r>
              <a:rPr lang="en" sz="1100"/>
              <a:t>Triangular Moving Average (TRIMA)</a:t>
            </a:r>
            <a:endParaRPr sz="1100"/>
          </a:p>
          <a:p>
            <a:pPr marL="0" lvl="0" indent="0" algn="l" rtl="0">
              <a:spcBef>
                <a:spcPts val="0"/>
              </a:spcBef>
              <a:spcAft>
                <a:spcPts val="0"/>
              </a:spcAft>
              <a:buNone/>
            </a:pPr>
            <a:r>
              <a:rPr lang="en" sz="1100"/>
              <a:t>Triple Exponential Moving Average Oscillator (TRIX)</a:t>
            </a:r>
            <a:endParaRPr sz="1100"/>
          </a:p>
          <a:p>
            <a:pPr marL="0" lvl="0" indent="0" algn="l" rtl="0">
              <a:spcBef>
                <a:spcPts val="0"/>
              </a:spcBef>
              <a:spcAft>
                <a:spcPts val="0"/>
              </a:spcAft>
              <a:buNone/>
            </a:pPr>
            <a:r>
              <a:rPr lang="en" sz="1100"/>
              <a:t>Time Series Forecast (TSF)</a:t>
            </a:r>
            <a:endParaRPr sz="1100"/>
          </a:p>
          <a:p>
            <a:pPr marL="0" lvl="0" indent="0" algn="l" rtl="0">
              <a:spcBef>
                <a:spcPts val="0"/>
              </a:spcBef>
              <a:spcAft>
                <a:spcPts val="0"/>
              </a:spcAft>
              <a:buNone/>
            </a:pPr>
            <a:r>
              <a:rPr lang="en" sz="1100"/>
              <a:t>TT Cumulative Vol Delta (TT CVD)</a:t>
            </a:r>
            <a:endParaRPr sz="1100"/>
          </a:p>
          <a:p>
            <a:pPr marL="0" lvl="0" indent="0" algn="l" rtl="0">
              <a:spcBef>
                <a:spcPts val="0"/>
              </a:spcBef>
              <a:spcAft>
                <a:spcPts val="0"/>
              </a:spcAft>
              <a:buNone/>
            </a:pPr>
            <a:r>
              <a:rPr lang="en" sz="1100"/>
              <a:t>Ultimate Oscillator (ULTOSC)</a:t>
            </a:r>
            <a:endParaRPr sz="1100"/>
          </a:p>
          <a:p>
            <a:pPr marL="0" lvl="0" indent="0" algn="l" rtl="0">
              <a:spcBef>
                <a:spcPts val="0"/>
              </a:spcBef>
              <a:spcAft>
                <a:spcPts val="0"/>
              </a:spcAft>
              <a:buNone/>
            </a:pPr>
            <a:r>
              <a:rPr lang="en" sz="1100"/>
              <a:t>Volume Delta (Vol ∆)</a:t>
            </a:r>
            <a:endParaRPr sz="1100"/>
          </a:p>
          <a:p>
            <a:pPr marL="0" lvl="0" indent="0" algn="l" rtl="0">
              <a:spcBef>
                <a:spcPts val="0"/>
              </a:spcBef>
              <a:spcAft>
                <a:spcPts val="0"/>
              </a:spcAft>
              <a:buNone/>
            </a:pPr>
            <a:r>
              <a:rPr lang="en" sz="1100"/>
              <a:t>Volume Weighted Average Price (VWAP)</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7"/>
        <p:cNvGrpSpPr/>
        <p:nvPr/>
      </p:nvGrpSpPr>
      <p:grpSpPr>
        <a:xfrm>
          <a:off x="0" y="0"/>
          <a:ext cx="0" cy="0"/>
          <a:chOff x="0" y="0"/>
          <a:chExt cx="0" cy="0"/>
        </a:xfrm>
      </p:grpSpPr>
      <p:pic>
        <p:nvPicPr>
          <p:cNvPr id="318" name="Google Shape;318;p53"/>
          <p:cNvPicPr preferRelativeResize="0"/>
          <p:nvPr/>
        </p:nvPicPr>
        <p:blipFill rotWithShape="1">
          <a:blip r:embed="rId4">
            <a:alphaModFix/>
          </a:blip>
          <a:srcRect/>
          <a:stretch/>
        </p:blipFill>
        <p:spPr>
          <a:xfrm>
            <a:off x="408425" y="458000"/>
            <a:ext cx="1018725" cy="99575"/>
          </a:xfrm>
          <a:prstGeom prst="rect">
            <a:avLst/>
          </a:prstGeom>
          <a:noFill/>
          <a:ln>
            <a:noFill/>
          </a:ln>
        </p:spPr>
      </p:pic>
      <p:sp>
        <p:nvSpPr>
          <p:cNvPr id="319" name="Google Shape;319;p53"/>
          <p:cNvSpPr txBox="1"/>
          <p:nvPr/>
        </p:nvSpPr>
        <p:spPr>
          <a:xfrm>
            <a:off x="340225" y="609550"/>
            <a:ext cx="4533600" cy="1228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4200"/>
              <a:buFont typeface="Arial"/>
              <a:buNone/>
            </a:pPr>
            <a:r>
              <a:rPr lang="en" sz="4200" b="1">
                <a:solidFill>
                  <a:schemeClr val="lt1"/>
                </a:solidFill>
                <a:latin typeface="Poppins"/>
                <a:ea typeface="Poppins"/>
                <a:cs typeface="Poppins"/>
                <a:sym typeface="Poppins"/>
              </a:rPr>
              <a:t>Domain Specific Agents</a:t>
            </a:r>
            <a:endParaRPr sz="4200" b="1" i="0" u="none" strike="noStrike" cap="none">
              <a:solidFill>
                <a:schemeClr val="lt1"/>
              </a:solidFill>
              <a:latin typeface="Poppins"/>
              <a:ea typeface="Poppins"/>
              <a:cs typeface="Poppins"/>
              <a:sym typeface="Poppins"/>
            </a:endParaRPr>
          </a:p>
        </p:txBody>
      </p:sp>
      <p:sp>
        <p:nvSpPr>
          <p:cNvPr id="320" name="Google Shape;320;p53"/>
          <p:cNvSpPr txBox="1"/>
          <p:nvPr/>
        </p:nvSpPr>
        <p:spPr>
          <a:xfrm>
            <a:off x="340225" y="2086000"/>
            <a:ext cx="7688700" cy="1924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1200"/>
              <a:buFont typeface="Arial"/>
              <a:buNone/>
            </a:pPr>
            <a:r>
              <a:rPr lang="en" sz="1600">
                <a:solidFill>
                  <a:schemeClr val="lt1"/>
                </a:solidFill>
                <a:latin typeface="Poppins"/>
                <a:ea typeface="Poppins"/>
                <a:cs typeface="Poppins"/>
                <a:sym typeface="Poppins"/>
              </a:rPr>
              <a:t>There are so many, you can make money if you understand a field well.</a:t>
            </a:r>
            <a:endParaRPr sz="1200" b="0" i="0" u="none" strike="noStrike" cap="none">
              <a:solidFill>
                <a:schemeClr val="lt1"/>
              </a:solidFill>
              <a:latin typeface="Noto Sans Symbols"/>
              <a:ea typeface="Noto Sans Symbols"/>
              <a:cs typeface="Noto Sans Symbols"/>
              <a:sym typeface="Noto Sans Symbol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Arbitrage</a:t>
            </a:r>
            <a:endParaRPr sz="4000" b="1" i="0" u="none" strike="noStrike" cap="none">
              <a:solidFill>
                <a:srgbClr val="6D3BF5"/>
              </a:solidFill>
              <a:latin typeface="Poppins"/>
              <a:ea typeface="Poppins"/>
              <a:cs typeface="Poppins"/>
              <a:sym typeface="Poppins"/>
            </a:endParaRPr>
          </a:p>
        </p:txBody>
      </p:sp>
      <p:pic>
        <p:nvPicPr>
          <p:cNvPr id="327" name="Google Shape;327;p54"/>
          <p:cNvPicPr preferRelativeResize="0"/>
          <p:nvPr/>
        </p:nvPicPr>
        <p:blipFill>
          <a:blip r:embed="rId3">
            <a:alphaModFix/>
          </a:blip>
          <a:stretch>
            <a:fillRect/>
          </a:stretch>
        </p:blipFill>
        <p:spPr>
          <a:xfrm>
            <a:off x="568825" y="897550"/>
            <a:ext cx="8621266" cy="3941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Prediction Market Arbitrage</a:t>
            </a:r>
            <a:endParaRPr sz="4000" b="1" i="0" u="none" strike="noStrike" cap="none">
              <a:solidFill>
                <a:srgbClr val="6D3BF5"/>
              </a:solidFill>
              <a:latin typeface="Poppins"/>
              <a:ea typeface="Poppins"/>
              <a:cs typeface="Poppins"/>
              <a:sym typeface="Poppins"/>
            </a:endParaRPr>
          </a:p>
        </p:txBody>
      </p:sp>
      <p:sp>
        <p:nvSpPr>
          <p:cNvPr id="170" name="Google Shape;170;p34"/>
          <p:cNvSpPr txBox="1"/>
          <p:nvPr/>
        </p:nvSpPr>
        <p:spPr>
          <a:xfrm>
            <a:off x="332225" y="932000"/>
            <a:ext cx="7932300" cy="693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Char char="●"/>
            </a:pPr>
            <a:r>
              <a:rPr lang="en" sz="1800">
                <a:solidFill>
                  <a:srgbClr val="595959"/>
                </a:solidFill>
              </a:rPr>
              <a:t>The same event trades on multiple venues: Kalshi, Polymarket, and brokers routing to them (Robinhood, IBKR, Webull)</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If YES is 58¢ on one venue and 62¢ on another: buy YES cheap, buy NO rich — lock in a guaranteed $1 payout for &lt; $1</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Frictions are the edge and the enemy: fees, capital sitting on both venues, USD vs USDC rails, withdrawal timing</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Read the rules: “identical” markets can differ in settlement source and date — resolution risk breaks naive arbs.</a:t>
            </a:r>
            <a:endParaRPr sz="1800">
              <a:solidFill>
                <a:srgbClr val="595959"/>
              </a:solidFill>
            </a:endParaRPr>
          </a:p>
          <a:p>
            <a:pPr marL="0" lvl="0" indent="0" algn="l" rtl="0">
              <a:lnSpc>
                <a:spcPct val="115000"/>
              </a:lnSpc>
              <a:spcBef>
                <a:spcPts val="1200"/>
              </a:spcBef>
              <a:spcAft>
                <a:spcPts val="1200"/>
              </a:spcAft>
              <a:buClr>
                <a:schemeClr val="dk1"/>
              </a:buClr>
              <a:buSzPts val="1100"/>
              <a:buFont typeface="Arial"/>
              <a:buNone/>
            </a:pPr>
            <a:r>
              <a:rPr lang="en" sz="1800">
                <a:solidFill>
                  <a:srgbClr val="595959"/>
                </a:solidFill>
              </a:rPr>
              <a:t>Books re-converge in seconds. Agents win this race; humans watching two browser tabs do not. </a:t>
            </a:r>
            <a:endParaRPr sz="1800">
              <a:solidFill>
                <a:srgbClr val="59595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5"/>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Market Making</a:t>
            </a:r>
            <a:endParaRPr sz="4000" b="1" i="0" u="none" strike="noStrike" cap="none">
              <a:solidFill>
                <a:srgbClr val="6D3BF5"/>
              </a:solidFill>
              <a:latin typeface="Poppins"/>
              <a:ea typeface="Poppins"/>
              <a:cs typeface="Poppins"/>
              <a:sym typeface="Poppins"/>
            </a:endParaRPr>
          </a:p>
        </p:txBody>
      </p:sp>
      <p:sp>
        <p:nvSpPr>
          <p:cNvPr id="334" name="Google Shape;334;p55"/>
          <p:cNvSpPr txBox="1"/>
          <p:nvPr/>
        </p:nvSpPr>
        <p:spPr>
          <a:xfrm>
            <a:off x="5214700" y="1207975"/>
            <a:ext cx="3732900" cy="3057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1600">
              <a:solidFill>
                <a:srgbClr val="404040"/>
              </a:solidFill>
            </a:endParaRPr>
          </a:p>
          <a:p>
            <a:pPr marL="457200" lvl="0" indent="0" algn="l" rtl="0">
              <a:lnSpc>
                <a:spcPct val="90000"/>
              </a:lnSpc>
              <a:spcBef>
                <a:spcPts val="1000"/>
              </a:spcBef>
              <a:spcAft>
                <a:spcPts val="0"/>
              </a:spcAft>
              <a:buNone/>
            </a:pPr>
            <a:endParaRPr sz="1600">
              <a:solidFill>
                <a:srgbClr val="404040"/>
              </a:solidFill>
            </a:endParaRPr>
          </a:p>
          <a:p>
            <a:pPr marL="457200" lvl="0" indent="-330200" algn="l" rtl="0">
              <a:lnSpc>
                <a:spcPct val="90000"/>
              </a:lnSpc>
              <a:spcBef>
                <a:spcPts val="1000"/>
              </a:spcBef>
              <a:spcAft>
                <a:spcPts val="0"/>
              </a:spcAft>
              <a:buClr>
                <a:srgbClr val="404040"/>
              </a:buClr>
              <a:buSzPts val="1600"/>
              <a:buChar char="●"/>
            </a:pPr>
            <a:r>
              <a:rPr lang="en" sz="1600">
                <a:solidFill>
                  <a:srgbClr val="404040"/>
                </a:solidFill>
              </a:rPr>
              <a:t>Increase liquidity – rewarded with the spread</a:t>
            </a:r>
            <a:endParaRPr sz="1600">
              <a:solidFill>
                <a:srgbClr val="404040"/>
              </a:solidFill>
            </a:endParaRPr>
          </a:p>
          <a:p>
            <a:pPr marL="457200" lvl="0" indent="-330200" algn="l" rtl="0">
              <a:lnSpc>
                <a:spcPct val="90000"/>
              </a:lnSpc>
              <a:spcBef>
                <a:spcPts val="0"/>
              </a:spcBef>
              <a:spcAft>
                <a:spcPts val="0"/>
              </a:spcAft>
              <a:buClr>
                <a:srgbClr val="404040"/>
              </a:buClr>
              <a:buSzPts val="1600"/>
              <a:buChar char="●"/>
            </a:pPr>
            <a:r>
              <a:rPr lang="en" sz="1600">
                <a:solidFill>
                  <a:srgbClr val="404040"/>
                </a:solidFill>
              </a:rPr>
              <a:t>Be on both sides of the book</a:t>
            </a:r>
            <a:endParaRPr sz="1600">
              <a:solidFill>
                <a:srgbClr val="404040"/>
              </a:solidFill>
            </a:endParaRPr>
          </a:p>
          <a:p>
            <a:pPr marL="457200" lvl="0" indent="-330200" algn="l" rtl="0">
              <a:lnSpc>
                <a:spcPct val="90000"/>
              </a:lnSpc>
              <a:spcBef>
                <a:spcPts val="0"/>
              </a:spcBef>
              <a:spcAft>
                <a:spcPts val="0"/>
              </a:spcAft>
              <a:buClr>
                <a:srgbClr val="404040"/>
              </a:buClr>
              <a:buSzPts val="1600"/>
              <a:buChar char="●"/>
            </a:pPr>
            <a:r>
              <a:rPr lang="en" sz="1600">
                <a:solidFill>
                  <a:srgbClr val="404040"/>
                </a:solidFill>
              </a:rPr>
              <a:t>Can be dangerous in times of volatility — on event contracts the mid IS a probability, and it jumps on news</a:t>
            </a:r>
            <a:endParaRPr sz="1600">
              <a:solidFill>
                <a:srgbClr val="404040"/>
              </a:solidFill>
            </a:endParaRPr>
          </a:p>
        </p:txBody>
      </p:sp>
      <p:graphicFrame>
        <p:nvGraphicFramePr>
          <p:cNvPr id="335" name="Google Shape;335;p55"/>
          <p:cNvGraphicFramePr/>
          <p:nvPr/>
        </p:nvGraphicFramePr>
        <p:xfrm>
          <a:off x="663625" y="1384813"/>
          <a:ext cx="3000000" cy="3000000"/>
        </p:xfrm>
        <a:graphic>
          <a:graphicData uri="http://schemas.openxmlformats.org/drawingml/2006/table">
            <a:tbl>
              <a:tblPr>
                <a:noFill/>
                <a:tableStyleId>{8E988DE2-97A2-416A-9140-A02111780125}</a:tableStyleId>
              </a:tblPr>
              <a:tblGrid>
                <a:gridCol w="1292500">
                  <a:extLst>
                    <a:ext uri="{9D8B030D-6E8A-4147-A177-3AD203B41FA5}">
                      <a16:colId xmlns:a16="http://schemas.microsoft.com/office/drawing/2014/main" val="20000"/>
                    </a:ext>
                  </a:extLst>
                </a:gridCol>
                <a:gridCol w="1275125">
                  <a:extLst>
                    <a:ext uri="{9D8B030D-6E8A-4147-A177-3AD203B41FA5}">
                      <a16:colId xmlns:a16="http://schemas.microsoft.com/office/drawing/2014/main" val="20001"/>
                    </a:ext>
                  </a:extLst>
                </a:gridCol>
                <a:gridCol w="1269325">
                  <a:extLst>
                    <a:ext uri="{9D8B030D-6E8A-4147-A177-3AD203B41FA5}">
                      <a16:colId xmlns:a16="http://schemas.microsoft.com/office/drawing/2014/main" val="20002"/>
                    </a:ext>
                  </a:extLst>
                </a:gridCol>
              </a:tblGrid>
              <a:tr h="210200">
                <a:tc>
                  <a:txBody>
                    <a:bodyPr/>
                    <a:lstStyle/>
                    <a:p>
                      <a:pPr marL="0" lvl="0" indent="0" algn="ctr" rtl="0">
                        <a:lnSpc>
                          <a:spcPct val="115000"/>
                        </a:lnSpc>
                        <a:spcBef>
                          <a:spcPts val="0"/>
                        </a:spcBef>
                        <a:spcAft>
                          <a:spcPts val="0"/>
                        </a:spcAft>
                        <a:buNone/>
                      </a:pPr>
                      <a:r>
                        <a:rPr lang="en" sz="1300" b="1">
                          <a:solidFill>
                            <a:srgbClr val="FFFFFF"/>
                          </a:solidFill>
                        </a:rPr>
                        <a:t>Bids</a:t>
                      </a:r>
                      <a:endParaRPr sz="1300" b="1">
                        <a:solidFill>
                          <a:srgbClr val="FFFFFF"/>
                        </a:solidFill>
                      </a:endParaRPr>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D34817"/>
                    </a:solidFill>
                  </a:tcPr>
                </a:tc>
                <a:tc>
                  <a:txBody>
                    <a:bodyPr/>
                    <a:lstStyle/>
                    <a:p>
                      <a:pPr marL="0" lvl="0" indent="0" algn="ctr" rtl="0">
                        <a:lnSpc>
                          <a:spcPct val="115000"/>
                        </a:lnSpc>
                        <a:spcBef>
                          <a:spcPts val="0"/>
                        </a:spcBef>
                        <a:spcAft>
                          <a:spcPts val="0"/>
                        </a:spcAft>
                        <a:buNone/>
                      </a:pPr>
                      <a:r>
                        <a:rPr lang="en" sz="1300" b="1">
                          <a:solidFill>
                            <a:srgbClr val="FFFFFF"/>
                          </a:solidFill>
                        </a:rPr>
                        <a:t>Price</a:t>
                      </a:r>
                      <a:endParaRPr sz="1300" b="1">
                        <a:solidFill>
                          <a:srgbClr val="FFFFFF"/>
                        </a:solidFill>
                      </a:endParaRPr>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D34817"/>
                    </a:solidFill>
                  </a:tcPr>
                </a:tc>
                <a:tc>
                  <a:txBody>
                    <a:bodyPr/>
                    <a:lstStyle/>
                    <a:p>
                      <a:pPr marL="0" lvl="0" indent="0" algn="ctr" rtl="0">
                        <a:lnSpc>
                          <a:spcPct val="115000"/>
                        </a:lnSpc>
                        <a:spcBef>
                          <a:spcPts val="0"/>
                        </a:spcBef>
                        <a:spcAft>
                          <a:spcPts val="0"/>
                        </a:spcAft>
                        <a:buNone/>
                      </a:pPr>
                      <a:r>
                        <a:rPr lang="en" sz="1300" b="1">
                          <a:solidFill>
                            <a:srgbClr val="FFFFFF"/>
                          </a:solidFill>
                        </a:rPr>
                        <a:t>Asks</a:t>
                      </a:r>
                      <a:endParaRPr sz="1300" b="1">
                        <a:solidFill>
                          <a:srgbClr val="FFFFFF"/>
                        </a:solidFill>
                      </a:endParaRPr>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D34817"/>
                    </a:solidFill>
                  </a:tcPr>
                </a:tc>
                <a:extLst>
                  <a:ext uri="{0D108BD9-81ED-4DB2-BD59-A6C34878D82A}">
                    <a16:rowId xmlns:a16="http://schemas.microsoft.com/office/drawing/2014/main" val="10000"/>
                  </a:ext>
                </a:extLst>
              </a:tr>
              <a:tr h="210200">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51¢</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2,1</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extLst>
                  <a:ext uri="{0D108BD9-81ED-4DB2-BD59-A6C34878D82A}">
                    <a16:rowId xmlns:a16="http://schemas.microsoft.com/office/drawing/2014/main" val="10001"/>
                  </a:ext>
                </a:extLst>
              </a:tr>
              <a:tr h="205075">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50¢</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3,</a:t>
                      </a:r>
                      <a:r>
                        <a:rPr lang="en" sz="1300">
                          <a:solidFill>
                            <a:srgbClr val="FF0000"/>
                          </a:solidFill>
                        </a:rPr>
                        <a:t>7</a:t>
                      </a:r>
                      <a:r>
                        <a:rPr lang="en" sz="1300"/>
                        <a:t>,8</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extLst>
                  <a:ext uri="{0D108BD9-81ED-4DB2-BD59-A6C34878D82A}">
                    <a16:rowId xmlns:a16="http://schemas.microsoft.com/office/drawing/2014/main" val="10002"/>
                  </a:ext>
                </a:extLst>
              </a:tr>
              <a:tr h="205075">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49¢</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5,2,15</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extLst>
                  <a:ext uri="{0D108BD9-81ED-4DB2-BD59-A6C34878D82A}">
                    <a16:rowId xmlns:a16="http://schemas.microsoft.com/office/drawing/2014/main" val="10003"/>
                  </a:ext>
                </a:extLst>
              </a:tr>
              <a:tr h="205075">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48¢</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1,</a:t>
                      </a:r>
                      <a:r>
                        <a:rPr lang="en" sz="1300">
                          <a:solidFill>
                            <a:srgbClr val="FF0000"/>
                          </a:solidFill>
                        </a:rPr>
                        <a:t>2</a:t>
                      </a:r>
                      <a:r>
                        <a:rPr lang="en" sz="1300"/>
                        <a:t>,5</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extLst>
                  <a:ext uri="{0D108BD9-81ED-4DB2-BD59-A6C34878D82A}">
                    <a16:rowId xmlns:a16="http://schemas.microsoft.com/office/drawing/2014/main" val="10004"/>
                  </a:ext>
                </a:extLst>
              </a:tr>
              <a:tr h="205075">
                <a:tc>
                  <a:txBody>
                    <a:bodyPr/>
                    <a:lstStyle/>
                    <a:p>
                      <a:pPr marL="0" lvl="0" indent="0" algn="ctr" rtl="0">
                        <a:lnSpc>
                          <a:spcPct val="115000"/>
                        </a:lnSpc>
                        <a:spcBef>
                          <a:spcPts val="0"/>
                        </a:spcBef>
                        <a:spcAft>
                          <a:spcPts val="0"/>
                        </a:spcAft>
                        <a:buNone/>
                      </a:pPr>
                      <a:r>
                        <a:rPr lang="en" sz="1300"/>
                        <a:t>1,</a:t>
                      </a:r>
                      <a:r>
                        <a:rPr lang="en" sz="1300">
                          <a:solidFill>
                            <a:srgbClr val="FF0000"/>
                          </a:solidFill>
                        </a:rPr>
                        <a:t>2</a:t>
                      </a:r>
                      <a:endParaRPr sz="1300">
                        <a:solidFill>
                          <a:srgbClr val="FF0000"/>
                        </a:solidFill>
                      </a:endParaRPr>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47¢</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extLst>
                  <a:ext uri="{0D108BD9-81ED-4DB2-BD59-A6C34878D82A}">
                    <a16:rowId xmlns:a16="http://schemas.microsoft.com/office/drawing/2014/main" val="10005"/>
                  </a:ext>
                </a:extLst>
              </a:tr>
              <a:tr h="205075">
                <a:tc>
                  <a:txBody>
                    <a:bodyPr/>
                    <a:lstStyle/>
                    <a:p>
                      <a:pPr marL="0" lvl="0" indent="0" algn="ctr" rtl="0">
                        <a:lnSpc>
                          <a:spcPct val="115000"/>
                        </a:lnSpc>
                        <a:spcBef>
                          <a:spcPts val="0"/>
                        </a:spcBef>
                        <a:spcAft>
                          <a:spcPts val="0"/>
                        </a:spcAft>
                        <a:buNone/>
                      </a:pPr>
                      <a:r>
                        <a:rPr lang="en" sz="1300"/>
                        <a:t>2,</a:t>
                      </a:r>
                      <a:r>
                        <a:rPr lang="en" sz="1300">
                          <a:solidFill>
                            <a:srgbClr val="FF0000"/>
                          </a:solidFill>
                        </a:rPr>
                        <a:t>5</a:t>
                      </a:r>
                      <a:r>
                        <a:rPr lang="en" sz="1300"/>
                        <a:t>,8</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46¢</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extLst>
                  <a:ext uri="{0D108BD9-81ED-4DB2-BD59-A6C34878D82A}">
                    <a16:rowId xmlns:a16="http://schemas.microsoft.com/office/drawing/2014/main" val="10006"/>
                  </a:ext>
                </a:extLst>
              </a:tr>
              <a:tr h="205075">
                <a:tc>
                  <a:txBody>
                    <a:bodyPr/>
                    <a:lstStyle/>
                    <a:p>
                      <a:pPr marL="0" lvl="0" indent="0" algn="ctr" rtl="0">
                        <a:lnSpc>
                          <a:spcPct val="115000"/>
                        </a:lnSpc>
                        <a:spcBef>
                          <a:spcPts val="0"/>
                        </a:spcBef>
                        <a:spcAft>
                          <a:spcPts val="0"/>
                        </a:spcAft>
                        <a:buNone/>
                      </a:pPr>
                      <a:r>
                        <a:rPr lang="en" sz="1300"/>
                        <a:t>3,8,1,5,3</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ctr" rtl="0">
                        <a:lnSpc>
                          <a:spcPct val="115000"/>
                        </a:lnSpc>
                        <a:spcBef>
                          <a:spcPts val="0"/>
                        </a:spcBef>
                        <a:spcAft>
                          <a:spcPts val="0"/>
                        </a:spcAft>
                        <a:buNone/>
                      </a:pPr>
                      <a:r>
                        <a:rPr lang="en" sz="1300"/>
                        <a:t>45¢</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FCFCC"/>
                    </a:solidFill>
                  </a:tcPr>
                </a:tc>
                <a:extLst>
                  <a:ext uri="{0D108BD9-81ED-4DB2-BD59-A6C34878D82A}">
                    <a16:rowId xmlns:a16="http://schemas.microsoft.com/office/drawing/2014/main" val="10007"/>
                  </a:ext>
                </a:extLst>
              </a:tr>
              <a:tr h="205075">
                <a:tc>
                  <a:txBody>
                    <a:bodyPr/>
                    <a:lstStyle/>
                    <a:p>
                      <a:pPr marL="0" lvl="0" indent="0" algn="ctr" rtl="0">
                        <a:lnSpc>
                          <a:spcPct val="115000"/>
                        </a:lnSpc>
                        <a:spcBef>
                          <a:spcPts val="0"/>
                        </a:spcBef>
                        <a:spcAft>
                          <a:spcPts val="0"/>
                        </a:spcAft>
                        <a:buNone/>
                      </a:pPr>
                      <a:r>
                        <a:rPr lang="en" sz="1300"/>
                        <a:t>2,3</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ctr" rtl="0">
                        <a:lnSpc>
                          <a:spcPct val="115000"/>
                        </a:lnSpc>
                        <a:spcBef>
                          <a:spcPts val="0"/>
                        </a:spcBef>
                        <a:spcAft>
                          <a:spcPts val="0"/>
                        </a:spcAft>
                        <a:buNone/>
                      </a:pPr>
                      <a:r>
                        <a:rPr lang="en" sz="1300"/>
                        <a:t>42¢</a:t>
                      </a:r>
                      <a:endParaRPr sz="13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tc>
                  <a:txBody>
                    <a:bodyPr/>
                    <a:lstStyle/>
                    <a:p>
                      <a:pPr marL="0" lvl="0" indent="0" algn="l" rtl="0">
                        <a:spcBef>
                          <a:spcPts val="0"/>
                        </a:spcBef>
                        <a:spcAft>
                          <a:spcPts val="0"/>
                        </a:spcAft>
                        <a:buNone/>
                      </a:pPr>
                      <a:endParaRPr sz="900"/>
                    </a:p>
                  </a:txBody>
                  <a:tcPr marL="91450" marR="9145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7E9E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6"/>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Election Prediction</a:t>
            </a:r>
            <a:endParaRPr sz="4000" b="1" i="0" u="none" strike="noStrike" cap="none">
              <a:solidFill>
                <a:srgbClr val="6D3BF5"/>
              </a:solidFill>
              <a:latin typeface="Poppins"/>
              <a:ea typeface="Poppins"/>
              <a:cs typeface="Poppins"/>
              <a:sym typeface="Poppins"/>
            </a:endParaRPr>
          </a:p>
        </p:txBody>
      </p:sp>
      <p:sp>
        <p:nvSpPr>
          <p:cNvPr id="342" name="Google Shape;342;p56"/>
          <p:cNvSpPr txBox="1"/>
          <p:nvPr/>
        </p:nvSpPr>
        <p:spPr>
          <a:xfrm>
            <a:off x="3466125" y="1207982"/>
            <a:ext cx="5481300" cy="3057300"/>
          </a:xfrm>
          <a:prstGeom prst="rect">
            <a:avLst/>
          </a:prstGeom>
          <a:noFill/>
          <a:ln>
            <a:noFill/>
          </a:ln>
        </p:spPr>
        <p:txBody>
          <a:bodyPr spcFirstLastPara="1" wrap="square" lIns="91425" tIns="91425" rIns="91425" bIns="91425" anchor="t" anchorCtr="0">
            <a:noAutofit/>
          </a:bodyPr>
          <a:lstStyle/>
          <a:p>
            <a:pPr marL="457200" lvl="0" indent="-349250" algn="l" rtl="0">
              <a:lnSpc>
                <a:spcPct val="90000"/>
              </a:lnSpc>
              <a:spcBef>
                <a:spcPts val="1000"/>
              </a:spcBef>
              <a:spcAft>
                <a:spcPts val="0"/>
              </a:spcAft>
              <a:buClr>
                <a:srgbClr val="404040"/>
              </a:buClr>
              <a:buSzPts val="1900"/>
              <a:buChar char="●"/>
            </a:pPr>
            <a:r>
              <a:rPr lang="en" sz="1900">
                <a:solidFill>
                  <a:srgbClr val="404040"/>
                </a:solidFill>
              </a:rPr>
              <a:t>2024: we used a DNN + engineered features to predict the election and the expected market reaction</a:t>
            </a:r>
            <a:endParaRPr sz="1900">
              <a:solidFill>
                <a:srgbClr val="404040"/>
              </a:solidFill>
            </a:endParaRPr>
          </a:p>
          <a:p>
            <a:pPr marL="457200" lvl="0" indent="-349250" algn="l" rtl="0">
              <a:lnSpc>
                <a:spcPct val="90000"/>
              </a:lnSpc>
              <a:spcBef>
                <a:spcPts val="0"/>
              </a:spcBef>
              <a:spcAft>
                <a:spcPts val="0"/>
              </a:spcAft>
              <a:buClr>
                <a:srgbClr val="404040"/>
              </a:buClr>
              <a:buSzPts val="1900"/>
              <a:buChar char="●"/>
            </a:pPr>
            <a:r>
              <a:rPr lang="en" sz="1900">
                <a:solidFill>
                  <a:srgbClr val="404040"/>
                </a:solidFill>
              </a:rPr>
              <a:t>Python utilizing Tensorflow</a:t>
            </a:r>
            <a:endParaRPr sz="1900">
              <a:solidFill>
                <a:srgbClr val="404040"/>
              </a:solidFill>
            </a:endParaRPr>
          </a:p>
          <a:p>
            <a:pPr marL="457200" lvl="0" indent="-349250" algn="l" rtl="0">
              <a:lnSpc>
                <a:spcPct val="90000"/>
              </a:lnSpc>
              <a:spcBef>
                <a:spcPts val="0"/>
              </a:spcBef>
              <a:spcAft>
                <a:spcPts val="0"/>
              </a:spcAft>
              <a:buClr>
                <a:srgbClr val="404040"/>
              </a:buClr>
              <a:buSzPts val="1900"/>
              <a:buChar char="●"/>
            </a:pPr>
            <a:r>
              <a:rPr lang="en" sz="1900">
                <a:solidFill>
                  <a:srgbClr val="404040"/>
                </a:solidFill>
              </a:rPr>
              <a:t>Identify the sources of data and the resulting outputs</a:t>
            </a:r>
            <a:endParaRPr sz="1900">
              <a:solidFill>
                <a:srgbClr val="404040"/>
              </a:solidFill>
            </a:endParaRPr>
          </a:p>
          <a:p>
            <a:pPr marL="457200" lvl="0" indent="-349250" algn="l" rtl="0">
              <a:lnSpc>
                <a:spcPct val="90000"/>
              </a:lnSpc>
              <a:spcBef>
                <a:spcPts val="0"/>
              </a:spcBef>
              <a:spcAft>
                <a:spcPts val="0"/>
              </a:spcAft>
              <a:buClr>
                <a:srgbClr val="404040"/>
              </a:buClr>
              <a:buSzPts val="1900"/>
              <a:buChar char="●"/>
            </a:pPr>
            <a:r>
              <a:rPr lang="en" sz="1900">
                <a:solidFill>
                  <a:srgbClr val="404040"/>
                </a:solidFill>
              </a:rPr>
              <a:t>2026: the market IS the forecast — today we quote it live instead of predicting it</a:t>
            </a:r>
            <a:endParaRPr sz="1900">
              <a:solidFill>
                <a:srgbClr val="404040"/>
              </a:solidFill>
            </a:endParaRPr>
          </a:p>
        </p:txBody>
      </p:sp>
      <p:pic>
        <p:nvPicPr>
          <p:cNvPr id="343" name="Google Shape;343;p56"/>
          <p:cNvPicPr preferRelativeResize="0"/>
          <p:nvPr/>
        </p:nvPicPr>
        <p:blipFill>
          <a:blip r:embed="rId3">
            <a:alphaModFix/>
          </a:blip>
          <a:stretch>
            <a:fillRect/>
          </a:stretch>
        </p:blipFill>
        <p:spPr>
          <a:xfrm>
            <a:off x="769974" y="1049950"/>
            <a:ext cx="2374400" cy="3127650"/>
          </a:xfrm>
          <a:prstGeom prst="rect">
            <a:avLst/>
          </a:prstGeom>
          <a:noFill/>
          <a:ln>
            <a:noFill/>
          </a:ln>
        </p:spPr>
      </p:pic>
      <p:sp>
        <p:nvSpPr>
          <p:cNvPr id="344" name="Google Shape;344;p56"/>
          <p:cNvSpPr txBox="1"/>
          <p:nvPr/>
        </p:nvSpPr>
        <p:spPr>
          <a:xfrm>
            <a:off x="3330400" y="4016950"/>
            <a:ext cx="5316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Our code here:</a:t>
            </a:r>
            <a:br>
              <a:rPr lang="en" b="1"/>
            </a:br>
            <a:r>
              <a:rPr lang="en" b="1"/>
              <a:t>https://github.com/athaker/econ_136/tree/master/archived_lectures/2024</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7"/>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Aerial Imagery</a:t>
            </a:r>
            <a:endParaRPr sz="4000" b="1" i="0" u="none" strike="noStrike" cap="none">
              <a:solidFill>
                <a:srgbClr val="6D3BF5"/>
              </a:solidFill>
              <a:latin typeface="Poppins"/>
              <a:ea typeface="Poppins"/>
              <a:cs typeface="Poppins"/>
              <a:sym typeface="Poppins"/>
            </a:endParaRPr>
          </a:p>
        </p:txBody>
      </p:sp>
      <p:sp>
        <p:nvSpPr>
          <p:cNvPr id="351" name="Google Shape;351;p57"/>
          <p:cNvSpPr txBox="1"/>
          <p:nvPr/>
        </p:nvSpPr>
        <p:spPr>
          <a:xfrm>
            <a:off x="3466125" y="1207982"/>
            <a:ext cx="5481300" cy="3057300"/>
          </a:xfrm>
          <a:prstGeom prst="rect">
            <a:avLst/>
          </a:prstGeom>
          <a:noFill/>
          <a:ln>
            <a:noFill/>
          </a:ln>
        </p:spPr>
        <p:txBody>
          <a:bodyPr spcFirstLastPara="1" wrap="square" lIns="91425" tIns="91425" rIns="91425" bIns="91425" anchor="t" anchorCtr="0">
            <a:noAutofit/>
          </a:bodyPr>
          <a:lstStyle/>
          <a:p>
            <a:pPr marL="457200" lvl="0" indent="-330200" algn="l" rtl="0">
              <a:lnSpc>
                <a:spcPct val="90000"/>
              </a:lnSpc>
              <a:spcBef>
                <a:spcPts val="1000"/>
              </a:spcBef>
              <a:spcAft>
                <a:spcPts val="0"/>
              </a:spcAft>
              <a:buClr>
                <a:srgbClr val="404040"/>
              </a:buClr>
              <a:buSzPts val="1600"/>
              <a:buChar char="●"/>
            </a:pPr>
            <a:r>
              <a:rPr lang="en" sz="1600">
                <a:solidFill>
                  <a:srgbClr val="404040"/>
                </a:solidFill>
              </a:rPr>
              <a:t>Thesis:</a:t>
            </a:r>
            <a:endParaRPr sz="1600">
              <a:solidFill>
                <a:srgbClr val="404040"/>
              </a:solidFill>
            </a:endParaRPr>
          </a:p>
          <a:p>
            <a:pPr marL="914400" lvl="1" indent="-330200" algn="l" rtl="0">
              <a:lnSpc>
                <a:spcPct val="90000"/>
              </a:lnSpc>
              <a:spcBef>
                <a:spcPts val="0"/>
              </a:spcBef>
              <a:spcAft>
                <a:spcPts val="0"/>
              </a:spcAft>
              <a:buClr>
                <a:srgbClr val="404040"/>
              </a:buClr>
              <a:buSzPts val="1600"/>
              <a:buChar char="○"/>
            </a:pPr>
            <a:r>
              <a:rPr lang="en" sz="1600">
                <a:solidFill>
                  <a:srgbClr val="404040"/>
                </a:solidFill>
              </a:rPr>
              <a:t>Crop health can be influence the spot price of a tradable good</a:t>
            </a:r>
            <a:endParaRPr sz="1600">
              <a:solidFill>
                <a:srgbClr val="404040"/>
              </a:solidFill>
            </a:endParaRPr>
          </a:p>
          <a:p>
            <a:pPr marL="457200" lvl="0" indent="-330200" algn="l" rtl="0">
              <a:lnSpc>
                <a:spcPct val="90000"/>
              </a:lnSpc>
              <a:spcBef>
                <a:spcPts val="0"/>
              </a:spcBef>
              <a:spcAft>
                <a:spcPts val="0"/>
              </a:spcAft>
              <a:buClr>
                <a:srgbClr val="404040"/>
              </a:buClr>
              <a:buSzPts val="1600"/>
              <a:buChar char="●"/>
            </a:pPr>
            <a:r>
              <a:rPr lang="en" sz="1600">
                <a:solidFill>
                  <a:srgbClr val="404040"/>
                </a:solidFill>
              </a:rPr>
              <a:t>Execution:</a:t>
            </a:r>
            <a:endParaRPr sz="1600">
              <a:solidFill>
                <a:srgbClr val="404040"/>
              </a:solidFill>
            </a:endParaRPr>
          </a:p>
          <a:p>
            <a:pPr marL="914400" lvl="1" indent="-330200" algn="l" rtl="0">
              <a:lnSpc>
                <a:spcPct val="90000"/>
              </a:lnSpc>
              <a:spcBef>
                <a:spcPts val="0"/>
              </a:spcBef>
              <a:spcAft>
                <a:spcPts val="0"/>
              </a:spcAft>
              <a:buClr>
                <a:srgbClr val="404040"/>
              </a:buClr>
              <a:buSzPts val="1600"/>
              <a:buChar char="○"/>
            </a:pPr>
            <a:r>
              <a:rPr lang="en" sz="1600">
                <a:solidFill>
                  <a:srgbClr val="404040"/>
                </a:solidFill>
              </a:rPr>
              <a:t>Take aerial imagery of Hard Red Winter wheat farms, use that as a proxy for health</a:t>
            </a:r>
            <a:endParaRPr sz="1600">
              <a:solidFill>
                <a:srgbClr val="404040"/>
              </a:solidFill>
            </a:endParaRPr>
          </a:p>
          <a:p>
            <a:pPr marL="914400" lvl="1" indent="-330200" algn="l" rtl="0">
              <a:lnSpc>
                <a:spcPct val="90000"/>
              </a:lnSpc>
              <a:spcBef>
                <a:spcPts val="0"/>
              </a:spcBef>
              <a:spcAft>
                <a:spcPts val="0"/>
              </a:spcAft>
              <a:buClr>
                <a:srgbClr val="404040"/>
              </a:buClr>
              <a:buSzPts val="1600"/>
              <a:buChar char="○"/>
            </a:pPr>
            <a:r>
              <a:rPr lang="en" sz="1600">
                <a:solidFill>
                  <a:srgbClr val="404040"/>
                </a:solidFill>
              </a:rPr>
              <a:t>Google Earth gives us free historical imagery over time</a:t>
            </a:r>
            <a:endParaRPr sz="1600">
              <a:solidFill>
                <a:srgbClr val="404040"/>
              </a:solidFill>
            </a:endParaRPr>
          </a:p>
          <a:p>
            <a:pPr marL="457200" lvl="0" indent="-330200" algn="l" rtl="0">
              <a:lnSpc>
                <a:spcPct val="90000"/>
              </a:lnSpc>
              <a:spcBef>
                <a:spcPts val="0"/>
              </a:spcBef>
              <a:spcAft>
                <a:spcPts val="0"/>
              </a:spcAft>
              <a:buClr>
                <a:srgbClr val="404040"/>
              </a:buClr>
              <a:buSzPts val="1600"/>
              <a:buChar char="●"/>
            </a:pPr>
            <a:r>
              <a:rPr lang="en" sz="1600">
                <a:solidFill>
                  <a:srgbClr val="404040"/>
                </a:solidFill>
              </a:rPr>
              <a:t>Machine Learning:</a:t>
            </a:r>
            <a:endParaRPr sz="1600">
              <a:solidFill>
                <a:srgbClr val="404040"/>
              </a:solidFill>
            </a:endParaRPr>
          </a:p>
          <a:p>
            <a:pPr marL="914400" lvl="1" indent="-330200" algn="l" rtl="0">
              <a:lnSpc>
                <a:spcPct val="90000"/>
              </a:lnSpc>
              <a:spcBef>
                <a:spcPts val="0"/>
              </a:spcBef>
              <a:spcAft>
                <a:spcPts val="0"/>
              </a:spcAft>
              <a:buClr>
                <a:srgbClr val="404040"/>
              </a:buClr>
              <a:buSzPts val="1600"/>
              <a:buChar char="○"/>
            </a:pPr>
            <a:r>
              <a:rPr lang="en" sz="1600">
                <a:solidFill>
                  <a:srgbClr val="404040"/>
                </a:solidFill>
              </a:rPr>
              <a:t>ML models can ”learn” the influence of crop health from market prices</a:t>
            </a:r>
            <a:endParaRPr sz="1600">
              <a:solidFill>
                <a:srgbClr val="404040"/>
              </a:solidFill>
            </a:endParaRPr>
          </a:p>
          <a:p>
            <a:pPr marL="914400" lvl="1" indent="-330200" algn="l" rtl="0">
              <a:lnSpc>
                <a:spcPct val="90000"/>
              </a:lnSpc>
              <a:spcBef>
                <a:spcPts val="0"/>
              </a:spcBef>
              <a:spcAft>
                <a:spcPts val="0"/>
              </a:spcAft>
              <a:buClr>
                <a:srgbClr val="404040"/>
              </a:buClr>
              <a:buSzPts val="1600"/>
              <a:buChar char="○"/>
            </a:pPr>
            <a:r>
              <a:rPr lang="en" sz="1600">
                <a:solidFill>
                  <a:srgbClr val="404040"/>
                </a:solidFill>
              </a:rPr>
              <a:t>Use pretrained models that have been trained on large datasets</a:t>
            </a:r>
            <a:endParaRPr sz="1600">
              <a:solidFill>
                <a:srgbClr val="404040"/>
              </a:solidFill>
            </a:endParaRPr>
          </a:p>
          <a:p>
            <a:pPr marL="0" lvl="0" indent="0" algn="l" rtl="0">
              <a:lnSpc>
                <a:spcPct val="90000"/>
              </a:lnSpc>
              <a:spcBef>
                <a:spcPts val="1000"/>
              </a:spcBef>
              <a:spcAft>
                <a:spcPts val="0"/>
              </a:spcAft>
              <a:buNone/>
            </a:pPr>
            <a:endParaRPr sz="1600">
              <a:solidFill>
                <a:srgbClr val="404040"/>
              </a:solidFill>
            </a:endParaRPr>
          </a:p>
        </p:txBody>
      </p:sp>
      <p:pic>
        <p:nvPicPr>
          <p:cNvPr id="352" name="Google Shape;352;p57"/>
          <p:cNvPicPr preferRelativeResize="0"/>
          <p:nvPr/>
        </p:nvPicPr>
        <p:blipFill>
          <a:blip r:embed="rId3">
            <a:alphaModFix/>
          </a:blip>
          <a:stretch>
            <a:fillRect/>
          </a:stretch>
        </p:blipFill>
        <p:spPr>
          <a:xfrm>
            <a:off x="196200" y="1793975"/>
            <a:ext cx="3161326" cy="1885300"/>
          </a:xfrm>
          <a:prstGeom prst="rect">
            <a:avLst/>
          </a:prstGeom>
          <a:noFill/>
          <a:ln>
            <a:noFill/>
          </a:ln>
        </p:spPr>
      </p:pic>
      <p:sp>
        <p:nvSpPr>
          <p:cNvPr id="353" name="Google Shape;353;p57"/>
          <p:cNvSpPr txBox="1"/>
          <p:nvPr/>
        </p:nvSpPr>
        <p:spPr>
          <a:xfrm>
            <a:off x="2600050" y="4575700"/>
            <a:ext cx="7991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Our Model Here: https://github.com/athaker/econ_136/tree/master/archived_lectures/2019</a:t>
            </a:r>
            <a:endParaRPr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pic>
        <p:nvPicPr>
          <p:cNvPr id="359" name="Google Shape;359;p58"/>
          <p:cNvPicPr preferRelativeResize="0"/>
          <p:nvPr/>
        </p:nvPicPr>
        <p:blipFill rotWithShape="1">
          <a:blip r:embed="rId4">
            <a:alphaModFix/>
          </a:blip>
          <a:srcRect/>
          <a:stretch/>
        </p:blipFill>
        <p:spPr>
          <a:xfrm>
            <a:off x="3306862" y="1024611"/>
            <a:ext cx="2390999" cy="1804855"/>
          </a:xfrm>
          <a:prstGeom prst="rect">
            <a:avLst/>
          </a:prstGeom>
          <a:noFill/>
          <a:ln>
            <a:noFill/>
          </a:ln>
        </p:spPr>
      </p:pic>
      <p:sp>
        <p:nvSpPr>
          <p:cNvPr id="360" name="Google Shape;360;p58"/>
          <p:cNvSpPr txBox="1"/>
          <p:nvPr/>
        </p:nvSpPr>
        <p:spPr>
          <a:xfrm>
            <a:off x="340225" y="2633650"/>
            <a:ext cx="8354400" cy="7578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 sz="4200" b="1" i="0" u="none" strike="noStrike" cap="none">
                <a:solidFill>
                  <a:srgbClr val="73F1BC"/>
                </a:solidFill>
                <a:latin typeface="Poppins"/>
                <a:ea typeface="Poppins"/>
                <a:cs typeface="Poppins"/>
                <a:sym typeface="Poppins"/>
              </a:rPr>
              <a:t>Thank You!</a:t>
            </a:r>
            <a:endParaRPr sz="4200" b="1" i="0" u="none" strike="noStrike" cap="none">
              <a:solidFill>
                <a:srgbClr val="73F1BC"/>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9"/>
          <p:cNvSpPr txBox="1">
            <a:spLocks noGrp="1"/>
          </p:cNvSpPr>
          <p:nvPr>
            <p:ph type="sldNum" idx="12"/>
          </p:nvPr>
        </p:nvSpPr>
        <p:spPr>
          <a:xfrm>
            <a:off x="4484637" y="4905375"/>
            <a:ext cx="170100" cy="177000"/>
          </a:xfrm>
          <a:prstGeom prst="rect">
            <a:avLst/>
          </a:prstGeom>
        </p:spPr>
        <p:txBody>
          <a:bodyPr spcFirstLastPara="1" wrap="square" lIns="91425" tIns="91425" rIns="91425" bIns="91425" anchor="ctr" anchorCtr="0">
            <a:normAutofit fontScale="25000" lnSpcReduction="20000"/>
          </a:bodyPr>
          <a:lstStyle/>
          <a:p>
            <a:pPr marL="0" lvl="0" indent="0" algn="r" rtl="0">
              <a:spcBef>
                <a:spcPts val="0"/>
              </a:spcBef>
              <a:spcAft>
                <a:spcPts val="0"/>
              </a:spcAft>
              <a:buClr>
                <a:srgbClr val="000000"/>
              </a:buClr>
              <a:buSzPct val="180000"/>
              <a:buFont typeface="Helvetica Neue Light"/>
              <a:buNone/>
            </a:pPr>
            <a:fld id="{00000000-1234-1234-1234-123412341234}" type="slidenum">
              <a:rPr lang="en"/>
              <a:t>32</a:t>
            </a:fld>
            <a:endParaRPr sz="500">
              <a:latin typeface="Arial"/>
              <a:ea typeface="Arial"/>
              <a:cs typeface="Arial"/>
              <a:sym typeface="Arial"/>
            </a:endParaRPr>
          </a:p>
        </p:txBody>
      </p:sp>
      <p:sp>
        <p:nvSpPr>
          <p:cNvPr id="366" name="Google Shape;366;p59"/>
          <p:cNvSpPr txBox="1">
            <a:spLocks noGrp="1"/>
          </p:cNvSpPr>
          <p:nvPr>
            <p:ph type="title"/>
          </p:nvPr>
        </p:nvSpPr>
        <p:spPr>
          <a:xfrm>
            <a:off x="140125" y="124825"/>
            <a:ext cx="3968700" cy="51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Why The Name Tauroi</a:t>
            </a:r>
            <a:endParaRPr/>
          </a:p>
        </p:txBody>
      </p:sp>
      <p:sp>
        <p:nvSpPr>
          <p:cNvPr id="367" name="Google Shape;367;p59"/>
          <p:cNvSpPr txBox="1"/>
          <p:nvPr/>
        </p:nvSpPr>
        <p:spPr>
          <a:xfrm>
            <a:off x="2931350" y="1695800"/>
            <a:ext cx="3335400" cy="731100"/>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FFFFFF"/>
              </a:buClr>
              <a:buSzPts val="4500"/>
              <a:buFont typeface="Helvetica Neue"/>
              <a:buNone/>
            </a:pPr>
            <a:r>
              <a:rPr lang="en" sz="4500" b="1" i="0" u="none" strike="noStrike" cap="none">
                <a:solidFill>
                  <a:srgbClr val="FFFFFF"/>
                </a:solidFill>
              </a:rPr>
              <a:t>Tau</a:t>
            </a:r>
            <a:r>
              <a:rPr lang="en" sz="4500" b="1" i="0" u="none" strike="noStrike" cap="none">
                <a:solidFill>
                  <a:srgbClr val="AC914D"/>
                </a:solidFill>
              </a:rPr>
              <a:t> + </a:t>
            </a:r>
            <a:r>
              <a:rPr lang="en" sz="4500" b="1" i="0" u="none" strike="noStrike" cap="none">
                <a:solidFill>
                  <a:srgbClr val="FFFFFF"/>
                </a:solidFill>
              </a:rPr>
              <a:t>ROI</a:t>
            </a:r>
            <a:endParaRPr sz="500"/>
          </a:p>
        </p:txBody>
      </p:sp>
      <p:sp>
        <p:nvSpPr>
          <p:cNvPr id="368" name="Google Shape;368;p59"/>
          <p:cNvSpPr txBox="1"/>
          <p:nvPr/>
        </p:nvSpPr>
        <p:spPr>
          <a:xfrm>
            <a:off x="1338900" y="2607275"/>
            <a:ext cx="2885400" cy="598500"/>
          </a:xfrm>
          <a:prstGeom prst="rect">
            <a:avLst/>
          </a:prstGeom>
          <a:noFill/>
          <a:ln>
            <a:noFill/>
          </a:ln>
        </p:spPr>
        <p:txBody>
          <a:bodyPr spcFirstLastPara="1" wrap="square" lIns="19050" tIns="19050" rIns="19050" bIns="19050" anchor="ctr" anchorCtr="0">
            <a:spAutoFit/>
          </a:bodyPr>
          <a:lstStyle/>
          <a:p>
            <a:pPr marL="0" marR="0" lvl="0" indent="0" algn="r" rtl="0">
              <a:lnSpc>
                <a:spcPct val="68656"/>
              </a:lnSpc>
              <a:spcBef>
                <a:spcPts val="0"/>
              </a:spcBef>
              <a:spcAft>
                <a:spcPts val="0"/>
              </a:spcAft>
              <a:buClr>
                <a:srgbClr val="000000"/>
              </a:buClr>
              <a:buSzPts val="1400"/>
              <a:buFont typeface="Helvetica Neue Light"/>
              <a:buNone/>
            </a:pPr>
            <a:r>
              <a:rPr lang="en" sz="1400" i="0" u="none" strike="noStrike" cap="none">
                <a:solidFill>
                  <a:srgbClr val="000000"/>
                </a:solidFill>
              </a:rPr>
              <a:t>Tau = </a:t>
            </a:r>
            <a:r>
              <a:rPr lang="en" sz="2500" i="0" u="none" strike="noStrike" cap="none">
                <a:solidFill>
                  <a:srgbClr val="000000"/>
                </a:solidFill>
              </a:rPr>
              <a:t>𝛕</a:t>
            </a:r>
            <a:r>
              <a:rPr lang="en" sz="1400" i="0" u="none" strike="noStrike" cap="none">
                <a:solidFill>
                  <a:srgbClr val="000000"/>
                </a:solidFill>
              </a:rPr>
              <a:t> Time constant in electrical engineering - properly estimating time can generate systematic profits</a:t>
            </a:r>
            <a:endParaRPr sz="500"/>
          </a:p>
        </p:txBody>
      </p:sp>
      <p:sp>
        <p:nvSpPr>
          <p:cNvPr id="369" name="Google Shape;369;p59"/>
          <p:cNvSpPr txBox="1"/>
          <p:nvPr/>
        </p:nvSpPr>
        <p:spPr>
          <a:xfrm>
            <a:off x="4906967" y="2595372"/>
            <a:ext cx="2825700" cy="254100"/>
          </a:xfrm>
          <a:prstGeom prst="rect">
            <a:avLst/>
          </a:prstGeom>
          <a:noFill/>
          <a:ln>
            <a:noFill/>
          </a:ln>
        </p:spPr>
        <p:txBody>
          <a:bodyPr spcFirstLastPara="1" wrap="square" lIns="19050" tIns="19050" rIns="19050" bIns="19050" anchor="ctr" anchorCtr="0">
            <a:spAutoFit/>
          </a:bodyPr>
          <a:lstStyle/>
          <a:p>
            <a:pPr marL="0" marR="0" lvl="0" indent="0" algn="l" rtl="0">
              <a:lnSpc>
                <a:spcPct val="127777"/>
              </a:lnSpc>
              <a:spcBef>
                <a:spcPts val="0"/>
              </a:spcBef>
              <a:spcAft>
                <a:spcPts val="0"/>
              </a:spcAft>
              <a:buClr>
                <a:srgbClr val="000000"/>
              </a:buClr>
              <a:buSzPts val="1400"/>
              <a:buFont typeface="Helvetica Neue Light"/>
              <a:buNone/>
            </a:pPr>
            <a:r>
              <a:rPr lang="en" sz="1400" i="0" u="none" strike="noStrike" cap="none">
                <a:solidFill>
                  <a:srgbClr val="000000"/>
                </a:solidFill>
              </a:rPr>
              <a:t>ROI = Return on investment</a:t>
            </a:r>
            <a:endParaRPr sz="500"/>
          </a:p>
        </p:txBody>
      </p:sp>
      <p:sp>
        <p:nvSpPr>
          <p:cNvPr id="370" name="Google Shape;370;p59"/>
          <p:cNvSpPr txBox="1"/>
          <p:nvPr/>
        </p:nvSpPr>
        <p:spPr>
          <a:xfrm>
            <a:off x="1556612" y="3736286"/>
            <a:ext cx="6084900" cy="238500"/>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204586"/>
              </a:buClr>
              <a:buSzPts val="1400"/>
              <a:buFont typeface="Helvetica Neue"/>
              <a:buNone/>
            </a:pPr>
            <a:r>
              <a:rPr lang="en" sz="1300" b="1" i="0" u="none" strike="noStrike" cap="none">
                <a:solidFill>
                  <a:srgbClr val="204586"/>
                </a:solidFill>
              </a:rPr>
              <a:t>Tauroi </a:t>
            </a:r>
            <a:r>
              <a:rPr lang="en" sz="1300" b="1" i="0" u="none" strike="noStrike" cap="none">
                <a:solidFill>
                  <a:srgbClr val="AC914D"/>
                </a:solidFill>
              </a:rPr>
              <a:t>=</a:t>
            </a:r>
            <a:r>
              <a:rPr lang="en" sz="1300" b="1" i="0" u="none" strike="noStrike" cap="none">
                <a:solidFill>
                  <a:srgbClr val="204586"/>
                </a:solidFill>
              </a:rPr>
              <a:t> Tauroi Khalkeoi were mechanical bronze bulls in greek mythology</a:t>
            </a:r>
            <a:endParaRPr sz="400"/>
          </a:p>
        </p:txBody>
      </p:sp>
      <p:cxnSp>
        <p:nvCxnSpPr>
          <p:cNvPr id="371" name="Google Shape;371;p59"/>
          <p:cNvCxnSpPr/>
          <p:nvPr/>
        </p:nvCxnSpPr>
        <p:spPr>
          <a:xfrm rot="10800000">
            <a:off x="4565650" y="2550489"/>
            <a:ext cx="0" cy="804600"/>
          </a:xfrm>
          <a:prstGeom prst="straightConnector1">
            <a:avLst/>
          </a:prstGeom>
          <a:noFill/>
          <a:ln w="50800" cap="flat" cmpd="sng">
            <a:solidFill>
              <a:srgbClr val="AC914D"/>
            </a:solidFill>
            <a:prstDash val="solid"/>
            <a:miter lim="400000"/>
            <a:headEnd type="none" w="sm" len="sm"/>
            <a:tailEnd type="none" w="sm" len="sm"/>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0"/>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ETF / Index Arbitrage</a:t>
            </a:r>
            <a:endParaRPr sz="4000" b="1" i="0" u="none" strike="noStrike" cap="none">
              <a:solidFill>
                <a:srgbClr val="6D3BF5"/>
              </a:solidFill>
              <a:latin typeface="Poppins"/>
              <a:ea typeface="Poppins"/>
              <a:cs typeface="Poppins"/>
              <a:sym typeface="Poppins"/>
            </a:endParaRPr>
          </a:p>
        </p:txBody>
      </p:sp>
      <p:graphicFrame>
        <p:nvGraphicFramePr>
          <p:cNvPr id="378" name="Google Shape;378;p60"/>
          <p:cNvGraphicFramePr/>
          <p:nvPr/>
        </p:nvGraphicFramePr>
        <p:xfrm>
          <a:off x="6158000" y="170175"/>
          <a:ext cx="3000000" cy="3000000"/>
        </p:xfrm>
        <a:graphic>
          <a:graphicData uri="http://schemas.openxmlformats.org/drawingml/2006/table">
            <a:tbl>
              <a:tblPr>
                <a:noFill/>
                <a:tableStyleId>{8E988DE2-97A2-416A-9140-A02111780125}</a:tableStyleId>
              </a:tblPr>
              <a:tblGrid>
                <a:gridCol w="674425">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351875">
                  <a:extLst>
                    <a:ext uri="{9D8B030D-6E8A-4147-A177-3AD203B41FA5}">
                      <a16:colId xmlns:a16="http://schemas.microsoft.com/office/drawing/2014/main" val="20002"/>
                    </a:ext>
                  </a:extLst>
                </a:gridCol>
                <a:gridCol w="351875">
                  <a:extLst>
                    <a:ext uri="{9D8B030D-6E8A-4147-A177-3AD203B41FA5}">
                      <a16:colId xmlns:a16="http://schemas.microsoft.com/office/drawing/2014/main" val="20003"/>
                    </a:ext>
                  </a:extLst>
                </a:gridCol>
                <a:gridCol w="239475">
                  <a:extLst>
                    <a:ext uri="{9D8B030D-6E8A-4147-A177-3AD203B41FA5}">
                      <a16:colId xmlns:a16="http://schemas.microsoft.com/office/drawing/2014/main" val="20004"/>
                    </a:ext>
                  </a:extLst>
                </a:gridCol>
                <a:gridCol w="263900">
                  <a:extLst>
                    <a:ext uri="{9D8B030D-6E8A-4147-A177-3AD203B41FA5}">
                      <a16:colId xmlns:a16="http://schemas.microsoft.com/office/drawing/2014/main" val="20005"/>
                    </a:ext>
                  </a:extLst>
                </a:gridCol>
                <a:gridCol w="605975">
                  <a:extLst>
                    <a:ext uri="{9D8B030D-6E8A-4147-A177-3AD203B41FA5}">
                      <a16:colId xmlns:a16="http://schemas.microsoft.com/office/drawing/2014/main" val="20006"/>
                    </a:ext>
                  </a:extLst>
                </a:gridCol>
              </a:tblGrid>
              <a:tr h="247650">
                <a:tc>
                  <a:txBody>
                    <a:bodyPr/>
                    <a:lstStyle/>
                    <a:p>
                      <a:pPr marL="0" lvl="0" indent="0" algn="l" rtl="0">
                        <a:lnSpc>
                          <a:spcPct val="115000"/>
                        </a:lnSpc>
                        <a:spcBef>
                          <a:spcPts val="0"/>
                        </a:spcBef>
                        <a:spcAft>
                          <a:spcPts val="0"/>
                        </a:spcAft>
                        <a:buNone/>
                      </a:pPr>
                      <a:r>
                        <a:rPr lang="en" sz="800" b="1">
                          <a:solidFill>
                            <a:srgbClr val="FFFFFF"/>
                          </a:solidFill>
                        </a:rPr>
                        <a:t>Unit</a:t>
                      </a:r>
                      <a:endParaRPr sz="800" b="1">
                        <a:solidFill>
                          <a:srgbClr val="FFFFFF"/>
                        </a:solidFill>
                      </a:endParaRPr>
                    </a:p>
                  </a:txBody>
                  <a:tcPr marL="6350" marR="6350" marT="6350" marB="91425" anchor="b">
                    <a:lnL w="9525" cap="flat" cmpd="sng">
                      <a:solidFill>
                        <a:srgbClr val="029B2D"/>
                      </a:solidFill>
                      <a:prstDash val="solid"/>
                      <a:round/>
                      <a:headEnd type="none" w="sm" len="sm"/>
                      <a:tailEnd type="none" w="sm" len="sm"/>
                    </a:lnL>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Last</a:t>
                      </a:r>
                      <a:endParaRPr sz="800" b="1">
                        <a:solidFill>
                          <a:srgbClr val="FFFFFF"/>
                        </a:solidFill>
                      </a:endParaRPr>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Bid</a:t>
                      </a:r>
                      <a:endParaRPr sz="800" b="1">
                        <a:solidFill>
                          <a:srgbClr val="FFFFFF"/>
                        </a:solidFill>
                      </a:endParaRPr>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Ask</a:t>
                      </a:r>
                      <a:endParaRPr sz="800" b="1">
                        <a:solidFill>
                          <a:srgbClr val="FFFFFF"/>
                        </a:solidFill>
                      </a:endParaRPr>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Size</a:t>
                      </a:r>
                      <a:endParaRPr sz="800" b="1">
                        <a:solidFill>
                          <a:srgbClr val="FFFFFF"/>
                        </a:solidFill>
                      </a:endParaRPr>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Net</a:t>
                      </a:r>
                      <a:endParaRPr sz="800" b="1">
                        <a:solidFill>
                          <a:srgbClr val="FFFFFF"/>
                        </a:solidFill>
                      </a:endParaRPr>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800" b="1">
                          <a:solidFill>
                            <a:srgbClr val="FFFFFF"/>
                          </a:solidFill>
                        </a:rPr>
                        <a:t>Percentage</a:t>
                      </a:r>
                      <a:endParaRPr sz="800" b="1">
                        <a:solidFill>
                          <a:srgbClr val="FFFFFF"/>
                        </a:solidFill>
                      </a:endParaRPr>
                    </a:p>
                  </a:txBody>
                  <a:tcPr marL="6350" marR="6350" marT="6350" marB="91425" anchor="b">
                    <a:lnR w="9525" cap="flat" cmpd="sng">
                      <a:solidFill>
                        <a:srgbClr val="029B2D"/>
                      </a:solidFill>
                      <a:prstDash val="solid"/>
                      <a:round/>
                      <a:headEnd type="none" w="sm" len="sm"/>
                      <a:tailEnd type="none" w="sm" len="sm"/>
                    </a:lnR>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solidFill>
                      <a:srgbClr val="029B2D"/>
                    </a:solidFill>
                  </a:tcPr>
                </a:tc>
                <a:extLst>
                  <a:ext uri="{0D108BD9-81ED-4DB2-BD59-A6C34878D82A}">
                    <a16:rowId xmlns:a16="http://schemas.microsoft.com/office/drawing/2014/main" val="10000"/>
                  </a:ext>
                </a:extLst>
              </a:tr>
              <a:tr h="247650">
                <a:tc>
                  <a:txBody>
                    <a:bodyPr/>
                    <a:lstStyle/>
                    <a:p>
                      <a:pPr marL="0" lvl="0" indent="0" algn="l" rtl="0">
                        <a:lnSpc>
                          <a:spcPct val="115000"/>
                        </a:lnSpc>
                        <a:spcBef>
                          <a:spcPts val="0"/>
                        </a:spcBef>
                        <a:spcAft>
                          <a:spcPts val="0"/>
                        </a:spcAft>
                        <a:buNone/>
                      </a:pPr>
                      <a:r>
                        <a:rPr lang="en" sz="800"/>
                        <a:t>AMD</a:t>
                      </a:r>
                      <a:endParaRPr sz="800"/>
                    </a:p>
                  </a:txBody>
                  <a:tcPr marL="6350" marR="6350" marT="6350" marB="91425" anchor="b">
                    <a:lnL w="9525" cap="flat" cmpd="sng">
                      <a:solidFill>
                        <a:srgbClr val="029B2D"/>
                      </a:solidFill>
                      <a:prstDash val="solid"/>
                      <a:round/>
                      <a:headEnd type="none" w="sm" len="sm"/>
                      <a:tailEnd type="none" w="sm" len="sm"/>
                    </a:lnL>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13.7</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13.69</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13.7</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100</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1370</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16.31%</a:t>
                      </a:r>
                      <a:endParaRPr sz="800"/>
                    </a:p>
                  </a:txBody>
                  <a:tcPr marL="6350" marR="6350" marT="6350" marB="91425" anchor="b">
                    <a:lnR w="9525" cap="flat" cmpd="sng">
                      <a:solidFill>
                        <a:srgbClr val="029B2D"/>
                      </a:solidFill>
                      <a:prstDash val="solid"/>
                      <a:round/>
                      <a:headEnd type="none" w="sm" len="sm"/>
                      <a:tailEnd type="none" w="sm" len="sm"/>
                    </a:lnR>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extLst>
                  <a:ext uri="{0D108BD9-81ED-4DB2-BD59-A6C34878D82A}">
                    <a16:rowId xmlns:a16="http://schemas.microsoft.com/office/drawing/2014/main" val="10001"/>
                  </a:ext>
                </a:extLst>
              </a:tr>
              <a:tr h="247650">
                <a:tc>
                  <a:txBody>
                    <a:bodyPr/>
                    <a:lstStyle/>
                    <a:p>
                      <a:pPr marL="0" lvl="0" indent="0" algn="l" rtl="0">
                        <a:lnSpc>
                          <a:spcPct val="115000"/>
                        </a:lnSpc>
                        <a:spcBef>
                          <a:spcPts val="0"/>
                        </a:spcBef>
                        <a:spcAft>
                          <a:spcPts val="0"/>
                        </a:spcAft>
                        <a:buNone/>
                      </a:pPr>
                      <a:r>
                        <a:rPr lang="en" sz="800"/>
                        <a:t>INTC</a:t>
                      </a:r>
                      <a:endParaRPr sz="800"/>
                    </a:p>
                  </a:txBody>
                  <a:tcPr marL="6350" marR="6350" marT="6350" marB="91425" anchor="b">
                    <a:lnL w="9525" cap="flat" cmpd="sng">
                      <a:solidFill>
                        <a:srgbClr val="029B2D"/>
                      </a:solidFill>
                      <a:prstDash val="solid"/>
                      <a:round/>
                      <a:headEnd type="none" w="sm" len="sm"/>
                      <a:tailEnd type="none" w="sm" len="sm"/>
                    </a:lnL>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35.16</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35.16</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35.17</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100</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3516</a:t>
                      </a:r>
                      <a:endParaRPr sz="800"/>
                    </a:p>
                  </a:txBody>
                  <a:tcPr marL="6350" marR="6350" marT="6350" marB="91425" anchor="b">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41.85%</a:t>
                      </a:r>
                      <a:endParaRPr sz="800"/>
                    </a:p>
                  </a:txBody>
                  <a:tcPr marL="6350" marR="6350" marT="6350" marB="91425" anchor="b">
                    <a:lnR w="9525" cap="flat" cmpd="sng">
                      <a:solidFill>
                        <a:srgbClr val="029B2D"/>
                      </a:solidFill>
                      <a:prstDash val="solid"/>
                      <a:round/>
                      <a:headEnd type="none" w="sm" len="sm"/>
                      <a:tailEnd type="none" w="sm" len="sm"/>
                    </a:lnR>
                    <a:lnT w="95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extLst>
                  <a:ext uri="{0D108BD9-81ED-4DB2-BD59-A6C34878D82A}">
                    <a16:rowId xmlns:a16="http://schemas.microsoft.com/office/drawing/2014/main" val="10002"/>
                  </a:ext>
                </a:extLst>
              </a:tr>
              <a:tr h="266700">
                <a:tc>
                  <a:txBody>
                    <a:bodyPr/>
                    <a:lstStyle/>
                    <a:p>
                      <a:pPr marL="0" lvl="0" indent="0" algn="l" rtl="0">
                        <a:lnSpc>
                          <a:spcPct val="115000"/>
                        </a:lnSpc>
                        <a:spcBef>
                          <a:spcPts val="0"/>
                        </a:spcBef>
                        <a:spcAft>
                          <a:spcPts val="0"/>
                        </a:spcAft>
                        <a:buNone/>
                      </a:pPr>
                      <a:r>
                        <a:rPr lang="en" sz="800"/>
                        <a:t>AAPL</a:t>
                      </a:r>
                      <a:endParaRPr sz="800"/>
                    </a:p>
                  </a:txBody>
                  <a:tcPr marL="6350" marR="6350" marT="6350" marB="91425" anchor="b">
                    <a:lnL w="9525" cap="flat" cmpd="sng">
                      <a:solidFill>
                        <a:srgbClr val="029B2D"/>
                      </a:solidFill>
                      <a:prstDash val="solid"/>
                      <a:round/>
                      <a:headEnd type="none" w="sm" len="sm"/>
                      <a:tailEnd type="none" w="sm" len="sm"/>
                    </a:lnL>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140.64</a:t>
                      </a:r>
                      <a:endParaRPr sz="800"/>
                    </a:p>
                  </a:txBody>
                  <a:tcPr marL="6350" marR="6350" marT="6350" marB="91425" anchor="b">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140.63</a:t>
                      </a:r>
                      <a:endParaRPr sz="800"/>
                    </a:p>
                  </a:txBody>
                  <a:tcPr marL="6350" marR="6350" marT="6350" marB="91425" anchor="b">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140.64</a:t>
                      </a:r>
                      <a:endParaRPr sz="800"/>
                    </a:p>
                  </a:txBody>
                  <a:tcPr marL="6350" marR="6350" marT="6350" marB="91425" anchor="b">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25</a:t>
                      </a:r>
                      <a:endParaRPr sz="800"/>
                    </a:p>
                  </a:txBody>
                  <a:tcPr marL="6350" marR="6350" marT="6350" marB="91425" anchor="b">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3516</a:t>
                      </a:r>
                      <a:endParaRPr sz="800"/>
                    </a:p>
                  </a:txBody>
                  <a:tcPr marL="6350" marR="6350" marT="6350" marB="91425" anchor="b">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t>41.85%</a:t>
                      </a:r>
                      <a:endParaRPr sz="800"/>
                    </a:p>
                  </a:txBody>
                  <a:tcPr marL="6350" marR="6350" marT="6350" marB="91425" anchor="b">
                    <a:lnR w="9525" cap="flat" cmpd="sng">
                      <a:solidFill>
                        <a:srgbClr val="029B2D"/>
                      </a:solidFill>
                      <a:prstDash val="solid"/>
                      <a:round/>
                      <a:headEnd type="none" w="sm" len="sm"/>
                      <a:tailEnd type="none" w="sm" len="sm"/>
                    </a:lnR>
                    <a:lnT w="9525" cap="flat" cmpd="sng">
                      <a:solidFill>
                        <a:srgbClr val="029B2D"/>
                      </a:solidFill>
                      <a:prstDash val="solid"/>
                      <a:round/>
                      <a:headEnd type="none" w="sm" len="sm"/>
                      <a:tailEnd type="none" w="sm" len="sm"/>
                    </a:lnT>
                    <a:lnB w="47625" cap="flat" cmpd="sng">
                      <a:solidFill>
                        <a:srgbClr val="029B2D"/>
                      </a:solidFill>
                      <a:prstDash val="solid"/>
                      <a:round/>
                      <a:headEnd type="none" w="sm" len="sm"/>
                      <a:tailEnd type="none" w="sm" len="sm"/>
                    </a:lnB>
                  </a:tcPr>
                </a:tc>
                <a:extLst>
                  <a:ext uri="{0D108BD9-81ED-4DB2-BD59-A6C34878D82A}">
                    <a16:rowId xmlns:a16="http://schemas.microsoft.com/office/drawing/2014/main" val="10003"/>
                  </a:ext>
                </a:extLst>
              </a:tr>
              <a:tr h="266700">
                <a:tc>
                  <a:txBody>
                    <a:bodyPr/>
                    <a:lstStyle/>
                    <a:p>
                      <a:pPr marL="0" lvl="0" indent="0" algn="l" rtl="0">
                        <a:lnSpc>
                          <a:spcPct val="115000"/>
                        </a:lnSpc>
                        <a:spcBef>
                          <a:spcPts val="0"/>
                        </a:spcBef>
                        <a:spcAft>
                          <a:spcPts val="0"/>
                        </a:spcAft>
                        <a:buNone/>
                      </a:pPr>
                      <a:r>
                        <a:rPr lang="en" sz="800" b="1"/>
                        <a:t>Creation Unit</a:t>
                      </a:r>
                      <a:endParaRPr sz="800" b="1"/>
                    </a:p>
                  </a:txBody>
                  <a:tcPr marL="6350" marR="6350" marT="6350" marB="91425" anchor="b">
                    <a:lnL w="9525" cap="flat" cmpd="sng">
                      <a:solidFill>
                        <a:srgbClr val="029B2D"/>
                      </a:solidFill>
                      <a:prstDash val="solid"/>
                      <a:round/>
                      <a:headEnd type="none" w="sm" len="sm"/>
                      <a:tailEnd type="none" w="sm" len="sm"/>
                    </a:lnL>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84.02</a:t>
                      </a:r>
                      <a:endParaRPr sz="800" b="1"/>
                    </a:p>
                  </a:txBody>
                  <a:tcPr marL="6350" marR="6350" marT="6350" marB="91425" anchor="b">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84.01</a:t>
                      </a:r>
                      <a:endParaRPr sz="800" b="1"/>
                    </a:p>
                  </a:txBody>
                  <a:tcPr marL="6350" marR="6350" marT="6350" marB="91425" anchor="b">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84.03</a:t>
                      </a:r>
                      <a:endParaRPr sz="800" b="1"/>
                    </a:p>
                  </a:txBody>
                  <a:tcPr marL="6350" marR="6350" marT="6350" marB="91425" anchor="b">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100</a:t>
                      </a:r>
                      <a:endParaRPr sz="800" b="1"/>
                    </a:p>
                  </a:txBody>
                  <a:tcPr marL="6350" marR="6350" marT="6350" marB="91425" anchor="b">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8402</a:t>
                      </a:r>
                      <a:endParaRPr sz="800" b="1"/>
                    </a:p>
                  </a:txBody>
                  <a:tcPr marL="6350" marR="6350" marT="6350" marB="91425" anchor="b">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t>100.00%</a:t>
                      </a:r>
                      <a:endParaRPr sz="800" b="1"/>
                    </a:p>
                  </a:txBody>
                  <a:tcPr marL="6350" marR="6350" marT="6350" marB="91425" anchor="b">
                    <a:lnR w="9525" cap="flat" cmpd="sng">
                      <a:solidFill>
                        <a:srgbClr val="029B2D"/>
                      </a:solidFill>
                      <a:prstDash val="solid"/>
                      <a:round/>
                      <a:headEnd type="none" w="sm" len="sm"/>
                      <a:tailEnd type="none" w="sm" len="sm"/>
                    </a:lnR>
                    <a:lnT w="47625" cap="flat" cmpd="sng">
                      <a:solidFill>
                        <a:srgbClr val="029B2D"/>
                      </a:solidFill>
                      <a:prstDash val="solid"/>
                      <a:round/>
                      <a:headEnd type="none" w="sm" len="sm"/>
                      <a:tailEnd type="none" w="sm" len="sm"/>
                    </a:lnT>
                    <a:lnB w="9525" cap="flat" cmpd="sng">
                      <a:solidFill>
                        <a:srgbClr val="029B2D"/>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379" name="Google Shape;379;p60"/>
          <p:cNvGraphicFramePr/>
          <p:nvPr/>
        </p:nvGraphicFramePr>
        <p:xfrm>
          <a:off x="6612775" y="1671550"/>
          <a:ext cx="3000000" cy="3000000"/>
        </p:xfrm>
        <a:graphic>
          <a:graphicData uri="http://schemas.openxmlformats.org/drawingml/2006/table">
            <a:tbl>
              <a:tblPr>
                <a:noFill/>
                <a:tableStyleId>{8E988DE2-97A2-416A-9140-A02111780125}</a:tableStyleId>
              </a:tblPr>
              <a:tblGrid>
                <a:gridCol w="95250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tblGrid>
              <a:tr h="166225">
                <a:tc>
                  <a:txBody>
                    <a:bodyPr/>
                    <a:lstStyle/>
                    <a:p>
                      <a:pPr marL="0" lvl="0" indent="0" algn="l" rtl="0">
                        <a:lnSpc>
                          <a:spcPct val="115000"/>
                        </a:lnSpc>
                        <a:spcBef>
                          <a:spcPts val="0"/>
                        </a:spcBef>
                        <a:spcAft>
                          <a:spcPts val="0"/>
                        </a:spcAft>
                        <a:buNone/>
                      </a:pPr>
                      <a:r>
                        <a:rPr lang="en" sz="1000" b="1">
                          <a:solidFill>
                            <a:srgbClr val="FFFFFF"/>
                          </a:solidFill>
                        </a:rPr>
                        <a:t>Example</a:t>
                      </a:r>
                      <a:endParaRPr sz="1000" b="1">
                        <a:solidFill>
                          <a:srgbClr val="FFFFFF"/>
                        </a:solidFill>
                      </a:endParaRPr>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29B2D"/>
                    </a:solidFill>
                  </a:tcPr>
                </a:tc>
                <a:tc>
                  <a:txBody>
                    <a:bodyPr/>
                    <a:lstStyle/>
                    <a:p>
                      <a:pPr marL="0" lvl="0" indent="0" algn="l" rtl="0">
                        <a:lnSpc>
                          <a:spcPct val="115000"/>
                        </a:lnSpc>
                        <a:spcBef>
                          <a:spcPts val="0"/>
                        </a:spcBef>
                        <a:spcAft>
                          <a:spcPts val="0"/>
                        </a:spcAft>
                        <a:buNone/>
                      </a:pPr>
                      <a:r>
                        <a:rPr lang="en" sz="1000" b="1">
                          <a:solidFill>
                            <a:srgbClr val="FFFFFF"/>
                          </a:solidFill>
                        </a:rPr>
                        <a:t>Price</a:t>
                      </a:r>
                      <a:endParaRPr sz="1000" b="1">
                        <a:solidFill>
                          <a:srgbClr val="FFFFFF"/>
                        </a:solidFill>
                      </a:endParaRPr>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29B2D"/>
                    </a:solidFill>
                  </a:tcPr>
                </a:tc>
                <a:extLst>
                  <a:ext uri="{0D108BD9-81ED-4DB2-BD59-A6C34878D82A}">
                    <a16:rowId xmlns:a16="http://schemas.microsoft.com/office/drawing/2014/main" val="10000"/>
                  </a:ext>
                </a:extLst>
              </a:tr>
              <a:tr h="235250">
                <a:tc>
                  <a:txBody>
                    <a:bodyPr/>
                    <a:lstStyle/>
                    <a:p>
                      <a:pPr marL="0" lvl="0" indent="0" algn="l" rtl="0">
                        <a:lnSpc>
                          <a:spcPct val="115000"/>
                        </a:lnSpc>
                        <a:spcBef>
                          <a:spcPts val="0"/>
                        </a:spcBef>
                        <a:spcAft>
                          <a:spcPts val="0"/>
                        </a:spcAft>
                        <a:buNone/>
                      </a:pPr>
                      <a:r>
                        <a:rPr lang="en" sz="1000"/>
                        <a:t>Calculated Ask</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tc>
                  <a:txBody>
                    <a:bodyPr/>
                    <a:lstStyle/>
                    <a:p>
                      <a:pPr marL="0" lvl="0" indent="0" algn="r" rtl="0">
                        <a:lnSpc>
                          <a:spcPct val="115000"/>
                        </a:lnSpc>
                        <a:spcBef>
                          <a:spcPts val="0"/>
                        </a:spcBef>
                        <a:spcAft>
                          <a:spcPts val="0"/>
                        </a:spcAft>
                        <a:buNone/>
                      </a:pPr>
                      <a:r>
                        <a:rPr lang="en" sz="1000"/>
                        <a:t>84.03</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extLst>
                  <a:ext uri="{0D108BD9-81ED-4DB2-BD59-A6C34878D82A}">
                    <a16:rowId xmlns:a16="http://schemas.microsoft.com/office/drawing/2014/main" val="10001"/>
                  </a:ext>
                </a:extLst>
              </a:tr>
              <a:tr h="166225">
                <a:tc>
                  <a:txBody>
                    <a:bodyPr/>
                    <a:lstStyle/>
                    <a:p>
                      <a:pPr marL="0" lvl="0" indent="0" algn="l" rtl="0">
                        <a:lnSpc>
                          <a:spcPct val="115000"/>
                        </a:lnSpc>
                        <a:spcBef>
                          <a:spcPts val="0"/>
                        </a:spcBef>
                        <a:spcAft>
                          <a:spcPts val="0"/>
                        </a:spcAft>
                        <a:buNone/>
                      </a:pPr>
                      <a:r>
                        <a:rPr lang="en" sz="1000"/>
                        <a:t>Calculated Bid</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tc>
                  <a:txBody>
                    <a:bodyPr/>
                    <a:lstStyle/>
                    <a:p>
                      <a:pPr marL="0" lvl="0" indent="0" algn="r" rtl="0">
                        <a:lnSpc>
                          <a:spcPct val="115000"/>
                        </a:lnSpc>
                        <a:spcBef>
                          <a:spcPts val="0"/>
                        </a:spcBef>
                        <a:spcAft>
                          <a:spcPts val="0"/>
                        </a:spcAft>
                        <a:buNone/>
                      </a:pPr>
                      <a:r>
                        <a:rPr lang="en" sz="1000"/>
                        <a:t>84.0075</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extLst>
                  <a:ext uri="{0D108BD9-81ED-4DB2-BD59-A6C34878D82A}">
                    <a16:rowId xmlns:a16="http://schemas.microsoft.com/office/drawing/2014/main" val="10002"/>
                  </a:ext>
                </a:extLst>
              </a:tr>
              <a:tr h="166225">
                <a:tc>
                  <a:txBody>
                    <a:bodyPr/>
                    <a:lstStyle/>
                    <a:p>
                      <a:pPr marL="0" lvl="0" indent="0" algn="l" rtl="0">
                        <a:lnSpc>
                          <a:spcPct val="115000"/>
                        </a:lnSpc>
                        <a:spcBef>
                          <a:spcPts val="0"/>
                        </a:spcBef>
                        <a:spcAft>
                          <a:spcPts val="0"/>
                        </a:spcAft>
                        <a:buNone/>
                      </a:pPr>
                      <a:r>
                        <a:rPr lang="en" sz="1000"/>
                        <a:t>ETF Bid</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tc>
                  <a:txBody>
                    <a:bodyPr/>
                    <a:lstStyle/>
                    <a:p>
                      <a:pPr marL="0" lvl="0" indent="0" algn="r" rtl="0">
                        <a:lnSpc>
                          <a:spcPct val="115000"/>
                        </a:lnSpc>
                        <a:spcBef>
                          <a:spcPts val="0"/>
                        </a:spcBef>
                        <a:spcAft>
                          <a:spcPts val="0"/>
                        </a:spcAft>
                        <a:buNone/>
                      </a:pPr>
                      <a:r>
                        <a:rPr lang="en" sz="1000"/>
                        <a:t>84.04</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extLst>
                  <a:ext uri="{0D108BD9-81ED-4DB2-BD59-A6C34878D82A}">
                    <a16:rowId xmlns:a16="http://schemas.microsoft.com/office/drawing/2014/main" val="10003"/>
                  </a:ext>
                </a:extLst>
              </a:tr>
              <a:tr h="166225">
                <a:tc>
                  <a:txBody>
                    <a:bodyPr/>
                    <a:lstStyle/>
                    <a:p>
                      <a:pPr marL="0" lvl="0" indent="0" algn="l" rtl="0">
                        <a:lnSpc>
                          <a:spcPct val="115000"/>
                        </a:lnSpc>
                        <a:spcBef>
                          <a:spcPts val="0"/>
                        </a:spcBef>
                        <a:spcAft>
                          <a:spcPts val="0"/>
                        </a:spcAft>
                        <a:buNone/>
                      </a:pPr>
                      <a:r>
                        <a:rPr lang="en" sz="1000"/>
                        <a:t>ETF Ask</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tc>
                  <a:txBody>
                    <a:bodyPr/>
                    <a:lstStyle/>
                    <a:p>
                      <a:pPr marL="0" lvl="0" indent="0" algn="r" rtl="0">
                        <a:lnSpc>
                          <a:spcPct val="115000"/>
                        </a:lnSpc>
                        <a:spcBef>
                          <a:spcPts val="0"/>
                        </a:spcBef>
                        <a:spcAft>
                          <a:spcPts val="0"/>
                        </a:spcAft>
                        <a:buNone/>
                      </a:pPr>
                      <a:r>
                        <a:rPr lang="en" sz="1000"/>
                        <a:t>84.05</a:t>
                      </a:r>
                      <a:endParaRPr sz="1000"/>
                    </a:p>
                  </a:txBody>
                  <a:tcPr marL="6350" marR="6350" marT="6350" marB="91425"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EFE8"/>
                    </a:solidFill>
                  </a:tcPr>
                </a:tc>
                <a:extLst>
                  <a:ext uri="{0D108BD9-81ED-4DB2-BD59-A6C34878D82A}">
                    <a16:rowId xmlns:a16="http://schemas.microsoft.com/office/drawing/2014/main" val="10004"/>
                  </a:ext>
                </a:extLst>
              </a:tr>
            </a:tbl>
          </a:graphicData>
        </a:graphic>
      </p:graphicFrame>
      <p:sp>
        <p:nvSpPr>
          <p:cNvPr id="380" name="Google Shape;380;p60"/>
          <p:cNvSpPr txBox="1"/>
          <p:nvPr/>
        </p:nvSpPr>
        <p:spPr>
          <a:xfrm>
            <a:off x="131475" y="1007875"/>
            <a:ext cx="6214500" cy="35865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sz="1300"/>
              <a:t>This is a common strategy, and typically need flow</a:t>
            </a:r>
            <a:endParaRPr sz="1300"/>
          </a:p>
          <a:p>
            <a:pPr marL="457200" lvl="0" indent="0" algn="l" rtl="0">
              <a:spcBef>
                <a:spcPts val="0"/>
              </a:spcBef>
              <a:spcAft>
                <a:spcPts val="0"/>
              </a:spcAft>
              <a:buNone/>
            </a:pPr>
            <a:endParaRPr sz="1300"/>
          </a:p>
          <a:p>
            <a:pPr marL="457200" lvl="0" indent="-311150" algn="l" rtl="0">
              <a:spcBef>
                <a:spcPts val="0"/>
              </a:spcBef>
              <a:spcAft>
                <a:spcPts val="0"/>
              </a:spcAft>
              <a:buSzPts val="1300"/>
              <a:buChar char="●"/>
            </a:pPr>
            <a:r>
              <a:rPr lang="en" sz="1300"/>
              <a:t>Arbitrage happens when ETF trades at a discount or premium to the NAV</a:t>
            </a:r>
            <a:endParaRPr sz="1300"/>
          </a:p>
          <a:p>
            <a:pPr marL="914400" lvl="1" indent="-311150" algn="l" rtl="0">
              <a:spcBef>
                <a:spcPts val="0"/>
              </a:spcBef>
              <a:spcAft>
                <a:spcPts val="0"/>
              </a:spcAft>
              <a:buSzPts val="1300"/>
              <a:buChar char="○"/>
            </a:pPr>
            <a:r>
              <a:rPr lang="en" sz="1300" b="1"/>
              <a:t>Institutional</a:t>
            </a:r>
            <a:r>
              <a:rPr lang="en" sz="1300"/>
              <a:t>: When ETF price &gt; NAV, the AP will sell shares it received during creation and make a spread between the cost of the assets it bought for the ETF issuer and the selling price from the ETF shares. AP can also buy the underlying shares that compose the ETF directly at lower prices, sell ETF shares on the open market at the higher price, capturing the spread.</a:t>
            </a:r>
            <a:endParaRPr sz="1300"/>
          </a:p>
          <a:p>
            <a:pPr marL="914400" lvl="1" indent="-311150" algn="l" rtl="0">
              <a:spcBef>
                <a:spcPts val="0"/>
              </a:spcBef>
              <a:spcAft>
                <a:spcPts val="0"/>
              </a:spcAft>
              <a:buSzPts val="1300"/>
              <a:buChar char="○"/>
            </a:pPr>
            <a:r>
              <a:rPr lang="en" sz="1300" b="1"/>
              <a:t>Individuals</a:t>
            </a:r>
            <a:r>
              <a:rPr lang="en" sz="1300"/>
              <a:t>: When the ETF is selling at a premium (or discount), individuals can buy (short) the underlying securities in the same proportions and short (or buy) the ETF. Limited by liquidity and spread</a:t>
            </a:r>
            <a:endParaRPr sz="1300"/>
          </a:p>
          <a:p>
            <a:pPr marL="1371600" lvl="2" indent="-311150" algn="l" rtl="0">
              <a:spcBef>
                <a:spcPts val="0"/>
              </a:spcBef>
              <a:spcAft>
                <a:spcPts val="0"/>
              </a:spcAft>
              <a:buSzPts val="1300"/>
              <a:buChar char="■"/>
            </a:pPr>
            <a:r>
              <a:rPr lang="en" sz="1300"/>
              <a:t>If inside the spread need to know if the ETF goes to share price or share price goes to ETF price</a:t>
            </a:r>
            <a:endParaRPr sz="1300"/>
          </a:p>
          <a:p>
            <a:pPr marL="457200" lvl="0" indent="-311150" algn="l" rtl="0">
              <a:spcBef>
                <a:spcPts val="0"/>
              </a:spcBef>
              <a:spcAft>
                <a:spcPts val="0"/>
              </a:spcAft>
              <a:buSzPts val="1300"/>
              <a:buChar char="●"/>
            </a:pPr>
            <a:endParaRPr sz="1300"/>
          </a:p>
          <a:p>
            <a:pPr marL="457200" lvl="0" indent="-311150" algn="l" rtl="0">
              <a:spcBef>
                <a:spcPts val="0"/>
              </a:spcBef>
              <a:spcAft>
                <a:spcPts val="0"/>
              </a:spcAft>
              <a:buSzPts val="1300"/>
              <a:buChar char="●"/>
            </a:pPr>
            <a:r>
              <a:rPr lang="en" sz="1300"/>
              <a:t>Do this at an international level with ADR’s</a:t>
            </a:r>
            <a:endParaRPr sz="1300"/>
          </a:p>
          <a:p>
            <a:pPr marL="0" lvl="0" indent="0" algn="l" rtl="0">
              <a:spcBef>
                <a:spcPts val="0"/>
              </a:spcBef>
              <a:spcAft>
                <a:spcPts val="0"/>
              </a:spcAft>
              <a:buNone/>
            </a:pPr>
            <a:endParaRPr sz="13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1"/>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Deal Flow</a:t>
            </a:r>
            <a:endParaRPr sz="4000" b="1" i="0" u="none" strike="noStrike" cap="none">
              <a:solidFill>
                <a:srgbClr val="6D3BF5"/>
              </a:solidFill>
              <a:latin typeface="Poppins"/>
              <a:ea typeface="Poppins"/>
              <a:cs typeface="Poppins"/>
              <a:sym typeface="Poppins"/>
            </a:endParaRPr>
          </a:p>
        </p:txBody>
      </p:sp>
      <p:sp>
        <p:nvSpPr>
          <p:cNvPr id="387" name="Google Shape;387;p61"/>
          <p:cNvSpPr txBox="1"/>
          <p:nvPr/>
        </p:nvSpPr>
        <p:spPr>
          <a:xfrm>
            <a:off x="340225" y="988863"/>
            <a:ext cx="5481300" cy="19893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000"/>
              </a:spcBef>
              <a:spcAft>
                <a:spcPts val="0"/>
              </a:spcAft>
              <a:buClr>
                <a:srgbClr val="404040"/>
              </a:buClr>
              <a:buSzPts val="2000"/>
              <a:buChar char="●"/>
            </a:pPr>
            <a:r>
              <a:rPr lang="en" sz="2000">
                <a:solidFill>
                  <a:srgbClr val="404040"/>
                </a:solidFill>
              </a:rPr>
              <a:t>Bank will trade all of the positions on behalf of FTSE Russell (moves ~20 Billion in a few hours) for a single client</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Buys up in anticipation of the trade and sells their own shares to the client</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Massive market moves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Legalized insider trading and market manipulation due to sheer size of orders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Goldman actually pays Russell (and the like) for their order flow!</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Robinhood and Citadel!</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endParaRPr sz="2000">
              <a:solidFill>
                <a:srgbClr val="404040"/>
              </a:solidFill>
            </a:endParaRPr>
          </a:p>
        </p:txBody>
      </p:sp>
      <p:pic>
        <p:nvPicPr>
          <p:cNvPr id="388" name="Google Shape;388;p61"/>
          <p:cNvPicPr preferRelativeResize="0"/>
          <p:nvPr/>
        </p:nvPicPr>
        <p:blipFill>
          <a:blip r:embed="rId3">
            <a:alphaModFix/>
          </a:blip>
          <a:stretch>
            <a:fillRect/>
          </a:stretch>
        </p:blipFill>
        <p:spPr>
          <a:xfrm>
            <a:off x="5900900" y="1561988"/>
            <a:ext cx="3017676" cy="201952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2"/>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Sentiment</a:t>
            </a:r>
            <a:endParaRPr sz="4000" b="1" i="0" u="none" strike="noStrike" cap="none">
              <a:solidFill>
                <a:srgbClr val="6D3BF5"/>
              </a:solidFill>
              <a:latin typeface="Poppins"/>
              <a:ea typeface="Poppins"/>
              <a:cs typeface="Poppins"/>
              <a:sym typeface="Poppins"/>
            </a:endParaRPr>
          </a:p>
        </p:txBody>
      </p:sp>
      <p:sp>
        <p:nvSpPr>
          <p:cNvPr id="395" name="Google Shape;395;p62"/>
          <p:cNvSpPr txBox="1"/>
          <p:nvPr/>
        </p:nvSpPr>
        <p:spPr>
          <a:xfrm>
            <a:off x="340225" y="988863"/>
            <a:ext cx="5481300" cy="19893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Twitter and other news sources (Reuters, etc.) can give me an information advantage</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Train an ML model to understand Donald Trumps Tweets, trade the resulting market sentiment</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Example:</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https://www.kaggle.com/c/two-sigma-financial-news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endParaRPr sz="2000">
              <a:solidFill>
                <a:srgbClr val="404040"/>
              </a:solidFill>
            </a:endParaRPr>
          </a:p>
        </p:txBody>
      </p:sp>
      <p:pic>
        <p:nvPicPr>
          <p:cNvPr id="396" name="Google Shape;396;p62"/>
          <p:cNvPicPr preferRelativeResize="0"/>
          <p:nvPr/>
        </p:nvPicPr>
        <p:blipFill>
          <a:blip r:embed="rId3">
            <a:alphaModFix/>
          </a:blip>
          <a:stretch>
            <a:fillRect/>
          </a:stretch>
        </p:blipFill>
        <p:spPr>
          <a:xfrm>
            <a:off x="5973925" y="1049950"/>
            <a:ext cx="3017675" cy="1976365"/>
          </a:xfrm>
          <a:prstGeom prst="rect">
            <a:avLst/>
          </a:prstGeom>
          <a:noFill/>
          <a:ln>
            <a:noFill/>
          </a:ln>
        </p:spPr>
      </p:pic>
      <p:pic>
        <p:nvPicPr>
          <p:cNvPr id="397" name="Google Shape;397;p62"/>
          <p:cNvPicPr preferRelativeResize="0"/>
          <p:nvPr/>
        </p:nvPicPr>
        <p:blipFill>
          <a:blip r:embed="rId4">
            <a:alphaModFix/>
          </a:blip>
          <a:stretch>
            <a:fillRect/>
          </a:stretch>
        </p:blipFill>
        <p:spPr>
          <a:xfrm>
            <a:off x="5615425" y="3282963"/>
            <a:ext cx="3603091" cy="186053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3"/>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Drone Car Counting</a:t>
            </a:r>
            <a:endParaRPr sz="4000" b="1" i="0" u="none" strike="noStrike" cap="none">
              <a:solidFill>
                <a:srgbClr val="6D3BF5"/>
              </a:solidFill>
              <a:latin typeface="Poppins"/>
              <a:ea typeface="Poppins"/>
              <a:cs typeface="Poppins"/>
              <a:sym typeface="Poppins"/>
            </a:endParaRPr>
          </a:p>
        </p:txBody>
      </p:sp>
      <p:sp>
        <p:nvSpPr>
          <p:cNvPr id="404" name="Google Shape;404;p63"/>
          <p:cNvSpPr txBox="1"/>
          <p:nvPr/>
        </p:nvSpPr>
        <p:spPr>
          <a:xfrm>
            <a:off x="340225" y="988863"/>
            <a:ext cx="5481300" cy="19893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Storefront business’s financial performance strongly correlated with number of visitors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Use image processing to count the number of cars over time in parking lots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Possible to forecast better than market</a:t>
            </a:r>
            <a:endParaRPr sz="2000">
              <a:solidFill>
                <a:srgbClr val="404040"/>
              </a:solidFill>
            </a:endParaRPr>
          </a:p>
        </p:txBody>
      </p:sp>
      <p:pic>
        <p:nvPicPr>
          <p:cNvPr id="405" name="Google Shape;405;p63"/>
          <p:cNvPicPr preferRelativeResize="0"/>
          <p:nvPr/>
        </p:nvPicPr>
        <p:blipFill>
          <a:blip r:embed="rId3">
            <a:alphaModFix/>
          </a:blip>
          <a:stretch>
            <a:fillRect/>
          </a:stretch>
        </p:blipFill>
        <p:spPr>
          <a:xfrm>
            <a:off x="5673850" y="1786713"/>
            <a:ext cx="3295416" cy="186053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4"/>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Alt Data Spend</a:t>
            </a:r>
            <a:endParaRPr sz="4000" b="1" i="0" u="none" strike="noStrike" cap="none">
              <a:solidFill>
                <a:srgbClr val="6D3BF5"/>
              </a:solidFill>
              <a:latin typeface="Poppins"/>
              <a:ea typeface="Poppins"/>
              <a:cs typeface="Poppins"/>
              <a:sym typeface="Poppins"/>
            </a:endParaRPr>
          </a:p>
        </p:txBody>
      </p:sp>
      <p:sp>
        <p:nvSpPr>
          <p:cNvPr id="412" name="Google Shape;412;p64"/>
          <p:cNvSpPr txBox="1"/>
          <p:nvPr/>
        </p:nvSpPr>
        <p:spPr>
          <a:xfrm>
            <a:off x="3466125" y="1207963"/>
            <a:ext cx="5481300" cy="19893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000"/>
              </a:spcBef>
              <a:spcAft>
                <a:spcPts val="0"/>
              </a:spcAft>
              <a:buClr>
                <a:srgbClr val="404040"/>
              </a:buClr>
              <a:buSzPts val="2000"/>
              <a:buChar char="●"/>
            </a:pPr>
            <a:r>
              <a:rPr lang="en" sz="2000">
                <a:solidFill>
                  <a:srgbClr val="404040"/>
                </a:solidFill>
              </a:rPr>
              <a:t>Thesis:</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Consumer spending directly correlates with business performance</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Execution:</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Buy aggregated customer data from financial companies</a:t>
            </a:r>
            <a:endParaRPr sz="2000">
              <a:solidFill>
                <a:srgbClr val="404040"/>
              </a:solidFill>
            </a:endParaRPr>
          </a:p>
          <a:p>
            <a:pPr marL="457200" lvl="0" indent="-355600" algn="l" rtl="0">
              <a:lnSpc>
                <a:spcPct val="90000"/>
              </a:lnSpc>
              <a:spcBef>
                <a:spcPts val="0"/>
              </a:spcBef>
              <a:spcAft>
                <a:spcPts val="0"/>
              </a:spcAft>
              <a:buClr>
                <a:srgbClr val="404040"/>
              </a:buClr>
              <a:buSzPts val="2000"/>
              <a:buChar char="●"/>
            </a:pPr>
            <a:r>
              <a:rPr lang="en" sz="2000">
                <a:solidFill>
                  <a:srgbClr val="404040"/>
                </a:solidFill>
              </a:rPr>
              <a:t>Offline attribution</a:t>
            </a:r>
            <a:endParaRPr sz="2000">
              <a:solidFill>
                <a:srgbClr val="404040"/>
              </a:solidFill>
            </a:endParaRPr>
          </a:p>
          <a:p>
            <a:pPr marL="914400" lvl="1" indent="-355600" algn="l" rtl="0">
              <a:lnSpc>
                <a:spcPct val="90000"/>
              </a:lnSpc>
              <a:spcBef>
                <a:spcPts val="0"/>
              </a:spcBef>
              <a:spcAft>
                <a:spcPts val="0"/>
              </a:spcAft>
              <a:buClr>
                <a:srgbClr val="404040"/>
              </a:buClr>
              <a:buSzPts val="2000"/>
              <a:buChar char="○"/>
            </a:pPr>
            <a:r>
              <a:rPr lang="en" sz="2000">
                <a:solidFill>
                  <a:srgbClr val="404040"/>
                </a:solidFill>
              </a:rPr>
              <a:t>See if a person searches online and then buys from a store</a:t>
            </a:r>
            <a:endParaRPr sz="2000">
              <a:solidFill>
                <a:srgbClr val="404040"/>
              </a:solidFill>
            </a:endParaRPr>
          </a:p>
        </p:txBody>
      </p:sp>
      <p:pic>
        <p:nvPicPr>
          <p:cNvPr id="413" name="Google Shape;413;p64"/>
          <p:cNvPicPr preferRelativeResize="0"/>
          <p:nvPr/>
        </p:nvPicPr>
        <p:blipFill>
          <a:blip r:embed="rId3">
            <a:alphaModFix/>
          </a:blip>
          <a:stretch>
            <a:fillRect/>
          </a:stretch>
        </p:blipFill>
        <p:spPr>
          <a:xfrm>
            <a:off x="738448" y="976925"/>
            <a:ext cx="2530025" cy="3405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5"/>
          <p:cNvSpPr txBox="1"/>
          <p:nvPr/>
        </p:nvSpPr>
        <p:spPr>
          <a:xfrm>
            <a:off x="340225" y="380950"/>
            <a:ext cx="7991100" cy="516600"/>
          </a:xfrm>
          <a:prstGeom prst="rect">
            <a:avLst/>
          </a:prstGeom>
          <a:noFill/>
          <a:ln>
            <a:noFill/>
          </a:ln>
        </p:spPr>
        <p:txBody>
          <a:bodyPr spcFirstLastPara="1" wrap="square" lIns="91425" tIns="91425" rIns="91425" bIns="91425" anchor="t" anchorCtr="0">
            <a:noAutofit/>
          </a:bodyPr>
          <a:lstStyle/>
          <a:p>
            <a:pPr marL="0" marR="0" lvl="0" indent="0" algn="l" rtl="0">
              <a:lnSpc>
                <a:spcPct val="70000"/>
              </a:lnSpc>
              <a:spcBef>
                <a:spcPts val="0"/>
              </a:spcBef>
              <a:spcAft>
                <a:spcPts val="0"/>
              </a:spcAft>
              <a:buClr>
                <a:srgbClr val="000000"/>
              </a:buClr>
              <a:buSzPts val="4000"/>
              <a:buFont typeface="Arial"/>
              <a:buNone/>
            </a:pPr>
            <a:r>
              <a:rPr lang="en" sz="4000" b="1">
                <a:solidFill>
                  <a:srgbClr val="6D3BF5"/>
                </a:solidFill>
                <a:latin typeface="Poppins"/>
                <a:ea typeface="Poppins"/>
                <a:cs typeface="Poppins"/>
                <a:sym typeface="Poppins"/>
              </a:rPr>
              <a:t>Packet Spoofing</a:t>
            </a:r>
            <a:endParaRPr sz="4000" b="1" i="0" u="none" strike="noStrike" cap="none">
              <a:solidFill>
                <a:srgbClr val="6D3BF5"/>
              </a:solidFill>
              <a:latin typeface="Poppins"/>
              <a:ea typeface="Poppins"/>
              <a:cs typeface="Poppins"/>
              <a:sym typeface="Poppins"/>
            </a:endParaRPr>
          </a:p>
        </p:txBody>
      </p:sp>
      <p:sp>
        <p:nvSpPr>
          <p:cNvPr id="420" name="Google Shape;420;p65"/>
          <p:cNvSpPr txBox="1"/>
          <p:nvPr/>
        </p:nvSpPr>
        <p:spPr>
          <a:xfrm>
            <a:off x="3466125" y="1207963"/>
            <a:ext cx="5481300" cy="1989300"/>
          </a:xfrm>
          <a:prstGeom prst="rect">
            <a:avLst/>
          </a:prstGeom>
          <a:noFill/>
          <a:ln>
            <a:noFill/>
          </a:ln>
        </p:spPr>
        <p:txBody>
          <a:bodyPr spcFirstLastPara="1" wrap="square" lIns="91425" tIns="91425" rIns="91425" bIns="91425" anchor="t" anchorCtr="0">
            <a:noAutofit/>
          </a:bodyPr>
          <a:lstStyle/>
          <a:p>
            <a:pPr marL="457200" lvl="0" indent="-323850" algn="l" rtl="0">
              <a:lnSpc>
                <a:spcPct val="90000"/>
              </a:lnSpc>
              <a:spcBef>
                <a:spcPts val="1000"/>
              </a:spcBef>
              <a:spcAft>
                <a:spcPts val="0"/>
              </a:spcAft>
              <a:buClr>
                <a:srgbClr val="404040"/>
              </a:buClr>
              <a:buSzPts val="1500"/>
              <a:buChar char="●"/>
            </a:pPr>
            <a:r>
              <a:rPr lang="en" sz="1500">
                <a:solidFill>
                  <a:srgbClr val="404040"/>
                </a:solidFill>
              </a:rPr>
              <a:t>Thesis:</a:t>
            </a:r>
            <a:endParaRPr sz="1500">
              <a:solidFill>
                <a:srgbClr val="404040"/>
              </a:solidFill>
            </a:endParaRPr>
          </a:p>
          <a:p>
            <a:pPr marL="914400" lvl="1" indent="-323850" algn="l" rtl="0">
              <a:lnSpc>
                <a:spcPct val="90000"/>
              </a:lnSpc>
              <a:spcBef>
                <a:spcPts val="0"/>
              </a:spcBef>
              <a:spcAft>
                <a:spcPts val="0"/>
              </a:spcAft>
              <a:buClr>
                <a:srgbClr val="404040"/>
              </a:buClr>
              <a:buSzPts val="1500"/>
              <a:buChar char="○"/>
            </a:pPr>
            <a:r>
              <a:rPr lang="en" sz="1500">
                <a:solidFill>
                  <a:srgbClr val="404040"/>
                </a:solidFill>
              </a:rPr>
              <a:t>Being first in the queue at the start of the day will give me a queuing advantage as I can make the market or understand where the market is trading at</a:t>
            </a:r>
            <a:endParaRPr sz="1500">
              <a:solidFill>
                <a:srgbClr val="404040"/>
              </a:solidFill>
            </a:endParaRPr>
          </a:p>
          <a:p>
            <a:pPr marL="457200" lvl="0" indent="-323850" algn="l" rtl="0">
              <a:lnSpc>
                <a:spcPct val="90000"/>
              </a:lnSpc>
              <a:spcBef>
                <a:spcPts val="0"/>
              </a:spcBef>
              <a:spcAft>
                <a:spcPts val="0"/>
              </a:spcAft>
              <a:buClr>
                <a:srgbClr val="404040"/>
              </a:buClr>
              <a:buSzPts val="1500"/>
              <a:buChar char="●"/>
            </a:pPr>
            <a:r>
              <a:rPr lang="en" sz="1500">
                <a:solidFill>
                  <a:srgbClr val="404040"/>
                </a:solidFill>
              </a:rPr>
              <a:t>Execution:</a:t>
            </a:r>
            <a:endParaRPr sz="1500">
              <a:solidFill>
                <a:srgbClr val="404040"/>
              </a:solidFill>
            </a:endParaRPr>
          </a:p>
          <a:p>
            <a:pPr marL="914400" lvl="1" indent="-323850" algn="l" rtl="0">
              <a:lnSpc>
                <a:spcPct val="90000"/>
              </a:lnSpc>
              <a:spcBef>
                <a:spcPts val="0"/>
              </a:spcBef>
              <a:spcAft>
                <a:spcPts val="0"/>
              </a:spcAft>
              <a:buClr>
                <a:srgbClr val="404040"/>
              </a:buClr>
              <a:buSzPts val="1500"/>
              <a:buChar char="○"/>
            </a:pPr>
            <a:r>
              <a:rPr lang="en" sz="1500">
                <a:solidFill>
                  <a:srgbClr val="404040"/>
                </a:solidFill>
              </a:rPr>
              <a:t>Malformed packets may not look like an order with intent to cancel – this will give me an information / time advantage</a:t>
            </a:r>
            <a:endParaRPr sz="1500">
              <a:solidFill>
                <a:srgbClr val="404040"/>
              </a:solidFill>
            </a:endParaRPr>
          </a:p>
          <a:p>
            <a:pPr marL="914400" lvl="1" indent="-323850" algn="l" rtl="0">
              <a:lnSpc>
                <a:spcPct val="90000"/>
              </a:lnSpc>
              <a:spcBef>
                <a:spcPts val="0"/>
              </a:spcBef>
              <a:spcAft>
                <a:spcPts val="0"/>
              </a:spcAft>
              <a:buClr>
                <a:srgbClr val="404040"/>
              </a:buClr>
              <a:buSzPts val="1500"/>
              <a:buChar char="○"/>
            </a:pPr>
            <a:r>
              <a:rPr lang="en" sz="1500">
                <a:solidFill>
                  <a:srgbClr val="404040"/>
                </a:solidFill>
              </a:rPr>
              <a:t>“Rule 575, Disruptive Practices Prohibited, prohibits the entering of an order or causing the entry of an order with the intent to cancel the order before execution or to modify the order to avoid execution. This practice is commonly known as spoofing.”</a:t>
            </a:r>
            <a:endParaRPr sz="1500">
              <a:solidFill>
                <a:srgbClr val="404040"/>
              </a:solidFill>
            </a:endParaRPr>
          </a:p>
          <a:p>
            <a:pPr marL="0" lvl="0" indent="0" algn="l" rtl="0">
              <a:lnSpc>
                <a:spcPct val="90000"/>
              </a:lnSpc>
              <a:spcBef>
                <a:spcPts val="1000"/>
              </a:spcBef>
              <a:spcAft>
                <a:spcPts val="0"/>
              </a:spcAft>
              <a:buNone/>
            </a:pPr>
            <a:r>
              <a:rPr lang="en" sz="1500">
                <a:solidFill>
                  <a:srgbClr val="404040"/>
                </a:solidFill>
              </a:rPr>
              <a:t>cmegroup.com</a:t>
            </a:r>
            <a:endParaRPr sz="1500">
              <a:solidFill>
                <a:srgbClr val="404040"/>
              </a:solidFill>
            </a:endParaRPr>
          </a:p>
        </p:txBody>
      </p:sp>
      <p:pic>
        <p:nvPicPr>
          <p:cNvPr id="421" name="Google Shape;421;p65"/>
          <p:cNvPicPr preferRelativeResize="0"/>
          <p:nvPr/>
        </p:nvPicPr>
        <p:blipFill>
          <a:blip r:embed="rId3">
            <a:alphaModFix/>
          </a:blip>
          <a:stretch>
            <a:fillRect/>
          </a:stretch>
        </p:blipFill>
        <p:spPr>
          <a:xfrm>
            <a:off x="167000" y="1683938"/>
            <a:ext cx="3161325" cy="177563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2602</Words>
  <Application>Microsoft Macintosh PowerPoint</Application>
  <PresentationFormat>On-screen Show (16:9)</PresentationFormat>
  <Paragraphs>427</Paragraphs>
  <Slides>38</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38</vt:i4>
      </vt:variant>
    </vt:vector>
  </HeadingPairs>
  <TitlesOfParts>
    <vt:vector size="49" baseType="lpstr">
      <vt:lpstr>Poppins SemiBold</vt:lpstr>
      <vt:lpstr>Arial</vt:lpstr>
      <vt:lpstr>Helvetica Neue Light</vt:lpstr>
      <vt:lpstr>Poppins</vt:lpstr>
      <vt:lpstr>Calibri</vt:lpstr>
      <vt:lpstr>Noto Sans Symbols</vt:lpstr>
      <vt:lpstr>Helvetica Neue</vt:lpstr>
      <vt:lpstr>Poppins Medium</vt:lpstr>
      <vt:lpstr>Montserrat</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The Name Tauroi</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Avi Thaker</cp:lastModifiedBy>
  <cp:revision>1</cp:revision>
  <dcterms:modified xsi:type="dcterms:W3CDTF">2026-07-26T05:25:54Z</dcterms:modified>
</cp:coreProperties>
</file>