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Montserrat"/>
      <p:regular r:id="rId43"/>
      <p:bold r:id="rId44"/>
      <p:italic r:id="rId45"/>
      <p:boldItalic r:id="rId46"/>
    </p:embeddedFont>
    <p:embeddedFont>
      <p:font typeface="Poppins"/>
      <p:regular r:id="rId47"/>
      <p:bold r:id="rId48"/>
      <p:italic r:id="rId49"/>
      <p:boldItalic r:id="rId50"/>
    </p:embeddedFont>
    <p:embeddedFont>
      <p:font typeface="Poppins Medium"/>
      <p:regular r:id="rId51"/>
      <p:bold r:id="rId52"/>
      <p:italic r:id="rId53"/>
      <p:boldItalic r:id="rId54"/>
    </p:embeddedFont>
    <p:embeddedFont>
      <p:font typeface="Helvetica Neue"/>
      <p:regular r:id="rId55"/>
      <p:bold r:id="rId56"/>
      <p:italic r:id="rId57"/>
      <p:boldItalic r:id="rId58"/>
    </p:embeddedFont>
    <p:embeddedFont>
      <p:font typeface="Noto Sans Symbols"/>
      <p:regular r:id="rId59"/>
      <p:bold r:id="rId60"/>
    </p:embeddedFont>
    <p:embeddedFont>
      <p:font typeface="Poppins SemiBold"/>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C82F5D-7F28-4AD3-9396-DA1E2200D94E}">
  <a:tblStyle styleId="{C2C82F5D-7F28-4AD3-9396-DA1E2200D94E}"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E988DE2-97A2-416A-9140-A0211178012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PoppinsSemiBold-bold.fntdata"/><Relationship Id="rId61" Type="http://schemas.openxmlformats.org/officeDocument/2006/relationships/font" Target="fonts/PoppinsSemiBold-regular.fntdata"/><Relationship Id="rId20" Type="http://schemas.openxmlformats.org/officeDocument/2006/relationships/slide" Target="slides/slide13.xml"/><Relationship Id="rId64" Type="http://schemas.openxmlformats.org/officeDocument/2006/relationships/font" Target="fonts/PoppinsSemiBold-boldItalic.fntdata"/><Relationship Id="rId63" Type="http://schemas.openxmlformats.org/officeDocument/2006/relationships/font" Target="fonts/PoppinsSemi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NotoSansSymbols-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oppinsMedium-regular.fntdata"/><Relationship Id="rId50" Type="http://schemas.openxmlformats.org/officeDocument/2006/relationships/font" Target="fonts/Poppins-boldItalic.fntdata"/><Relationship Id="rId53" Type="http://schemas.openxmlformats.org/officeDocument/2006/relationships/font" Target="fonts/PoppinsMedium-italic.fntdata"/><Relationship Id="rId52" Type="http://schemas.openxmlformats.org/officeDocument/2006/relationships/font" Target="fonts/PoppinsMedium-bold.fntdata"/><Relationship Id="rId11" Type="http://schemas.openxmlformats.org/officeDocument/2006/relationships/slide" Target="slides/slide4.xml"/><Relationship Id="rId55" Type="http://schemas.openxmlformats.org/officeDocument/2006/relationships/font" Target="fonts/HelveticaNeue-regular.fntdata"/><Relationship Id="rId10" Type="http://schemas.openxmlformats.org/officeDocument/2006/relationships/slide" Target="slides/slide3.xml"/><Relationship Id="rId54" Type="http://schemas.openxmlformats.org/officeDocument/2006/relationships/font" Target="fonts/PoppinsMedium-boldItalic.fntdata"/><Relationship Id="rId13" Type="http://schemas.openxmlformats.org/officeDocument/2006/relationships/slide" Target="slides/slide6.xml"/><Relationship Id="rId57" Type="http://schemas.openxmlformats.org/officeDocument/2006/relationships/font" Target="fonts/HelveticaNeue-italic.fntdata"/><Relationship Id="rId12" Type="http://schemas.openxmlformats.org/officeDocument/2006/relationships/slide" Target="slides/slide5.xml"/><Relationship Id="rId56" Type="http://schemas.openxmlformats.org/officeDocument/2006/relationships/font" Target="fonts/HelveticaNeue-bold.fntdata"/><Relationship Id="rId15" Type="http://schemas.openxmlformats.org/officeDocument/2006/relationships/slide" Target="slides/slide8.xml"/><Relationship Id="rId59" Type="http://schemas.openxmlformats.org/officeDocument/2006/relationships/font" Target="fonts/NotoSansSymbols-regular.fntdata"/><Relationship Id="rId14" Type="http://schemas.openxmlformats.org/officeDocument/2006/relationships/slide" Target="slides/slide7.xml"/><Relationship Id="rId58" Type="http://schemas.openxmlformats.org/officeDocument/2006/relationships/font" Target="fonts/HelveticaNeue-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44a694f44_1_72:notes"/>
          <p:cNvSpPr/>
          <p:nvPr>
            <p:ph idx="2" type="sldImg"/>
          </p:nvPr>
        </p:nvSpPr>
        <p:spPr>
          <a:xfrm>
            <a:off x="2271713" y="1143001"/>
            <a:ext cx="2314575" cy="308746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744a694f44_1_72:notes"/>
          <p:cNvSpPr txBox="1"/>
          <p:nvPr>
            <p:ph idx="1" type="body"/>
          </p:nvPr>
        </p:nvSpPr>
        <p:spPr>
          <a:xfrm>
            <a:off x="685800" y="4399845"/>
            <a:ext cx="5486400" cy="360106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g3744a694f44_1_72:notes"/>
          <p:cNvSpPr txBox="1"/>
          <p:nvPr>
            <p:ph idx="12" type="sldNum"/>
          </p:nvPr>
        </p:nvSpPr>
        <p:spPr>
          <a:xfrm>
            <a:off x="3885010" y="8686800"/>
            <a:ext cx="2971800" cy="45706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760f6f90ec_0_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760f6f90ec_0_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760f6f90ec_0_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760f6f90ec_0_5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760f6f90ec_0_5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3760f6f90ec_0_50: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60f6f90ec_0_8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760f6f90ec_0_8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3760f6f90ec_0_87: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760f6f90ec_0_94: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760f6f90ec_0_94: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g3760f6f90ec_0_94: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60f6f90ec_0_103: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760f6f90ec_0_103: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3760f6f90ec_0_103: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60f6f90ec_0_10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760f6f90ec_0_10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760f6f90ec_0_109: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60f6f90ec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60f6f90ec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60f6f90ec_0_12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760f6f90ec_0_12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g3760f6f90ec_0_12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760f6f90ec_0_13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760f6f90ec_0_13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3760f6f90ec_0_13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760f6f90ec_0_144: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760f6f90ec_0_144: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3760f6f90ec_0_144: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760f6f90ec_0_15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760f6f90ec_0_15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3760f6f90ec_0_15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760f6f90ec_0_158: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760f6f90ec_0_158: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3760f6f90ec_0_158: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760f6f90ec_0_165: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760f6f90ec_0_165: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g3760f6f90ec_0_165: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60f6f90ec_0_17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760f6f90ec_0_17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g3760f6f90ec_0_17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760f6f90ec_0_36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760f6f90ec_0_36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3760f6f90ec_0_369: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760f6f90ec_0_311: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760f6f90ec_0_311: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g3760f6f90ec_0_311: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60f6f90ec_0_18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3760f6f90ec_0_18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760f6f90ec_0_18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60f6f90ec_0_19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760f6f90ec_0_19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760f6f90ec_0_19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760f6f90ec_0_20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760f6f90ec_0_20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3760f6f90ec_0_20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760f6f90ec_0_21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760f6f90ec_0_21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g3760f6f90ec_0_21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760f6f90ec_0_26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760f6f90ec_0_26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g3760f6f90ec_0_269: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760f6f90ec_0_251: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760f6f90ec_0_251: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3760f6f90ec_0_251: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60f6f90ec_0_258: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760f6f90ec_0_258: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760f6f90ec_0_258: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760f6f90ec_0_393: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760f6f90ec_0_393: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760f6f90ec_0_393: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760f6f90ec_0_36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3760f6f90ec_0_36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g3760f6f90ec_0_360: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760f6f90ec_0_37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760f6f90ec_0_37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3760f6f90ec_0_377: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44a694f44_1_27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744a694f44_1_27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3744a694f44_1_270: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7292596267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7292596267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760f6f90ec_0_28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3760f6f90ec_0_28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g3760f6f90ec_0_28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760f6f90ec_0_30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g3760f6f90ec_0_30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g3760f6f90ec_0_30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760f6f90ec_0_32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g3760f6f90ec_0_32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g3760f6f90ec_0_320: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760f6f90ec_0_32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760f6f90ec_0_32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3760f6f90ec_0_327: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760f6f90ec_0_33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760f6f90ec_0_33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g3760f6f90ec_0_339: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760f6f90ec_0_348: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760f6f90ec_0_348: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g3760f6f90ec_0_348: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13.png"/><Relationship Id="rId4" Type="http://schemas.openxmlformats.org/officeDocument/2006/relationships/image" Target="../media/image2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 Id="rId3"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
  <p:cSld name="CUSTOM_2">
    <p:spTree>
      <p:nvGrpSpPr>
        <p:cNvPr id="50" name="Shape 50"/>
        <p:cNvGrpSpPr/>
        <p:nvPr/>
      </p:nvGrpSpPr>
      <p:grpSpPr>
        <a:xfrm>
          <a:off x="0" y="0"/>
          <a:ext cx="0" cy="0"/>
          <a:chOff x="0" y="0"/>
          <a:chExt cx="0" cy="0"/>
        </a:xfrm>
      </p:grpSpPr>
      <p:pic>
        <p:nvPicPr>
          <p:cNvPr descr="AdobeStock_190473635.png" id="51" name="Google Shape;51;p13"/>
          <p:cNvPicPr preferRelativeResize="0"/>
          <p:nvPr/>
        </p:nvPicPr>
        <p:blipFill rotWithShape="1">
          <a:blip r:embed="rId2">
            <a:alphaModFix amt="34460"/>
          </a:blip>
          <a:srcRect b="0" l="703" r="9174" t="9837"/>
          <a:stretch/>
        </p:blipFill>
        <p:spPr>
          <a:xfrm>
            <a:off x="-12275" y="0"/>
            <a:ext cx="9207474" cy="5186002"/>
          </a:xfrm>
          <a:prstGeom prst="rect">
            <a:avLst/>
          </a:prstGeom>
          <a:noFill/>
          <a:ln>
            <a:noFill/>
          </a:ln>
        </p:spPr>
      </p:pic>
      <p:sp>
        <p:nvSpPr>
          <p:cNvPr id="52" name="Google Shape;52;p13"/>
          <p:cNvSpPr txBox="1"/>
          <p:nvPr>
            <p:ph idx="12" type="sldNum"/>
          </p:nvPr>
        </p:nvSpPr>
        <p:spPr>
          <a:xfrm>
            <a:off x="4484637" y="4905375"/>
            <a:ext cx="170100" cy="177000"/>
          </a:xfrm>
          <a:prstGeom prst="rect">
            <a:avLst/>
          </a:prstGeom>
        </p:spPr>
        <p:txBody>
          <a:bodyPr anchorCtr="0" anchor="ctr" bIns="91425" lIns="91425" spcFirstLastPara="1" rIns="91425" wrap="square" tIns="91425">
            <a:normAutofit fontScale="25000" lnSpcReduction="20000"/>
          </a:bodyPr>
          <a:lstStyle>
            <a:lvl1pPr lvl="0">
              <a:buClr>
                <a:srgbClr val="000000"/>
              </a:buClr>
              <a:buSzPts val="900"/>
              <a:buFont typeface="Helvetica Neue Light"/>
              <a:buNone/>
              <a:defRPr>
                <a:solidFill>
                  <a:srgbClr val="B58F36"/>
                </a:solidFill>
              </a:defRPr>
            </a:lvl1pPr>
            <a:lvl2pPr lvl="1">
              <a:buClr>
                <a:srgbClr val="000000"/>
              </a:buClr>
              <a:buSzPts val="900"/>
              <a:buFont typeface="Helvetica Neue Light"/>
              <a:buNone/>
              <a:defRPr>
                <a:solidFill>
                  <a:srgbClr val="B58F36"/>
                </a:solidFill>
              </a:defRPr>
            </a:lvl2pPr>
            <a:lvl3pPr lvl="2">
              <a:buClr>
                <a:srgbClr val="000000"/>
              </a:buClr>
              <a:buSzPts val="900"/>
              <a:buFont typeface="Helvetica Neue Light"/>
              <a:buNone/>
              <a:defRPr>
                <a:solidFill>
                  <a:srgbClr val="B58F36"/>
                </a:solidFill>
              </a:defRPr>
            </a:lvl3pPr>
            <a:lvl4pPr lvl="3">
              <a:buClr>
                <a:srgbClr val="000000"/>
              </a:buClr>
              <a:buSzPts val="900"/>
              <a:buFont typeface="Helvetica Neue Light"/>
              <a:buNone/>
              <a:defRPr>
                <a:solidFill>
                  <a:srgbClr val="B58F36"/>
                </a:solidFill>
              </a:defRPr>
            </a:lvl4pPr>
            <a:lvl5pPr lvl="4">
              <a:buClr>
                <a:srgbClr val="000000"/>
              </a:buClr>
              <a:buSzPts val="900"/>
              <a:buFont typeface="Helvetica Neue Light"/>
              <a:buNone/>
              <a:defRPr>
                <a:solidFill>
                  <a:srgbClr val="B58F36"/>
                </a:solidFill>
              </a:defRPr>
            </a:lvl5pPr>
            <a:lvl6pPr lvl="5">
              <a:buClr>
                <a:srgbClr val="000000"/>
              </a:buClr>
              <a:buSzPts val="900"/>
              <a:buFont typeface="Helvetica Neue Light"/>
              <a:buNone/>
              <a:defRPr>
                <a:solidFill>
                  <a:srgbClr val="B58F36"/>
                </a:solidFill>
              </a:defRPr>
            </a:lvl6pPr>
            <a:lvl7pPr lvl="6">
              <a:buClr>
                <a:srgbClr val="000000"/>
              </a:buClr>
              <a:buSzPts val="900"/>
              <a:buFont typeface="Helvetica Neue Light"/>
              <a:buNone/>
              <a:defRPr>
                <a:solidFill>
                  <a:srgbClr val="B58F36"/>
                </a:solidFill>
              </a:defRPr>
            </a:lvl7pPr>
            <a:lvl8pPr lvl="7">
              <a:buClr>
                <a:srgbClr val="000000"/>
              </a:buClr>
              <a:buSzPts val="900"/>
              <a:buFont typeface="Helvetica Neue Light"/>
              <a:buNone/>
              <a:defRPr>
                <a:solidFill>
                  <a:srgbClr val="B58F36"/>
                </a:solidFill>
              </a:defRPr>
            </a:lvl8pPr>
            <a:lvl9pPr lvl="8">
              <a:buClr>
                <a:srgbClr val="000000"/>
              </a:buClr>
              <a:buSzPts val="900"/>
              <a:buFont typeface="Helvetica Neue Light"/>
              <a:buNone/>
              <a:defRPr>
                <a:solidFill>
                  <a:srgbClr val="B58F36"/>
                </a:solidFill>
              </a:defRPr>
            </a:lvl9pPr>
          </a:lstStyle>
          <a:p>
            <a:pPr indent="0" lvl="0" marL="0" rtl="0" algn="r">
              <a:spcBef>
                <a:spcPts val="0"/>
              </a:spcBef>
              <a:spcAft>
                <a:spcPts val="0"/>
              </a:spcAft>
              <a:buNone/>
            </a:pPr>
            <a:fld id="{00000000-1234-1234-1234-123412341234}" type="slidenum">
              <a:rPr lang="en"/>
              <a:t>‹#›</a:t>
            </a:fld>
            <a:endParaRPr sz="500">
              <a:latin typeface="Arial"/>
              <a:ea typeface="Arial"/>
              <a:cs typeface="Arial"/>
              <a:sym typeface="Arial"/>
            </a:endParaRPr>
          </a:p>
        </p:txBody>
      </p:sp>
      <p:pic>
        <p:nvPicPr>
          <p:cNvPr descr="logo_gold.png" id="53" name="Google Shape;53;p13"/>
          <p:cNvPicPr preferRelativeResize="0"/>
          <p:nvPr/>
        </p:nvPicPr>
        <p:blipFill rotWithShape="1">
          <a:blip r:embed="rId3">
            <a:alphaModFix/>
          </a:blip>
          <a:srcRect b="0" l="0" r="0" t="0"/>
          <a:stretch/>
        </p:blipFill>
        <p:spPr>
          <a:xfrm>
            <a:off x="8545129" y="4597587"/>
            <a:ext cx="495837" cy="430698"/>
          </a:xfrm>
          <a:prstGeom prst="rect">
            <a:avLst/>
          </a:prstGeom>
          <a:noFill/>
          <a:ln>
            <a:noFill/>
          </a:ln>
        </p:spPr>
      </p:pic>
      <p:sp>
        <p:nvSpPr>
          <p:cNvPr id="54" name="Google Shape;54;p13"/>
          <p:cNvSpPr/>
          <p:nvPr/>
        </p:nvSpPr>
        <p:spPr>
          <a:xfrm>
            <a:off x="-50800" y="5064546"/>
            <a:ext cx="9246000" cy="85200"/>
          </a:xfrm>
          <a:prstGeom prst="rect">
            <a:avLst/>
          </a:prstGeom>
          <a:gradFill>
            <a:gsLst>
              <a:gs pos="0">
                <a:srgbClr val="0F2255"/>
              </a:gs>
              <a:gs pos="100000">
                <a:srgbClr val="204586"/>
              </a:gs>
            </a:gsLst>
            <a:lin ang="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cxnSp>
        <p:nvCxnSpPr>
          <p:cNvPr id="55" name="Google Shape;55;p13"/>
          <p:cNvCxnSpPr/>
          <p:nvPr/>
        </p:nvCxnSpPr>
        <p:spPr>
          <a:xfrm>
            <a:off x="-12275" y="553500"/>
            <a:ext cx="1558500" cy="0"/>
          </a:xfrm>
          <a:prstGeom prst="straightConnector1">
            <a:avLst/>
          </a:prstGeom>
          <a:noFill/>
          <a:ln cap="flat" cmpd="sng" w="19050">
            <a:solidFill>
              <a:srgbClr val="204586"/>
            </a:solidFill>
            <a:prstDash val="solid"/>
            <a:miter lim="400000"/>
            <a:headEnd len="sm" w="sm" type="none"/>
            <a:tailEnd len="sm" w="sm" type="none"/>
          </a:ln>
        </p:spPr>
      </p:cxnSp>
      <p:sp>
        <p:nvSpPr>
          <p:cNvPr id="56" name="Google Shape;56;p13"/>
          <p:cNvSpPr txBox="1"/>
          <p:nvPr>
            <p:ph type="title"/>
          </p:nvPr>
        </p:nvSpPr>
        <p:spPr>
          <a:xfrm>
            <a:off x="140125" y="124825"/>
            <a:ext cx="3968700" cy="517200"/>
          </a:xfrm>
          <a:prstGeom prst="rect">
            <a:avLst/>
          </a:prstGeom>
        </p:spPr>
        <p:txBody>
          <a:bodyPr anchorCtr="0" anchor="t" bIns="91425" lIns="91425" spcFirstLastPara="1" rIns="91425" wrap="square" tIns="91425">
            <a:normAutofit/>
          </a:bodyPr>
          <a:lstStyle>
            <a:lvl1pPr lvl="0" algn="l">
              <a:spcBef>
                <a:spcPts val="0"/>
              </a:spcBef>
              <a:spcAft>
                <a:spcPts val="0"/>
              </a:spcAft>
              <a:buClr>
                <a:srgbClr val="B58F36"/>
              </a:buClr>
              <a:buSzPts val="2100"/>
              <a:buNone/>
              <a:defRPr b="1" sz="2100">
                <a:solidFill>
                  <a:srgbClr val="B58F36"/>
                </a:solidFill>
              </a:defRPr>
            </a:lvl1pPr>
            <a:lvl2pPr lvl="1">
              <a:spcBef>
                <a:spcPts val="0"/>
              </a:spcBef>
              <a:spcAft>
                <a:spcPts val="0"/>
              </a:spcAft>
              <a:buSzPts val="2800"/>
              <a:buNone/>
              <a:defRPr>
                <a:highlight>
                  <a:srgbClr val="B58F36"/>
                </a:highlight>
              </a:defRPr>
            </a:lvl2pPr>
            <a:lvl3pPr lvl="2">
              <a:spcBef>
                <a:spcPts val="0"/>
              </a:spcBef>
              <a:spcAft>
                <a:spcPts val="0"/>
              </a:spcAft>
              <a:buSzPts val="2800"/>
              <a:buNone/>
              <a:defRPr>
                <a:highlight>
                  <a:srgbClr val="B58F36"/>
                </a:highlight>
              </a:defRPr>
            </a:lvl3pPr>
            <a:lvl4pPr lvl="3">
              <a:spcBef>
                <a:spcPts val="0"/>
              </a:spcBef>
              <a:spcAft>
                <a:spcPts val="0"/>
              </a:spcAft>
              <a:buSzPts val="2800"/>
              <a:buNone/>
              <a:defRPr>
                <a:highlight>
                  <a:srgbClr val="B58F36"/>
                </a:highlight>
              </a:defRPr>
            </a:lvl4pPr>
            <a:lvl5pPr lvl="4">
              <a:spcBef>
                <a:spcPts val="0"/>
              </a:spcBef>
              <a:spcAft>
                <a:spcPts val="0"/>
              </a:spcAft>
              <a:buSzPts val="2800"/>
              <a:buNone/>
              <a:defRPr>
                <a:highlight>
                  <a:srgbClr val="B58F36"/>
                </a:highlight>
              </a:defRPr>
            </a:lvl5pPr>
            <a:lvl6pPr lvl="5">
              <a:spcBef>
                <a:spcPts val="0"/>
              </a:spcBef>
              <a:spcAft>
                <a:spcPts val="0"/>
              </a:spcAft>
              <a:buSzPts val="2800"/>
              <a:buNone/>
              <a:defRPr>
                <a:highlight>
                  <a:srgbClr val="B58F36"/>
                </a:highlight>
              </a:defRPr>
            </a:lvl6pPr>
            <a:lvl7pPr lvl="6">
              <a:spcBef>
                <a:spcPts val="0"/>
              </a:spcBef>
              <a:spcAft>
                <a:spcPts val="0"/>
              </a:spcAft>
              <a:buSzPts val="2800"/>
              <a:buNone/>
              <a:defRPr>
                <a:highlight>
                  <a:srgbClr val="B58F36"/>
                </a:highlight>
              </a:defRPr>
            </a:lvl7pPr>
            <a:lvl8pPr lvl="7">
              <a:spcBef>
                <a:spcPts val="0"/>
              </a:spcBef>
              <a:spcAft>
                <a:spcPts val="0"/>
              </a:spcAft>
              <a:buSzPts val="2800"/>
              <a:buNone/>
              <a:defRPr>
                <a:highlight>
                  <a:srgbClr val="B58F36"/>
                </a:highlight>
              </a:defRPr>
            </a:lvl8pPr>
            <a:lvl9pPr lvl="8">
              <a:spcBef>
                <a:spcPts val="0"/>
              </a:spcBef>
              <a:spcAft>
                <a:spcPts val="0"/>
              </a:spcAft>
              <a:buSzPts val="2800"/>
              <a:buNone/>
              <a:defRPr>
                <a:highlight>
                  <a:srgbClr val="B58F36"/>
                </a:highlight>
              </a:defRPr>
            </a:lvl9pPr>
          </a:lstStyle>
          <a:p/>
        </p:txBody>
      </p:sp>
      <p:sp>
        <p:nvSpPr>
          <p:cNvPr id="57" name="Google Shape;57;p13"/>
          <p:cNvSpPr txBox="1"/>
          <p:nvPr>
            <p:ph idx="1" type="body"/>
          </p:nvPr>
        </p:nvSpPr>
        <p:spPr>
          <a:xfrm>
            <a:off x="195225" y="745125"/>
            <a:ext cx="4289400" cy="17655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204586"/>
              </a:buClr>
              <a:buSzPts val="1800"/>
              <a:buChar char="●"/>
              <a:defRPr>
                <a:solidFill>
                  <a:srgbClr val="204586"/>
                </a:solidFill>
              </a:defRPr>
            </a:lvl1pPr>
            <a:lvl2pPr indent="-349250" lvl="1" marL="914400">
              <a:spcBef>
                <a:spcPts val="1200"/>
              </a:spcBef>
              <a:spcAft>
                <a:spcPts val="0"/>
              </a:spcAft>
              <a:buSzPts val="1900"/>
              <a:buChar char="○"/>
              <a:defRPr sz="1400"/>
            </a:lvl2pPr>
            <a:lvl3pPr indent="-317500" lvl="2" marL="1371600">
              <a:spcBef>
                <a:spcPts val="1200"/>
              </a:spcBef>
              <a:spcAft>
                <a:spcPts val="0"/>
              </a:spcAft>
              <a:buSzPts val="1400"/>
              <a:buChar char="■"/>
              <a:defRPr sz="1400"/>
            </a:lvl3pPr>
            <a:lvl4pPr indent="-317500" lvl="3" marL="1828800">
              <a:spcBef>
                <a:spcPts val="1200"/>
              </a:spcBef>
              <a:spcAft>
                <a:spcPts val="0"/>
              </a:spcAft>
              <a:buSzPts val="1400"/>
              <a:buChar char="●"/>
              <a:defRPr sz="1400"/>
            </a:lvl4pPr>
            <a:lvl5pPr indent="-317500" lvl="4" marL="2286000">
              <a:spcBef>
                <a:spcPts val="1200"/>
              </a:spcBef>
              <a:spcAft>
                <a:spcPts val="0"/>
              </a:spcAft>
              <a:buSzPts val="1400"/>
              <a:buChar char="○"/>
              <a:defRPr sz="1400"/>
            </a:lvl5pPr>
            <a:lvl6pPr indent="-317500" lvl="5" marL="2743200">
              <a:spcBef>
                <a:spcPts val="1200"/>
              </a:spcBef>
              <a:spcAft>
                <a:spcPts val="0"/>
              </a:spcAft>
              <a:buSzPts val="1400"/>
              <a:buChar char="■"/>
              <a:defRPr sz="1400"/>
            </a:lvl6pPr>
            <a:lvl7pPr indent="-317500" lvl="6" marL="3200400">
              <a:spcBef>
                <a:spcPts val="1200"/>
              </a:spcBef>
              <a:spcAft>
                <a:spcPts val="0"/>
              </a:spcAft>
              <a:buSzPts val="1400"/>
              <a:buChar char="●"/>
              <a:defRPr sz="1400"/>
            </a:lvl7pPr>
            <a:lvl8pPr indent="-317500" lvl="7" marL="3657600">
              <a:spcBef>
                <a:spcPts val="1200"/>
              </a:spcBef>
              <a:spcAft>
                <a:spcPts val="0"/>
              </a:spcAft>
              <a:buSzPts val="1400"/>
              <a:buChar char="○"/>
              <a:defRPr sz="1400"/>
            </a:lvl8pPr>
            <a:lvl9pPr indent="-317500" lvl="8" marL="4114800">
              <a:spcBef>
                <a:spcPts val="1200"/>
              </a:spcBef>
              <a:spcAft>
                <a:spcPts val="1200"/>
              </a:spcAft>
              <a:buSzPts val="1400"/>
              <a:buChar char="■"/>
              <a:defRPr sz="1400"/>
            </a:lvl9pPr>
          </a:lstStyle>
          <a:p/>
        </p:txBody>
      </p:sp>
      <p:pic>
        <p:nvPicPr>
          <p:cNvPr id="58" name="Google Shape;58;p13"/>
          <p:cNvPicPr preferRelativeResize="0"/>
          <p:nvPr/>
        </p:nvPicPr>
        <p:blipFill>
          <a:blip r:embed="rId4">
            <a:alphaModFix/>
          </a:blip>
          <a:stretch>
            <a:fillRect/>
          </a:stretch>
        </p:blipFill>
        <p:spPr>
          <a:xfrm>
            <a:off x="0" y="0"/>
            <a:ext cx="9144003" cy="514350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5"/>
          <p:cNvSpPr txBox="1"/>
          <p:nvPr>
            <p:ph type="title"/>
          </p:nvPr>
        </p:nvSpPr>
        <p:spPr>
          <a:xfrm>
            <a:off x="6226576" y="451629"/>
            <a:ext cx="280034" cy="6356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 type="body"/>
          </p:nvPr>
        </p:nvSpPr>
        <p:spPr>
          <a:xfrm>
            <a:off x="560831" y="1502955"/>
            <a:ext cx="8022336" cy="291401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1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8" name="Google Shape;68;p15"/>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5"/>
          <p:cNvSpPr txBox="1"/>
          <p:nvPr>
            <p:ph idx="10" type="dt"/>
          </p:nvPr>
        </p:nvSpPr>
        <p:spPr>
          <a:xfrm>
            <a:off x="7634430" y="4799164"/>
            <a:ext cx="1176654"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p:cSld name="Blank_1">
    <p:bg>
      <p:bgPr>
        <a:blipFill>
          <a:blip r:embed="rId2">
            <a:alphaModFix/>
          </a:blip>
          <a:stretch>
            <a:fillRect/>
          </a:stretch>
        </a:blipFill>
      </p:bgPr>
    </p:bg>
    <p:spTree>
      <p:nvGrpSpPr>
        <p:cNvPr id="71" name="Shape 71"/>
        <p:cNvGrpSpPr/>
        <p:nvPr/>
      </p:nvGrpSpPr>
      <p:grpSpPr>
        <a:xfrm>
          <a:off x="0" y="0"/>
          <a:ext cx="0" cy="0"/>
          <a:chOff x="0" y="0"/>
          <a:chExt cx="0" cy="0"/>
        </a:xfrm>
      </p:grpSpPr>
      <p:pic>
        <p:nvPicPr>
          <p:cNvPr id="72" name="Google Shape;72;p16"/>
          <p:cNvPicPr preferRelativeResize="0"/>
          <p:nvPr/>
        </p:nvPicPr>
        <p:blipFill rotWithShape="1">
          <a:blip r:embed="rId3">
            <a:alphaModFix/>
          </a:blip>
          <a:srcRect b="2883" l="0" r="0" t="2883"/>
          <a:stretch/>
        </p:blipFill>
        <p:spPr>
          <a:xfrm>
            <a:off x="408425" y="4595551"/>
            <a:ext cx="2118301" cy="22793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1 1 1" showMasterSp="0">
  <p:cSld name="Blank_1_1_1_1_1_1">
    <p:bg>
      <p:bgPr>
        <a:solidFill>
          <a:schemeClr val="lt1"/>
        </a:solidFill>
      </p:bgPr>
    </p:bg>
    <p:spTree>
      <p:nvGrpSpPr>
        <p:cNvPr id="73" name="Shape 73"/>
        <p:cNvGrpSpPr/>
        <p:nvPr/>
      </p:nvGrpSpPr>
      <p:grpSpPr>
        <a:xfrm>
          <a:off x="0" y="0"/>
          <a:ext cx="0" cy="0"/>
          <a:chOff x="0" y="0"/>
          <a:chExt cx="0" cy="0"/>
        </a:xfrm>
      </p:grpSpPr>
      <p:pic>
        <p:nvPicPr>
          <p:cNvPr id="74" name="Google Shape;74;p17"/>
          <p:cNvPicPr preferRelativeResize="0"/>
          <p:nvPr/>
        </p:nvPicPr>
        <p:blipFill rotWithShape="1">
          <a:blip r:embed="rId2">
            <a:alphaModFix/>
          </a:blip>
          <a:srcRect b="1458" l="1767" r="1126" t="0"/>
          <a:stretch/>
        </p:blipFill>
        <p:spPr>
          <a:xfrm>
            <a:off x="-151954" y="-66150"/>
            <a:ext cx="9473060" cy="5271769"/>
          </a:xfrm>
          <a:prstGeom prst="rect">
            <a:avLst/>
          </a:prstGeom>
          <a:solidFill>
            <a:srgbClr val="141138"/>
          </a:solidFill>
          <a:ln>
            <a:noFill/>
          </a:ln>
        </p:spPr>
      </p:pic>
      <p:sp>
        <p:nvSpPr>
          <p:cNvPr id="75" name="Google Shape;75;p17"/>
          <p:cNvSpPr/>
          <p:nvPr/>
        </p:nvSpPr>
        <p:spPr>
          <a:xfrm>
            <a:off x="-151950" y="-64200"/>
            <a:ext cx="9473100" cy="5271900"/>
          </a:xfrm>
          <a:prstGeom prst="rect">
            <a:avLst/>
          </a:prstGeom>
          <a:solidFill>
            <a:srgbClr val="141138">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pic>
        <p:nvPicPr>
          <p:cNvPr id="76" name="Google Shape;76;p17"/>
          <p:cNvPicPr preferRelativeResize="0"/>
          <p:nvPr/>
        </p:nvPicPr>
        <p:blipFill rotWithShape="1">
          <a:blip r:embed="rId3">
            <a:alphaModFix/>
          </a:blip>
          <a:srcRect b="2883" l="0" r="0" t="2883"/>
          <a:stretch/>
        </p:blipFill>
        <p:spPr>
          <a:xfrm>
            <a:off x="408425" y="4595551"/>
            <a:ext cx="2118301" cy="22793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1" showMasterSp="0">
  <p:cSld name="Blank_2_1">
    <p:bg>
      <p:bgPr>
        <a:solidFill>
          <a:schemeClr val="lt1"/>
        </a:solidFill>
      </p:bgPr>
    </p:bg>
    <p:spTree>
      <p:nvGrpSpPr>
        <p:cNvPr id="77" name="Shape 77"/>
        <p:cNvGrpSpPr/>
        <p:nvPr/>
      </p:nvGrpSpPr>
      <p:grpSpPr>
        <a:xfrm>
          <a:off x="0" y="0"/>
          <a:ext cx="0" cy="0"/>
          <a:chOff x="0" y="0"/>
          <a:chExt cx="0" cy="0"/>
        </a:xfrm>
      </p:grpSpPr>
      <p:sp>
        <p:nvSpPr>
          <p:cNvPr id="78" name="Google Shape;78;p18"/>
          <p:cNvSpPr txBox="1"/>
          <p:nvPr>
            <p:ph idx="11" type="ftr"/>
          </p:nvPr>
        </p:nvSpPr>
        <p:spPr>
          <a:xfrm>
            <a:off x="679094" y="4799096"/>
            <a:ext cx="3591000" cy="196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8"/>
          <p:cNvSpPr txBox="1"/>
          <p:nvPr>
            <p:ph idx="12" type="sldNum"/>
          </p:nvPr>
        </p:nvSpPr>
        <p:spPr>
          <a:xfrm>
            <a:off x="6596930" y="471810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9pPr>
          </a:lstStyle>
          <a:p>
            <a:pPr indent="0" lvl="0" marL="0" rtl="0" algn="r">
              <a:spcBef>
                <a:spcPts val="0"/>
              </a:spcBef>
              <a:spcAft>
                <a:spcPts val="0"/>
              </a:spcAft>
              <a:buNone/>
            </a:pPr>
            <a:fld id="{00000000-1234-1234-1234-123412341234}" type="slidenum">
              <a:rPr lang="en"/>
              <a:t>‹#›</a:t>
            </a:fld>
            <a:endParaRPr/>
          </a:p>
        </p:txBody>
      </p:sp>
      <p:pic>
        <p:nvPicPr>
          <p:cNvPr id="80" name="Google Shape;80;p18"/>
          <p:cNvPicPr preferRelativeResize="0"/>
          <p:nvPr/>
        </p:nvPicPr>
        <p:blipFill rotWithShape="1">
          <a:blip r:embed="rId2">
            <a:alphaModFix/>
          </a:blip>
          <a:srcRect b="7286" l="0" r="0" t="7286"/>
          <a:stretch/>
        </p:blipFill>
        <p:spPr>
          <a:xfrm>
            <a:off x="408425" y="4595551"/>
            <a:ext cx="2118301" cy="22793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showMasterSp="0">
  <p:cSld name="Blank_2">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19"/>
          <p:cNvSpPr txBox="1"/>
          <p:nvPr>
            <p:ph idx="11" type="ftr"/>
          </p:nvPr>
        </p:nvSpPr>
        <p:spPr>
          <a:xfrm>
            <a:off x="679094" y="4799096"/>
            <a:ext cx="3591000" cy="196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9"/>
          <p:cNvSpPr txBox="1"/>
          <p:nvPr>
            <p:ph idx="12" type="sldNum"/>
          </p:nvPr>
        </p:nvSpPr>
        <p:spPr>
          <a:xfrm>
            <a:off x="6596930" y="471810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9pPr>
          </a:lstStyle>
          <a:p>
            <a:pPr indent="0" lvl="0" marL="0" rtl="0" algn="r">
              <a:spcBef>
                <a:spcPts val="0"/>
              </a:spcBef>
              <a:spcAft>
                <a:spcPts val="0"/>
              </a:spcAft>
              <a:buNone/>
            </a:pPr>
            <a:fld id="{00000000-1234-1234-1234-123412341234}" type="slidenum">
              <a:rPr lang="en"/>
              <a:t>‹#›</a:t>
            </a:fld>
            <a:endParaRPr/>
          </a:p>
        </p:txBody>
      </p:sp>
      <p:pic>
        <p:nvPicPr>
          <p:cNvPr id="84" name="Google Shape;84;p19"/>
          <p:cNvPicPr preferRelativeResize="0"/>
          <p:nvPr/>
        </p:nvPicPr>
        <p:blipFill rotWithShape="1">
          <a:blip r:embed="rId3">
            <a:alphaModFix/>
          </a:blip>
          <a:srcRect b="7286" l="0" r="0" t="7286"/>
          <a:stretch/>
        </p:blipFill>
        <p:spPr>
          <a:xfrm>
            <a:off x="408425" y="4595551"/>
            <a:ext cx="2118301" cy="22793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1" showMasterSp="0">
  <p:cSld name="Blank_1_1_1_1">
    <p:bg>
      <p:bgPr>
        <a:solidFill>
          <a:schemeClr val="lt1"/>
        </a:solidFill>
      </p:bgPr>
    </p:bg>
    <p:spTree>
      <p:nvGrpSpPr>
        <p:cNvPr id="85" name="Shape 85"/>
        <p:cNvGrpSpPr/>
        <p:nvPr/>
      </p:nvGrpSpPr>
      <p:grpSpPr>
        <a:xfrm>
          <a:off x="0" y="0"/>
          <a:ext cx="0" cy="0"/>
          <a:chOff x="0" y="0"/>
          <a:chExt cx="0" cy="0"/>
        </a:xfrm>
      </p:grpSpPr>
      <p:sp>
        <p:nvSpPr>
          <p:cNvPr id="86" name="Google Shape;86;p20"/>
          <p:cNvSpPr/>
          <p:nvPr/>
        </p:nvSpPr>
        <p:spPr>
          <a:xfrm>
            <a:off x="0" y="100"/>
            <a:ext cx="2809800" cy="5143500"/>
          </a:xfrm>
          <a:prstGeom prst="rect">
            <a:avLst/>
          </a:prstGeom>
          <a:solidFill>
            <a:srgbClr val="141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pic>
        <p:nvPicPr>
          <p:cNvPr id="87" name="Google Shape;87;p20"/>
          <p:cNvPicPr preferRelativeResize="0"/>
          <p:nvPr/>
        </p:nvPicPr>
        <p:blipFill rotWithShape="1">
          <a:blip r:embed="rId2">
            <a:alphaModFix/>
          </a:blip>
          <a:srcRect b="2883" l="0" r="0" t="2883"/>
          <a:stretch/>
        </p:blipFill>
        <p:spPr>
          <a:xfrm>
            <a:off x="408425" y="4595551"/>
            <a:ext cx="2118301" cy="22793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1 1" showMasterSp="0">
  <p:cSld name="Blank_1_1_1_1_1">
    <p:bg>
      <p:bgPr>
        <a:solidFill>
          <a:schemeClr val="lt1"/>
        </a:solidFill>
      </p:bgPr>
    </p:bg>
    <p:spTree>
      <p:nvGrpSpPr>
        <p:cNvPr id="88" name="Shape 88"/>
        <p:cNvGrpSpPr/>
        <p:nvPr/>
      </p:nvGrpSpPr>
      <p:grpSpPr>
        <a:xfrm>
          <a:off x="0" y="0"/>
          <a:ext cx="0" cy="0"/>
          <a:chOff x="0" y="0"/>
          <a:chExt cx="0" cy="0"/>
        </a:xfrm>
      </p:grpSpPr>
      <p:pic>
        <p:nvPicPr>
          <p:cNvPr id="89" name="Google Shape;89;p21"/>
          <p:cNvPicPr preferRelativeResize="0"/>
          <p:nvPr/>
        </p:nvPicPr>
        <p:blipFill rotWithShape="1">
          <a:blip r:embed="rId2">
            <a:alphaModFix/>
          </a:blip>
          <a:srcRect b="0" l="34448" r="34448" t="0"/>
          <a:stretch/>
        </p:blipFill>
        <p:spPr>
          <a:xfrm>
            <a:off x="0" y="0"/>
            <a:ext cx="2809800" cy="5143500"/>
          </a:xfrm>
          <a:prstGeom prst="rect">
            <a:avLst/>
          </a:prstGeom>
          <a:solidFill>
            <a:srgbClr val="141138"/>
          </a:solidFill>
          <a:ln>
            <a:noFill/>
          </a:ln>
        </p:spPr>
      </p:pic>
      <p:sp>
        <p:nvSpPr>
          <p:cNvPr id="90" name="Google Shape;90;p21"/>
          <p:cNvSpPr/>
          <p:nvPr/>
        </p:nvSpPr>
        <p:spPr>
          <a:xfrm>
            <a:off x="0" y="0"/>
            <a:ext cx="2809800" cy="5143500"/>
          </a:xfrm>
          <a:prstGeom prst="rect">
            <a:avLst/>
          </a:prstGeom>
          <a:solidFill>
            <a:srgbClr val="141138">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pic>
        <p:nvPicPr>
          <p:cNvPr id="91" name="Google Shape;91;p21"/>
          <p:cNvPicPr preferRelativeResize="0"/>
          <p:nvPr/>
        </p:nvPicPr>
        <p:blipFill rotWithShape="1">
          <a:blip r:embed="rId3">
            <a:alphaModFix/>
          </a:blip>
          <a:srcRect b="2883" l="0" r="0" t="2883"/>
          <a:stretch/>
        </p:blipFill>
        <p:spPr>
          <a:xfrm>
            <a:off x="408425" y="4595551"/>
            <a:ext cx="2118301" cy="227934"/>
          </a:xfrm>
          <a:prstGeom prst="rect">
            <a:avLst/>
          </a:prstGeom>
          <a:noFill/>
          <a:ln>
            <a:noFill/>
          </a:ln>
        </p:spPr>
      </p:pic>
      <p:sp>
        <p:nvSpPr>
          <p:cNvPr id="92" name="Google Shape;92;p21"/>
          <p:cNvSpPr/>
          <p:nvPr/>
        </p:nvSpPr>
        <p:spPr>
          <a:xfrm>
            <a:off x="2809800" y="100"/>
            <a:ext cx="6596100" cy="5143500"/>
          </a:xfrm>
          <a:prstGeom prst="rect">
            <a:avLst/>
          </a:prstGeom>
          <a:solidFill>
            <a:srgbClr val="141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93" name="Shape 93"/>
        <p:cNvGrpSpPr/>
        <p:nvPr/>
      </p:nvGrpSpPr>
      <p:grpSpPr>
        <a:xfrm>
          <a:off x="0" y="0"/>
          <a:ext cx="0" cy="0"/>
          <a:chOff x="0" y="0"/>
          <a:chExt cx="0" cy="0"/>
        </a:xfrm>
      </p:grpSpPr>
      <p:pic>
        <p:nvPicPr>
          <p:cNvPr id="94" name="Google Shape;94;p22"/>
          <p:cNvPicPr preferRelativeResize="0"/>
          <p:nvPr/>
        </p:nvPicPr>
        <p:blipFill rotWithShape="1">
          <a:blip r:embed="rId2">
            <a:alphaModFix/>
          </a:blip>
          <a:srcRect b="0" l="0" r="0" t="0"/>
          <a:stretch/>
        </p:blipFill>
        <p:spPr>
          <a:xfrm>
            <a:off x="0" y="0"/>
            <a:ext cx="9143999" cy="4667250"/>
          </a:xfrm>
          <a:prstGeom prst="rect">
            <a:avLst/>
          </a:prstGeom>
          <a:noFill/>
          <a:ln>
            <a:noFill/>
          </a:ln>
        </p:spPr>
      </p:pic>
      <p:sp>
        <p:nvSpPr>
          <p:cNvPr id="95" name="Google Shape;95;p22"/>
          <p:cNvSpPr txBox="1"/>
          <p:nvPr>
            <p:ph type="title"/>
          </p:nvPr>
        </p:nvSpPr>
        <p:spPr>
          <a:xfrm>
            <a:off x="6226576" y="451629"/>
            <a:ext cx="280034" cy="6356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2"/>
          <p:cNvSpPr txBox="1"/>
          <p:nvPr>
            <p:ph idx="1" type="body"/>
          </p:nvPr>
        </p:nvSpPr>
        <p:spPr>
          <a:xfrm>
            <a:off x="407349" y="1131788"/>
            <a:ext cx="3754120" cy="352996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7" name="Google Shape;97;p22"/>
          <p:cNvSpPr txBox="1"/>
          <p:nvPr>
            <p:ph idx="2" type="body"/>
          </p:nvPr>
        </p:nvSpPr>
        <p:spPr>
          <a:xfrm>
            <a:off x="4707866" y="1151652"/>
            <a:ext cx="3781425" cy="338962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8" name="Google Shape;98;p22"/>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2"/>
          <p:cNvSpPr txBox="1"/>
          <p:nvPr>
            <p:ph idx="10" type="dt"/>
          </p:nvPr>
        </p:nvSpPr>
        <p:spPr>
          <a:xfrm>
            <a:off x="7634430" y="4799164"/>
            <a:ext cx="1176654"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rgbClr val="B398FF">
            <a:alpha val="11373"/>
          </a:srgbClr>
        </a:solidFill>
      </p:bgPr>
    </p:bg>
    <p:spTree>
      <p:nvGrpSpPr>
        <p:cNvPr id="101" name="Shape 101"/>
        <p:cNvGrpSpPr/>
        <p:nvPr/>
      </p:nvGrpSpPr>
      <p:grpSpPr>
        <a:xfrm>
          <a:off x="0" y="0"/>
          <a:ext cx="0" cy="0"/>
          <a:chOff x="0" y="0"/>
          <a:chExt cx="0" cy="0"/>
        </a:xfrm>
      </p:grpSpPr>
      <p:sp>
        <p:nvSpPr>
          <p:cNvPr id="102" name="Google Shape;102;p23"/>
          <p:cNvSpPr txBox="1"/>
          <p:nvPr>
            <p:ph idx="12" type="sldNum"/>
          </p:nvPr>
        </p:nvSpPr>
        <p:spPr>
          <a:xfrm>
            <a:off x="6596930" y="471810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showMasterSp="0">
  <p:cSld name="Blank_1_1">
    <p:bg>
      <p:bgPr>
        <a:blipFill>
          <a:blip r:embed="rId2">
            <a:alphaModFix/>
          </a:blip>
          <a:stretch>
            <a:fillRect/>
          </a:stretch>
        </a:blipFill>
      </p:bgPr>
    </p:bg>
    <p:spTree>
      <p:nvGrpSpPr>
        <p:cNvPr id="103" name="Shape 103"/>
        <p:cNvGrpSpPr/>
        <p:nvPr/>
      </p:nvGrpSpPr>
      <p:grpSpPr>
        <a:xfrm>
          <a:off x="0" y="0"/>
          <a:ext cx="0" cy="0"/>
          <a:chOff x="0" y="0"/>
          <a:chExt cx="0" cy="0"/>
        </a:xfrm>
      </p:grpSpPr>
      <p:pic>
        <p:nvPicPr>
          <p:cNvPr id="104" name="Google Shape;104;p24"/>
          <p:cNvPicPr preferRelativeResize="0"/>
          <p:nvPr/>
        </p:nvPicPr>
        <p:blipFill rotWithShape="1">
          <a:blip r:embed="rId3">
            <a:alphaModFix/>
          </a:blip>
          <a:srcRect b="2883" l="0" r="0" t="2883"/>
          <a:stretch/>
        </p:blipFill>
        <p:spPr>
          <a:xfrm>
            <a:off x="408425" y="4595551"/>
            <a:ext cx="2118301" cy="22793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showMasterSp="0">
  <p:cSld name="Blank_1_1_1">
    <p:bg>
      <p:bgPr>
        <a:solidFill>
          <a:schemeClr val="lt1"/>
        </a:solidFill>
      </p:bgPr>
    </p:bg>
    <p:spTree>
      <p:nvGrpSpPr>
        <p:cNvPr id="105" name="Shape 105"/>
        <p:cNvGrpSpPr/>
        <p:nvPr/>
      </p:nvGrpSpPr>
      <p:grpSpPr>
        <a:xfrm>
          <a:off x="0" y="0"/>
          <a:ext cx="0" cy="0"/>
          <a:chOff x="0" y="0"/>
          <a:chExt cx="0" cy="0"/>
        </a:xfrm>
      </p:grpSpPr>
      <p:sp>
        <p:nvSpPr>
          <p:cNvPr id="106" name="Google Shape;106;p25"/>
          <p:cNvSpPr/>
          <p:nvPr/>
        </p:nvSpPr>
        <p:spPr>
          <a:xfrm>
            <a:off x="0" y="100"/>
            <a:ext cx="2809800" cy="5143500"/>
          </a:xfrm>
          <a:prstGeom prst="rect">
            <a:avLst/>
          </a:prstGeom>
          <a:solidFill>
            <a:srgbClr val="141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pic>
        <p:nvPicPr>
          <p:cNvPr id="107" name="Google Shape;107;p25"/>
          <p:cNvPicPr preferRelativeResize="0"/>
          <p:nvPr/>
        </p:nvPicPr>
        <p:blipFill rotWithShape="1">
          <a:blip r:embed="rId2">
            <a:alphaModFix/>
          </a:blip>
          <a:srcRect b="2883" l="0" r="0" t="2883"/>
          <a:stretch/>
        </p:blipFill>
        <p:spPr>
          <a:xfrm>
            <a:off x="408425" y="4595551"/>
            <a:ext cx="2118301" cy="227934"/>
          </a:xfrm>
          <a:prstGeom prst="rect">
            <a:avLst/>
          </a:prstGeom>
          <a:noFill/>
          <a:ln>
            <a:noFill/>
          </a:ln>
        </p:spPr>
      </p:pic>
      <p:sp>
        <p:nvSpPr>
          <p:cNvPr id="108" name="Google Shape;108;p25"/>
          <p:cNvSpPr txBox="1"/>
          <p:nvPr>
            <p:ph type="title"/>
          </p:nvPr>
        </p:nvSpPr>
        <p:spPr>
          <a:xfrm>
            <a:off x="436575" y="463025"/>
            <a:ext cx="2063700" cy="873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Font typeface="Montserrat"/>
              <a:buNone/>
              <a:defRPr b="1" sz="2800">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1 2" showMasterSp="0">
  <p:cSld name="Blank_1_1_1_1_2">
    <p:bg>
      <p:bgPr>
        <a:solidFill>
          <a:schemeClr val="lt1"/>
        </a:solidFill>
      </p:bgPr>
    </p:bg>
    <p:spTree>
      <p:nvGrpSpPr>
        <p:cNvPr id="109" name="Shape 109"/>
        <p:cNvGrpSpPr/>
        <p:nvPr/>
      </p:nvGrpSpPr>
      <p:grpSpPr>
        <a:xfrm>
          <a:off x="0" y="0"/>
          <a:ext cx="0" cy="0"/>
          <a:chOff x="0" y="0"/>
          <a:chExt cx="0" cy="0"/>
        </a:xfrm>
      </p:grpSpPr>
      <p:sp>
        <p:nvSpPr>
          <p:cNvPr id="110" name="Google Shape;110;p26"/>
          <p:cNvSpPr/>
          <p:nvPr/>
        </p:nvSpPr>
        <p:spPr>
          <a:xfrm>
            <a:off x="4506450" y="100"/>
            <a:ext cx="4648200" cy="1600200"/>
          </a:xfrm>
          <a:prstGeom prst="rect">
            <a:avLst/>
          </a:prstGeom>
          <a:solidFill>
            <a:srgbClr val="271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6"/>
          <p:cNvSpPr/>
          <p:nvPr/>
        </p:nvSpPr>
        <p:spPr>
          <a:xfrm>
            <a:off x="4582650" y="1609725"/>
            <a:ext cx="4572000" cy="3533700"/>
          </a:xfrm>
          <a:prstGeom prst="rect">
            <a:avLst/>
          </a:prstGeom>
          <a:solidFill>
            <a:srgbClr val="B398FF">
              <a:alpha val="1137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6"/>
          <p:cNvSpPr/>
          <p:nvPr/>
        </p:nvSpPr>
        <p:spPr>
          <a:xfrm>
            <a:off x="-1225" y="100"/>
            <a:ext cx="4572000" cy="1600200"/>
          </a:xfrm>
          <a:prstGeom prst="rect">
            <a:avLst/>
          </a:prstGeom>
          <a:solidFill>
            <a:srgbClr val="141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3" name="Google Shape;113;p26"/>
          <p:cNvPicPr preferRelativeResize="0"/>
          <p:nvPr/>
        </p:nvPicPr>
        <p:blipFill rotWithShape="1">
          <a:blip r:embed="rId2">
            <a:alphaModFix/>
          </a:blip>
          <a:srcRect b="7286" l="0" r="0" t="7286"/>
          <a:stretch/>
        </p:blipFill>
        <p:spPr>
          <a:xfrm>
            <a:off x="408425" y="4595551"/>
            <a:ext cx="2118301" cy="22793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4" name="Shape 114"/>
        <p:cNvGrpSpPr/>
        <p:nvPr/>
      </p:nvGrpSpPr>
      <p:grpSpPr>
        <a:xfrm>
          <a:off x="0" y="0"/>
          <a:ext cx="0" cy="0"/>
          <a:chOff x="0" y="0"/>
          <a:chExt cx="0" cy="0"/>
        </a:xfrm>
      </p:grpSpPr>
      <p:sp>
        <p:nvSpPr>
          <p:cNvPr id="115" name="Google Shape;115;p27"/>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7"/>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17" name="Google Shape;117;p27"/>
          <p:cNvPicPr preferRelativeResize="0"/>
          <p:nvPr/>
        </p:nvPicPr>
        <p:blipFill rotWithShape="1">
          <a:blip r:embed="rId3">
            <a:alphaModFix/>
          </a:blip>
          <a:srcRect b="7286" l="0" r="0" t="7286"/>
          <a:stretch/>
        </p:blipFill>
        <p:spPr>
          <a:xfrm>
            <a:off x="408425" y="4595551"/>
            <a:ext cx="2118301" cy="22793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18" name="Shape 118"/>
        <p:cNvGrpSpPr/>
        <p:nvPr/>
      </p:nvGrpSpPr>
      <p:grpSpPr>
        <a:xfrm>
          <a:off x="0" y="0"/>
          <a:ext cx="0" cy="0"/>
          <a:chOff x="0" y="0"/>
          <a:chExt cx="0" cy="0"/>
        </a:xfrm>
      </p:grpSpPr>
      <p:sp>
        <p:nvSpPr>
          <p:cNvPr id="119" name="Google Shape;119;p28"/>
          <p:cNvSpPr txBox="1"/>
          <p:nvPr>
            <p:ph type="title"/>
          </p:nvPr>
        </p:nvSpPr>
        <p:spPr>
          <a:xfrm>
            <a:off x="6226576" y="451629"/>
            <a:ext cx="280034" cy="6356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28"/>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8"/>
          <p:cNvSpPr txBox="1"/>
          <p:nvPr>
            <p:ph idx="10" type="dt"/>
          </p:nvPr>
        </p:nvSpPr>
        <p:spPr>
          <a:xfrm>
            <a:off x="7634430" y="4799164"/>
            <a:ext cx="1176654"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9"/>
          <p:cNvSpPr txBox="1"/>
          <p:nvPr>
            <p:ph type="ctrTitle"/>
          </p:nvPr>
        </p:nvSpPr>
        <p:spPr>
          <a:xfrm>
            <a:off x="311708" y="744575"/>
            <a:ext cx="8520600" cy="20526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5" name="Google Shape;125;p29"/>
          <p:cNvSpPr txBox="1"/>
          <p:nvPr>
            <p:ph idx="1" type="subTitle"/>
          </p:nvPr>
        </p:nvSpPr>
        <p:spPr>
          <a:xfrm>
            <a:off x="311700" y="2834125"/>
            <a:ext cx="8520600" cy="792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6" name="Google Shape;126;p29"/>
          <p:cNvSpPr txBox="1"/>
          <p:nvPr>
            <p:ph idx="12" type="sldNum"/>
          </p:nvPr>
        </p:nvSpPr>
        <p:spPr>
          <a:xfrm>
            <a:off x="8472458" y="4663217"/>
            <a:ext cx="5487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7" name="Shape 127"/>
        <p:cNvGrpSpPr/>
        <p:nvPr/>
      </p:nvGrpSpPr>
      <p:grpSpPr>
        <a:xfrm>
          <a:off x="0" y="0"/>
          <a:ext cx="0" cy="0"/>
          <a:chOff x="0" y="0"/>
          <a:chExt cx="0" cy="0"/>
        </a:xfrm>
      </p:grpSpPr>
      <p:sp>
        <p:nvSpPr>
          <p:cNvPr id="128" name="Google Shape;12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9" name="Google Shape;129;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0" name="Google Shape;13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theme" Target="../theme/theme1.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6226576" y="451629"/>
            <a:ext cx="280034" cy="63563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rgbClr val="D9D9D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4"/>
          <p:cNvSpPr txBox="1"/>
          <p:nvPr>
            <p:ph idx="1" type="body"/>
          </p:nvPr>
        </p:nvSpPr>
        <p:spPr>
          <a:xfrm>
            <a:off x="560831" y="1502955"/>
            <a:ext cx="8022336" cy="291401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p14"/>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3" name="Google Shape;63;p14"/>
          <p:cNvSpPr txBox="1"/>
          <p:nvPr>
            <p:ph idx="10" type="dt"/>
          </p:nvPr>
        </p:nvSpPr>
        <p:spPr>
          <a:xfrm>
            <a:off x="7634430" y="4799164"/>
            <a:ext cx="1176654" cy="196214"/>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66666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4" name="Google Shape;64;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8.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40.jpg"/><Relationship Id="rId5"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hyperlink" Target="https://github.com/athaker/econ_136/blob/master/market-making-demo.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ithub.com/athaker/econ_136/blob/master/market-making-demo.p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4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hyperlink" Target="https://cdn.robinhood.com/assets/robinhood/legal/RHF%20SEC%20Rule%20606%20and%20607%20Disclosure%20Q2%202021.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hyperlink" Target="https://developers.google.com/machine-learning/crash-cours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45.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8.jp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31"/>
          <p:cNvSpPr txBox="1"/>
          <p:nvPr/>
        </p:nvSpPr>
        <p:spPr>
          <a:xfrm>
            <a:off x="3748100" y="1721675"/>
            <a:ext cx="5007000" cy="13557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4200">
                <a:solidFill>
                  <a:schemeClr val="lt1"/>
                </a:solidFill>
                <a:latin typeface="Poppins"/>
                <a:ea typeface="Poppins"/>
                <a:cs typeface="Poppins"/>
                <a:sym typeface="Poppins"/>
              </a:rPr>
              <a:t>Agents for Finance</a:t>
            </a:r>
            <a:endParaRPr b="1" i="0" sz="4200" u="none" cap="none" strike="noStrike">
              <a:solidFill>
                <a:schemeClr val="lt1"/>
              </a:solidFill>
              <a:latin typeface="Poppins"/>
              <a:ea typeface="Poppins"/>
              <a:cs typeface="Poppins"/>
              <a:sym typeface="Poppins"/>
            </a:endParaRPr>
          </a:p>
        </p:txBody>
      </p:sp>
      <p:grpSp>
        <p:nvGrpSpPr>
          <p:cNvPr id="137" name="Google Shape;137;p31"/>
          <p:cNvGrpSpPr/>
          <p:nvPr/>
        </p:nvGrpSpPr>
        <p:grpSpPr>
          <a:xfrm>
            <a:off x="575108" y="1343054"/>
            <a:ext cx="3098519" cy="2178347"/>
            <a:chOff x="792400" y="464500"/>
            <a:chExt cx="3351925" cy="2356498"/>
          </a:xfrm>
        </p:grpSpPr>
        <p:pic>
          <p:nvPicPr>
            <p:cNvPr id="138" name="Google Shape;138;p31"/>
            <p:cNvPicPr preferRelativeResize="0"/>
            <p:nvPr/>
          </p:nvPicPr>
          <p:blipFill rotWithShape="1">
            <a:blip r:embed="rId4">
              <a:alphaModFix/>
            </a:blip>
            <a:srcRect b="0" l="0" r="0" t="0"/>
            <a:stretch/>
          </p:blipFill>
          <p:spPr>
            <a:xfrm>
              <a:off x="792400" y="464500"/>
              <a:ext cx="3121725" cy="2356498"/>
            </a:xfrm>
            <a:prstGeom prst="rect">
              <a:avLst/>
            </a:prstGeom>
            <a:noFill/>
            <a:ln>
              <a:noFill/>
            </a:ln>
          </p:spPr>
        </p:pic>
        <p:pic>
          <p:nvPicPr>
            <p:cNvPr id="139" name="Google Shape;139;p31"/>
            <p:cNvPicPr preferRelativeResize="0"/>
            <p:nvPr/>
          </p:nvPicPr>
          <p:blipFill rotWithShape="1">
            <a:blip r:embed="rId5">
              <a:alphaModFix/>
            </a:blip>
            <a:srcRect b="0" l="0" r="0" t="0"/>
            <a:stretch/>
          </p:blipFill>
          <p:spPr>
            <a:xfrm>
              <a:off x="4106725" y="857949"/>
              <a:ext cx="37600" cy="1569600"/>
            </a:xfrm>
            <a:prstGeom prst="rect">
              <a:avLst/>
            </a:prstGeom>
            <a:noFill/>
            <a:ln>
              <a:noFill/>
            </a:ln>
          </p:spPr>
        </p:pic>
      </p:grpSp>
      <p:sp>
        <p:nvSpPr>
          <p:cNvPr id="140" name="Google Shape;140;p31"/>
          <p:cNvSpPr txBox="1"/>
          <p:nvPr/>
        </p:nvSpPr>
        <p:spPr>
          <a:xfrm>
            <a:off x="575100" y="4430725"/>
            <a:ext cx="7106100" cy="41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B398FF"/>
                </a:solidFill>
                <a:latin typeface="Poppins SemiBold"/>
                <a:ea typeface="Poppins SemiBold"/>
                <a:cs typeface="Poppins SemiBold"/>
                <a:sym typeface="Poppins SemiBold"/>
              </a:rPr>
              <a:t>MGM GRAND, LAS VEGAS</a:t>
            </a:r>
            <a:endParaRPr b="0" i="0" sz="1800" u="none" cap="none" strike="noStrike">
              <a:solidFill>
                <a:srgbClr val="B398FF"/>
              </a:solidFill>
              <a:latin typeface="Poppins SemiBold"/>
              <a:ea typeface="Poppins SemiBold"/>
              <a:cs typeface="Poppins SemiBold"/>
              <a:sym typeface="Poppins SemiBold"/>
            </a:endParaRPr>
          </a:p>
        </p:txBody>
      </p:sp>
      <p:sp>
        <p:nvSpPr>
          <p:cNvPr id="141" name="Google Shape;141;p31"/>
          <p:cNvSpPr txBox="1"/>
          <p:nvPr/>
        </p:nvSpPr>
        <p:spPr>
          <a:xfrm>
            <a:off x="5490350" y="4430725"/>
            <a:ext cx="3228600" cy="418200"/>
          </a:xfrm>
          <a:prstGeom prst="rect">
            <a:avLst/>
          </a:prstGeom>
          <a:noFill/>
          <a:ln>
            <a:noFill/>
          </a:ln>
        </p:spPr>
        <p:txBody>
          <a:bodyPr anchorCtr="0" anchor="t" bIns="91425" lIns="91425" spcFirstLastPara="1" rIns="91425" wrap="square" tIns="91425">
            <a:noAutofit/>
          </a:bodyPr>
          <a:lstStyle/>
          <a:p>
            <a:pPr indent="0" lvl="0" marL="0" marR="0" rtl="0" algn="r">
              <a:lnSpc>
                <a:spcPct val="70000"/>
              </a:lnSpc>
              <a:spcBef>
                <a:spcPts val="0"/>
              </a:spcBef>
              <a:spcAft>
                <a:spcPts val="0"/>
              </a:spcAft>
              <a:buClr>
                <a:srgbClr val="000000"/>
              </a:buClr>
              <a:buSzPts val="2500"/>
              <a:buFont typeface="Arial"/>
              <a:buNone/>
            </a:pPr>
            <a:r>
              <a:rPr b="1" i="0" lang="en" sz="2500" u="none" cap="none" strike="noStrike">
                <a:solidFill>
                  <a:schemeClr val="lt1"/>
                </a:solidFill>
                <a:latin typeface="Poppins"/>
                <a:ea typeface="Poppins"/>
                <a:cs typeface="Poppins"/>
                <a:sym typeface="Poppins"/>
              </a:rPr>
              <a:t>AUGUST </a:t>
            </a:r>
            <a:r>
              <a:rPr b="1" i="0" lang="en" sz="2500" u="none" cap="none" strike="noStrike">
                <a:solidFill>
                  <a:srgbClr val="30DDC1"/>
                </a:solidFill>
                <a:latin typeface="Poppins"/>
                <a:ea typeface="Poppins"/>
                <a:cs typeface="Poppins"/>
                <a:sym typeface="Poppins"/>
              </a:rPr>
              <a:t>1</a:t>
            </a:r>
            <a:r>
              <a:rPr b="1" lang="en" sz="2500">
                <a:solidFill>
                  <a:srgbClr val="30DDC1"/>
                </a:solidFill>
                <a:latin typeface="Poppins"/>
                <a:ea typeface="Poppins"/>
                <a:cs typeface="Poppins"/>
                <a:sym typeface="Poppins"/>
              </a:rPr>
              <a:t>2</a:t>
            </a:r>
            <a:r>
              <a:rPr b="1" i="0" lang="en" sz="2500" u="none" cap="none" strike="noStrike">
                <a:solidFill>
                  <a:srgbClr val="30DDC1"/>
                </a:solidFill>
                <a:latin typeface="Poppins"/>
                <a:ea typeface="Poppins"/>
                <a:cs typeface="Poppins"/>
                <a:sym typeface="Poppins"/>
              </a:rPr>
              <a:t>,</a:t>
            </a:r>
            <a:r>
              <a:rPr b="1" lang="en" sz="2500">
                <a:solidFill>
                  <a:srgbClr val="30DDC1"/>
                </a:solidFill>
                <a:latin typeface="Poppins"/>
                <a:ea typeface="Poppins"/>
                <a:cs typeface="Poppins"/>
                <a:sym typeface="Poppins"/>
              </a:rPr>
              <a:t> </a:t>
            </a:r>
            <a:r>
              <a:rPr b="1" i="0" lang="en" sz="2500" u="none" cap="none" strike="noStrike">
                <a:solidFill>
                  <a:srgbClr val="30DDC1"/>
                </a:solidFill>
                <a:latin typeface="Poppins"/>
                <a:ea typeface="Poppins"/>
                <a:cs typeface="Poppins"/>
                <a:sym typeface="Poppins"/>
              </a:rPr>
              <a:t>2025</a:t>
            </a:r>
            <a:endParaRPr b="1" i="0" sz="2500" u="none" cap="none" strike="noStrike">
              <a:solidFill>
                <a:srgbClr val="30DDC1"/>
              </a:solidFill>
              <a:latin typeface="Poppins"/>
              <a:ea typeface="Poppins"/>
              <a:cs typeface="Poppins"/>
              <a:sym typeface="Poppins"/>
            </a:endParaRPr>
          </a:p>
        </p:txBody>
      </p:sp>
      <p:sp>
        <p:nvSpPr>
          <p:cNvPr id="142" name="Google Shape;142;p31"/>
          <p:cNvSpPr txBox="1"/>
          <p:nvPr>
            <p:ph idx="4294967295" type="subTitle"/>
          </p:nvPr>
        </p:nvSpPr>
        <p:spPr>
          <a:xfrm>
            <a:off x="575100" y="3373500"/>
            <a:ext cx="42948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By: Avi Thaker and Daniel Sonner</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32"/>
          <p:cNvSpPr txBox="1"/>
          <p:nvPr/>
        </p:nvSpPr>
        <p:spPr>
          <a:xfrm>
            <a:off x="340225" y="533350"/>
            <a:ext cx="3798900" cy="12483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000"/>
              <a:buFont typeface="Arial"/>
              <a:buNone/>
            </a:pPr>
            <a:r>
              <a:rPr b="1" lang="en" sz="4000">
                <a:solidFill>
                  <a:schemeClr val="lt1"/>
                </a:solidFill>
                <a:latin typeface="Poppins"/>
                <a:ea typeface="Poppins"/>
                <a:cs typeface="Poppins"/>
                <a:sym typeface="Poppins"/>
              </a:rPr>
              <a:t>Team</a:t>
            </a:r>
            <a:endParaRPr b="1" i="0" sz="4000" u="none" cap="none" strike="noStrike">
              <a:solidFill>
                <a:srgbClr val="73F1BC"/>
              </a:solidFill>
              <a:latin typeface="Poppins"/>
              <a:ea typeface="Poppins"/>
              <a:cs typeface="Poppins"/>
              <a:sym typeface="Poppins"/>
            </a:endParaRPr>
          </a:p>
        </p:txBody>
      </p:sp>
      <p:sp>
        <p:nvSpPr>
          <p:cNvPr id="149" name="Google Shape;149;p32"/>
          <p:cNvSpPr txBox="1"/>
          <p:nvPr/>
        </p:nvSpPr>
        <p:spPr>
          <a:xfrm>
            <a:off x="1632263" y="2798850"/>
            <a:ext cx="2683500" cy="1080000"/>
          </a:xfrm>
          <a:prstGeom prst="rect">
            <a:avLst/>
          </a:prstGeom>
          <a:noFill/>
          <a:ln>
            <a:noFill/>
          </a:ln>
        </p:spPr>
        <p:txBody>
          <a:bodyPr anchorCtr="0" anchor="t" bIns="91425" lIns="91425" spcFirstLastPara="1" rIns="91425" wrap="square" tIns="91425">
            <a:noAutofit/>
          </a:bodyPr>
          <a:lstStyle/>
          <a:p>
            <a:pPr indent="-120650" lvl="0" marL="114300" rtl="0" algn="l">
              <a:spcBef>
                <a:spcPts val="0"/>
              </a:spcBef>
              <a:spcAft>
                <a:spcPts val="0"/>
              </a:spcAft>
              <a:buClr>
                <a:schemeClr val="lt1"/>
              </a:buClr>
              <a:buSzPts val="1100"/>
              <a:buChar char="•"/>
            </a:pPr>
            <a:r>
              <a:rPr lang="en" sz="1100">
                <a:solidFill>
                  <a:schemeClr val="lt1"/>
                </a:solidFill>
              </a:rPr>
              <a:t>7 years consulting for hedge funds</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5 Machine Learning Patents Granted, 2 Pending</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Built document understanding tools utilized by many top banks</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Harvey Mudd, Microsoft, GSK, Goldman Sachs</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Series 65</a:t>
            </a:r>
            <a:endParaRPr sz="1100">
              <a:solidFill>
                <a:schemeClr val="lt1"/>
              </a:solidFill>
              <a:latin typeface="Poppins"/>
              <a:ea typeface="Poppins"/>
              <a:cs typeface="Poppins"/>
              <a:sym typeface="Poppins"/>
            </a:endParaRPr>
          </a:p>
        </p:txBody>
      </p:sp>
      <p:pic>
        <p:nvPicPr>
          <p:cNvPr descr="aug_2022.jpg" id="150" name="Google Shape;150;p32"/>
          <p:cNvPicPr preferRelativeResize="0"/>
          <p:nvPr/>
        </p:nvPicPr>
        <p:blipFill rotWithShape="1">
          <a:blip r:embed="rId4">
            <a:alphaModFix/>
          </a:blip>
          <a:srcRect b="17960" l="0" r="0" t="13593"/>
          <a:stretch/>
        </p:blipFill>
        <p:spPr>
          <a:xfrm>
            <a:off x="2187230" y="803910"/>
            <a:ext cx="1573560" cy="1436076"/>
          </a:xfrm>
          <a:custGeom>
            <a:rect b="b" l="l" r="r" t="t"/>
            <a:pathLst>
              <a:path extrusionOk="0" h="21600" w="21600">
                <a:moveTo>
                  <a:pt x="0" y="0"/>
                </a:moveTo>
                <a:lnTo>
                  <a:pt x="10799" y="21600"/>
                </a:lnTo>
                <a:lnTo>
                  <a:pt x="21600" y="0"/>
                </a:lnTo>
                <a:lnTo>
                  <a:pt x="0" y="0"/>
                </a:lnTo>
                <a:close/>
              </a:path>
            </a:pathLst>
          </a:custGeom>
          <a:noFill/>
          <a:ln cap="flat" cmpd="sng" w="63500">
            <a:solidFill>
              <a:srgbClr val="AC914D"/>
            </a:solidFill>
            <a:prstDash val="solid"/>
            <a:miter lim="400000"/>
            <a:headEnd len="sm" w="sm" type="none"/>
            <a:tailEnd len="sm" w="sm" type="none"/>
          </a:ln>
        </p:spPr>
      </p:pic>
      <p:grpSp>
        <p:nvGrpSpPr>
          <p:cNvPr id="151" name="Google Shape;151;p32"/>
          <p:cNvGrpSpPr/>
          <p:nvPr/>
        </p:nvGrpSpPr>
        <p:grpSpPr>
          <a:xfrm>
            <a:off x="5472101" y="803909"/>
            <a:ext cx="1573588" cy="1988141"/>
            <a:chOff x="-57" y="-1"/>
            <a:chExt cx="4196235" cy="5301709"/>
          </a:xfrm>
        </p:grpSpPr>
        <p:pic>
          <p:nvPicPr>
            <p:cNvPr descr="aug_2022.jpg" id="152" name="Google Shape;152;p32"/>
            <p:cNvPicPr preferRelativeResize="0"/>
            <p:nvPr/>
          </p:nvPicPr>
          <p:blipFill rotWithShape="1">
            <a:blip r:embed="rId5">
              <a:alphaModFix/>
            </a:blip>
            <a:srcRect b="23063" l="8575" r="8575" t="10777"/>
            <a:stretch/>
          </p:blipFill>
          <p:spPr>
            <a:xfrm>
              <a:off x="0" y="-1"/>
              <a:ext cx="4196178" cy="3829464"/>
            </a:xfrm>
            <a:custGeom>
              <a:rect b="b" l="l" r="r" t="t"/>
              <a:pathLst>
                <a:path extrusionOk="0" h="21600" w="21600">
                  <a:moveTo>
                    <a:pt x="0" y="0"/>
                  </a:moveTo>
                  <a:lnTo>
                    <a:pt x="10799" y="21600"/>
                  </a:lnTo>
                  <a:lnTo>
                    <a:pt x="21600" y="0"/>
                  </a:lnTo>
                  <a:lnTo>
                    <a:pt x="0" y="0"/>
                  </a:lnTo>
                  <a:close/>
                </a:path>
              </a:pathLst>
            </a:custGeom>
            <a:noFill/>
            <a:ln cap="flat" cmpd="sng" w="63500">
              <a:solidFill>
                <a:srgbClr val="AC914D"/>
              </a:solidFill>
              <a:prstDash val="solid"/>
              <a:miter lim="400000"/>
              <a:headEnd len="sm" w="sm" type="none"/>
              <a:tailEnd len="sm" w="sm" type="none"/>
            </a:ln>
          </p:spPr>
        </p:pic>
        <p:sp>
          <p:nvSpPr>
            <p:cNvPr id="153" name="Google Shape;153;p32"/>
            <p:cNvSpPr txBox="1"/>
            <p:nvPr/>
          </p:nvSpPr>
          <p:spPr>
            <a:xfrm>
              <a:off x="-57" y="4090908"/>
              <a:ext cx="4196100" cy="12108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C4A045"/>
                </a:buClr>
                <a:buSzPts val="1600"/>
                <a:buFont typeface="Helvetica Neue"/>
                <a:buNone/>
              </a:pPr>
              <a:r>
                <a:rPr b="1" i="0" lang="en" sz="1600" u="none" cap="none" strike="noStrike">
                  <a:solidFill>
                    <a:srgbClr val="C4A045"/>
                  </a:solidFill>
                </a:rPr>
                <a:t>Daniel Sonner</a:t>
              </a:r>
              <a:endParaRPr sz="500"/>
            </a:p>
            <a:p>
              <a:pPr indent="0" lvl="0" marL="0" marR="0" rtl="0" algn="ctr">
                <a:lnSpc>
                  <a:spcPct val="100000"/>
                </a:lnSpc>
                <a:spcBef>
                  <a:spcPts val="0"/>
                </a:spcBef>
                <a:spcAft>
                  <a:spcPts val="0"/>
                </a:spcAft>
                <a:buClr>
                  <a:srgbClr val="204586"/>
                </a:buClr>
                <a:buSzPts val="1100"/>
                <a:buFont typeface="Helvetica Neue Light"/>
                <a:buNone/>
              </a:pPr>
              <a:r>
                <a:rPr i="0" lang="en" sz="1100" u="none" cap="none" strike="noStrike">
                  <a:solidFill>
                    <a:srgbClr val="204586"/>
                  </a:solidFill>
                </a:rPr>
                <a:t>Co-Founder</a:t>
              </a:r>
              <a:endParaRPr sz="500"/>
            </a:p>
          </p:txBody>
        </p:sp>
      </p:grpSp>
      <p:sp>
        <p:nvSpPr>
          <p:cNvPr id="154" name="Google Shape;154;p32"/>
          <p:cNvSpPr txBox="1"/>
          <p:nvPr/>
        </p:nvSpPr>
        <p:spPr>
          <a:xfrm>
            <a:off x="2280125" y="2344643"/>
            <a:ext cx="1387800" cy="4542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C4A045"/>
              </a:buClr>
              <a:buSzPts val="1600"/>
              <a:buFont typeface="Helvetica Neue"/>
              <a:buNone/>
            </a:pPr>
            <a:r>
              <a:rPr b="1" lang="en" sz="1600">
                <a:solidFill>
                  <a:srgbClr val="C4A045"/>
                </a:solidFill>
              </a:rPr>
              <a:t>Avi Thaker</a:t>
            </a:r>
            <a:endParaRPr sz="500"/>
          </a:p>
          <a:p>
            <a:pPr indent="0" lvl="0" marL="0" marR="0" rtl="0" algn="ctr">
              <a:lnSpc>
                <a:spcPct val="100000"/>
              </a:lnSpc>
              <a:spcBef>
                <a:spcPts val="0"/>
              </a:spcBef>
              <a:spcAft>
                <a:spcPts val="0"/>
              </a:spcAft>
              <a:buClr>
                <a:srgbClr val="204586"/>
              </a:buClr>
              <a:buSzPts val="1100"/>
              <a:buFont typeface="Helvetica Neue Light"/>
              <a:buNone/>
            </a:pPr>
            <a:r>
              <a:rPr i="0" lang="en" sz="1100" u="none" cap="none" strike="noStrike">
                <a:solidFill>
                  <a:srgbClr val="204586"/>
                </a:solidFill>
              </a:rPr>
              <a:t>Co-Founder</a:t>
            </a:r>
            <a:endParaRPr sz="500"/>
          </a:p>
        </p:txBody>
      </p:sp>
      <p:sp>
        <p:nvSpPr>
          <p:cNvPr id="155" name="Google Shape;155;p32"/>
          <p:cNvSpPr txBox="1"/>
          <p:nvPr/>
        </p:nvSpPr>
        <p:spPr>
          <a:xfrm>
            <a:off x="4758900" y="2798850"/>
            <a:ext cx="3000000" cy="1457100"/>
          </a:xfrm>
          <a:prstGeom prst="rect">
            <a:avLst/>
          </a:prstGeom>
          <a:noFill/>
          <a:ln>
            <a:noFill/>
          </a:ln>
        </p:spPr>
        <p:txBody>
          <a:bodyPr anchorCtr="0" anchor="t" bIns="91425" lIns="91425" spcFirstLastPara="1" rIns="91425" wrap="square" tIns="91425">
            <a:spAutoFit/>
          </a:bodyPr>
          <a:lstStyle/>
          <a:p>
            <a:pPr indent="-120650" lvl="0" marL="114300" rtl="0" algn="l">
              <a:spcBef>
                <a:spcPts val="0"/>
              </a:spcBef>
              <a:spcAft>
                <a:spcPts val="0"/>
              </a:spcAft>
              <a:buClr>
                <a:schemeClr val="lt1"/>
              </a:buClr>
              <a:buSzPts val="1100"/>
              <a:buChar char="•"/>
            </a:pPr>
            <a:r>
              <a:rPr lang="en" sz="1100">
                <a:solidFill>
                  <a:schemeClr val="lt1"/>
                </a:solidFill>
              </a:rPr>
              <a:t>4+ Years Systems engineering at Pure Storage</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1 Patent</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Computer Science, Harvey Mudd</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World Champion Bridge Player</a:t>
            </a:r>
            <a:r>
              <a:rPr baseline="30000" lang="en" sz="1100">
                <a:solidFill>
                  <a:schemeClr val="lt1"/>
                </a:solidFill>
              </a:rPr>
              <a:t>1</a:t>
            </a:r>
            <a:endParaRPr baseline="30000"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Series 3, Series 65</a:t>
            </a:r>
            <a:endParaRPr sz="11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Participate in the Winnings</a:t>
            </a:r>
            <a:endParaRPr b="1" i="0" sz="4000" u="none" cap="none" strike="noStrike">
              <a:solidFill>
                <a:srgbClr val="6D3BF5"/>
              </a:solidFill>
              <a:latin typeface="Poppins"/>
              <a:ea typeface="Poppins"/>
              <a:cs typeface="Poppins"/>
              <a:sym typeface="Poppins"/>
            </a:endParaRPr>
          </a:p>
        </p:txBody>
      </p:sp>
      <p:sp>
        <p:nvSpPr>
          <p:cNvPr id="162" name="Google Shape;162;p33"/>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595959"/>
                </a:solidFill>
              </a:rPr>
              <a:t>Fill out this form and you will receive </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b="1" i="1" lang="en" sz="1800">
                <a:solidFill>
                  <a:srgbClr val="595959"/>
                </a:solidFill>
              </a:rPr>
              <a:t>f(P)=max($20,0.50×P)</a:t>
            </a:r>
            <a:endParaRPr b="1" i="1" sz="1800">
              <a:solidFill>
                <a:srgbClr val="595959"/>
              </a:solidFill>
            </a:endParaRPr>
          </a:p>
          <a:p>
            <a:pPr indent="-342900" lvl="0" marL="457200" rtl="0" algn="l">
              <a:lnSpc>
                <a:spcPct val="115000"/>
              </a:lnSpc>
              <a:spcBef>
                <a:spcPts val="1200"/>
              </a:spcBef>
              <a:spcAft>
                <a:spcPts val="0"/>
              </a:spcAft>
              <a:buClr>
                <a:srgbClr val="595959"/>
              </a:buClr>
              <a:buSzPts val="1800"/>
              <a:buChar char="●"/>
            </a:pPr>
            <a:r>
              <a:rPr lang="en" sz="1800">
                <a:solidFill>
                  <a:srgbClr val="595959"/>
                </a:solidFill>
              </a:rPr>
              <a:t>f(P) is the final amount.</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$20 is the fixed dollar amount.</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0.50×P represents 50% of the profits.</a:t>
            </a:r>
            <a:endParaRPr sz="1800">
              <a:solidFill>
                <a:srgbClr val="595959"/>
              </a:solidFill>
            </a:endParaRPr>
          </a:p>
          <a:p>
            <a:pPr indent="0" lvl="0" marL="0" marR="0" rtl="0" algn="l">
              <a:lnSpc>
                <a:spcPct val="115000"/>
              </a:lnSpc>
              <a:spcBef>
                <a:spcPts val="1200"/>
              </a:spcBef>
              <a:spcAft>
                <a:spcPts val="0"/>
              </a:spcAft>
              <a:buClr>
                <a:schemeClr val="dk1"/>
              </a:buClr>
              <a:buSzPts val="1100"/>
              <a:buFont typeface="Arial"/>
              <a:buNone/>
            </a:pPr>
            <a:r>
              <a:t/>
            </a:r>
            <a:endParaRPr sz="1100">
              <a:solidFill>
                <a:schemeClr val="dk1"/>
              </a:solidFill>
              <a:latin typeface="Poppins"/>
              <a:ea typeface="Poppins"/>
              <a:cs typeface="Poppins"/>
              <a:sym typeface="Poppins"/>
            </a:endParaRPr>
          </a:p>
        </p:txBody>
      </p:sp>
      <p:pic>
        <p:nvPicPr>
          <p:cNvPr id="163" name="Google Shape;163;p33"/>
          <p:cNvPicPr preferRelativeResize="0"/>
          <p:nvPr/>
        </p:nvPicPr>
        <p:blipFill>
          <a:blip r:embed="rId3">
            <a:alphaModFix/>
          </a:blip>
          <a:stretch>
            <a:fillRect/>
          </a:stretch>
        </p:blipFill>
        <p:spPr>
          <a:xfrm>
            <a:off x="4894100" y="1037750"/>
            <a:ext cx="3820977" cy="382097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What is an AI Agent</a:t>
            </a:r>
            <a:endParaRPr b="1" i="0" sz="4000" u="none" cap="none" strike="noStrik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Autonomous - can operate and make decisions on their own to complete a task</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Planning and Execution -  develop its own plan to achieve its goals and execute upon those actions</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Tool Use - interact with various tools, APIs, web browsers, etc.</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rPr>
              <a:t>There are varying levels of complexity of agents. We will start simple and provide you the framework to build your own agents.</a:t>
            </a:r>
            <a:endParaRPr sz="1800">
              <a:solidFill>
                <a:srgbClr val="595959"/>
              </a:solidFill>
            </a:endParaRPr>
          </a:p>
          <a:p>
            <a:pPr indent="0" lvl="0" marL="0" rtl="0" algn="l">
              <a:lnSpc>
                <a:spcPct val="115000"/>
              </a:lnSpc>
              <a:spcBef>
                <a:spcPts val="1200"/>
              </a:spcBef>
              <a:spcAft>
                <a:spcPts val="1200"/>
              </a:spcAft>
              <a:buClr>
                <a:schemeClr val="dk1"/>
              </a:buClr>
              <a:buSzPts val="1100"/>
              <a:buFont typeface="Arial"/>
              <a:buNone/>
            </a:pPr>
            <a:r>
              <a:rPr lang="en" sz="1800">
                <a:solidFill>
                  <a:srgbClr val="595959"/>
                </a:solidFill>
              </a:rPr>
              <a:t>Agents can have narrow or broad scopes (domain expert / generalist). </a:t>
            </a:r>
            <a:endParaRPr sz="180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5"/>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How does an Agent Learn?</a:t>
            </a:r>
            <a:endParaRPr b="1" i="0" sz="4000" u="none" cap="none" strike="noStrike">
              <a:solidFill>
                <a:srgbClr val="6D3BF5"/>
              </a:solidFill>
              <a:latin typeface="Poppins"/>
              <a:ea typeface="Poppins"/>
              <a:cs typeface="Poppins"/>
              <a:sym typeface="Poppins"/>
            </a:endParaRPr>
          </a:p>
        </p:txBody>
      </p:sp>
      <p:sp>
        <p:nvSpPr>
          <p:cNvPr id="177" name="Google Shape;177;p35"/>
          <p:cNvSpPr txBox="1"/>
          <p:nvPr/>
        </p:nvSpPr>
        <p:spPr>
          <a:xfrm>
            <a:off x="332225" y="932000"/>
            <a:ext cx="4392300" cy="69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595959"/>
                </a:solidFill>
              </a:rPr>
              <a:t>An agent is an actor in an environment, who gets a reward/penalty based upon actions taken. </a:t>
            </a:r>
            <a:br>
              <a:rPr lang="en">
                <a:solidFill>
                  <a:srgbClr val="595959"/>
                </a:solidFill>
              </a:rPr>
            </a:br>
            <a:r>
              <a:rPr lang="en">
                <a:solidFill>
                  <a:srgbClr val="595959"/>
                </a:solidFill>
              </a:rPr>
              <a:t>The agent plays many games and “learns” each time.</a:t>
            </a:r>
            <a:br>
              <a:rPr lang="en">
                <a:solidFill>
                  <a:srgbClr val="595959"/>
                </a:solidFill>
              </a:rPr>
            </a:br>
            <a:r>
              <a:rPr lang="en">
                <a:solidFill>
                  <a:srgbClr val="595959"/>
                </a:solidFill>
              </a:rPr>
              <a:t>The agent learns to maximize its reward.</a:t>
            </a:r>
            <a:endParaRPr>
              <a:solidFill>
                <a:srgbClr val="595959"/>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595959"/>
              </a:solidFill>
            </a:endParaRPr>
          </a:p>
        </p:txBody>
      </p:sp>
      <p:pic>
        <p:nvPicPr>
          <p:cNvPr id="178" name="Google Shape;178;p35"/>
          <p:cNvPicPr preferRelativeResize="0"/>
          <p:nvPr/>
        </p:nvPicPr>
        <p:blipFill>
          <a:blip r:embed="rId3">
            <a:alphaModFix/>
          </a:blip>
          <a:stretch>
            <a:fillRect/>
          </a:stretch>
        </p:blipFill>
        <p:spPr>
          <a:xfrm>
            <a:off x="807850" y="2181175"/>
            <a:ext cx="2734300" cy="2214927"/>
          </a:xfrm>
          <a:prstGeom prst="rect">
            <a:avLst/>
          </a:prstGeom>
          <a:noFill/>
          <a:ln>
            <a:noFill/>
          </a:ln>
        </p:spPr>
      </p:pic>
      <p:pic>
        <p:nvPicPr>
          <p:cNvPr id="179" name="Google Shape;179;p35"/>
          <p:cNvPicPr preferRelativeResize="0"/>
          <p:nvPr/>
        </p:nvPicPr>
        <p:blipFill>
          <a:blip r:embed="rId4">
            <a:alphaModFix/>
          </a:blip>
          <a:stretch>
            <a:fillRect/>
          </a:stretch>
        </p:blipFill>
        <p:spPr>
          <a:xfrm>
            <a:off x="4724400" y="1170125"/>
            <a:ext cx="4267200" cy="2667000"/>
          </a:xfrm>
          <a:prstGeom prst="rect">
            <a:avLst/>
          </a:prstGeom>
          <a:noFill/>
          <a:ln>
            <a:noFill/>
          </a:ln>
        </p:spPr>
      </p:pic>
      <p:sp>
        <p:nvSpPr>
          <p:cNvPr id="180" name="Google Shape;180;p35"/>
          <p:cNvSpPr txBox="1"/>
          <p:nvPr/>
        </p:nvSpPr>
        <p:spPr>
          <a:xfrm>
            <a:off x="5046900" y="3837125"/>
            <a:ext cx="3785400" cy="6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Video games were the first agents to be trained, and a great way to frame thinking about them! (as early as 1948 in NIM).</a:t>
            </a:r>
            <a:endParaRPr sz="15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Our Agent</a:t>
            </a:r>
            <a:endParaRPr b="1" i="0" sz="4000" u="none" cap="none" strike="noStrike">
              <a:solidFill>
                <a:srgbClr val="6D3BF5"/>
              </a:solidFill>
              <a:latin typeface="Poppins"/>
              <a:ea typeface="Poppins"/>
              <a:cs typeface="Poppins"/>
              <a:sym typeface="Poppins"/>
            </a:endParaRPr>
          </a:p>
        </p:txBody>
      </p:sp>
      <p:sp>
        <p:nvSpPr>
          <p:cNvPr id="187" name="Google Shape;187;p36"/>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595959"/>
                </a:solidFill>
              </a:rPr>
              <a:t>Environment:</a:t>
            </a:r>
            <a:endParaRPr b="1">
              <a:solidFill>
                <a:srgbClr val="595959"/>
              </a:solidFill>
            </a:endParaRPr>
          </a:p>
          <a:p>
            <a:pPr indent="-317500" lvl="0" marL="457200" rtl="0" algn="l">
              <a:lnSpc>
                <a:spcPct val="115000"/>
              </a:lnSpc>
              <a:spcBef>
                <a:spcPts val="1200"/>
              </a:spcBef>
              <a:spcAft>
                <a:spcPts val="0"/>
              </a:spcAft>
              <a:buClr>
                <a:srgbClr val="595959"/>
              </a:buClr>
              <a:buSzPts val="1400"/>
              <a:buChar char="-"/>
            </a:pPr>
            <a:r>
              <a:rPr lang="en">
                <a:solidFill>
                  <a:srgbClr val="595959"/>
                </a:solidFill>
              </a:rPr>
              <a:t>A selected stock and its time series (state is each timestamp, here measured each second)</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Alt data pulled before it starts trading</a:t>
            </a:r>
            <a:endParaRPr>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595959"/>
                </a:solidFill>
              </a:rPr>
              <a:t>Actions:</a:t>
            </a:r>
            <a:endParaRPr b="1">
              <a:solidFill>
                <a:srgbClr val="595959"/>
              </a:solidFill>
            </a:endParaRPr>
          </a:p>
          <a:p>
            <a:pPr indent="-317500" lvl="0" marL="457200" rtl="0" algn="l">
              <a:lnSpc>
                <a:spcPct val="115000"/>
              </a:lnSpc>
              <a:spcBef>
                <a:spcPts val="1200"/>
              </a:spcBef>
              <a:spcAft>
                <a:spcPts val="0"/>
              </a:spcAft>
              <a:buClr>
                <a:srgbClr val="595959"/>
              </a:buClr>
              <a:buSzPts val="1400"/>
              <a:buChar char="-"/>
            </a:pPr>
            <a:r>
              <a:rPr lang="en">
                <a:solidFill>
                  <a:srgbClr val="595959"/>
                </a:solidFill>
              </a:rPr>
              <a:t>Buy order</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Sell order (can short or long at any given time, but must close its position before entering a new one)</a:t>
            </a:r>
            <a:endParaRPr>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595959"/>
                </a:solidFill>
              </a:rPr>
              <a:t>Reward:</a:t>
            </a:r>
            <a:endParaRPr b="1">
              <a:solidFill>
                <a:srgbClr val="595959"/>
              </a:solidFill>
            </a:endParaRPr>
          </a:p>
          <a:p>
            <a:pPr indent="-317500" lvl="0" marL="457200" rtl="0" algn="l">
              <a:lnSpc>
                <a:spcPct val="115000"/>
              </a:lnSpc>
              <a:spcBef>
                <a:spcPts val="1200"/>
              </a:spcBef>
              <a:spcAft>
                <a:spcPts val="0"/>
              </a:spcAft>
              <a:buClr>
                <a:srgbClr val="595959"/>
              </a:buClr>
              <a:buSzPts val="1400"/>
              <a:buChar char="-"/>
            </a:pPr>
            <a:r>
              <a:rPr lang="en">
                <a:solidFill>
                  <a:srgbClr val="595959"/>
                </a:solidFill>
              </a:rPr>
              <a:t>Total dollars earned subject to variance of returns (i.e. outliers are painful).</a:t>
            </a:r>
            <a:endParaRPr>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595959"/>
                </a:solidFill>
              </a:rPr>
              <a:t>Try it yourself: </a:t>
            </a:r>
            <a:r>
              <a:rPr lang="en" u="sng">
                <a:solidFill>
                  <a:srgbClr val="0097A7"/>
                </a:solidFill>
                <a:hlinkClick r:id="rId3">
                  <a:extLst>
                    <a:ext uri="{A12FA001-AC4F-418D-AE19-62706E023703}">
                      <ahyp:hlinkClr val="tx"/>
                    </a:ext>
                  </a:extLst>
                </a:hlinkClick>
              </a:rPr>
              <a:t>https://github.com/athaker/econ_136/blob/master/market-making-demo.py</a:t>
            </a:r>
            <a:endParaRPr>
              <a:solidFill>
                <a:srgbClr val="595959"/>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7"/>
          <p:cNvSpPr txBox="1"/>
          <p:nvPr/>
        </p:nvSpPr>
        <p:spPr>
          <a:xfrm>
            <a:off x="484175" y="1693800"/>
            <a:ext cx="7331700" cy="14016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5000">
                <a:solidFill>
                  <a:srgbClr val="FFFFFF"/>
                </a:solidFill>
                <a:latin typeface="Poppins"/>
                <a:ea typeface="Poppins"/>
                <a:cs typeface="Poppins"/>
                <a:sym typeface="Poppins"/>
              </a:rPr>
              <a:t>Let’s try it with real money!</a:t>
            </a:r>
            <a:endParaRPr b="1" i="0" sz="5000" u="none" cap="none" strike="noStrike">
              <a:solidFill>
                <a:srgbClr val="FFFFFF"/>
              </a:solidFill>
              <a:latin typeface="Poppins"/>
              <a:ea typeface="Poppins"/>
              <a:cs typeface="Poppins"/>
              <a:sym typeface="Poppins"/>
            </a:endParaRPr>
          </a:p>
        </p:txBody>
      </p:sp>
      <p:sp>
        <p:nvSpPr>
          <p:cNvPr id="194" name="Google Shape;194;p37"/>
          <p:cNvSpPr txBox="1"/>
          <p:nvPr/>
        </p:nvSpPr>
        <p:spPr>
          <a:xfrm>
            <a:off x="497875" y="3325850"/>
            <a:ext cx="8180400" cy="50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1600">
                <a:solidFill>
                  <a:srgbClr val="595959"/>
                </a:solidFill>
              </a:rPr>
              <a:t>Please don’t try this at home. This is a demo only. This is not financial advice.</a:t>
            </a:r>
            <a:endParaRPr b="1" sz="1600">
              <a:solidFill>
                <a:srgbClr val="595959"/>
              </a:solidFill>
            </a:endParaRPr>
          </a:p>
          <a:p>
            <a:pPr indent="0" lvl="0" marL="0" marR="0" rtl="0" algn="l">
              <a:lnSpc>
                <a:spcPct val="100000"/>
              </a:lnSpc>
              <a:spcBef>
                <a:spcPts val="1200"/>
              </a:spcBef>
              <a:spcAft>
                <a:spcPts val="0"/>
              </a:spcAft>
              <a:buClr>
                <a:srgbClr val="000000"/>
              </a:buClr>
              <a:buSzPts val="1100"/>
              <a:buFont typeface="Arial"/>
              <a:buNone/>
            </a:pPr>
            <a:r>
              <a:t/>
            </a:r>
            <a:endParaRPr sz="2000">
              <a:solidFill>
                <a:srgbClr val="FFFFFF"/>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p>
          <a:p>
            <a:pPr indent="0" lvl="0" marL="0" rtl="0" algn="l">
              <a:spcBef>
                <a:spcPts val="1200"/>
              </a:spcBef>
              <a:spcAft>
                <a:spcPts val="0"/>
              </a:spcAft>
              <a:buNone/>
            </a:pPr>
            <a:r>
              <a:t/>
            </a:r>
            <a:endParaRPr sz="2000"/>
          </a:p>
          <a:p>
            <a:pPr indent="0" lvl="0" marL="0" rtl="0" algn="l">
              <a:spcBef>
                <a:spcPts val="1200"/>
              </a:spcBef>
              <a:spcAft>
                <a:spcPts val="1200"/>
              </a:spcAft>
              <a:buNone/>
            </a:pPr>
            <a:r>
              <a:rPr lang="en" sz="2000"/>
              <a:t>The Code</a:t>
            </a:r>
            <a:r>
              <a:rPr lang="en" sz="2000"/>
              <a:t>: </a:t>
            </a:r>
            <a:r>
              <a:rPr lang="en" sz="2000" u="sng">
                <a:solidFill>
                  <a:schemeClr val="accent5"/>
                </a:solidFill>
                <a:hlinkClick r:id="rId3">
                  <a:extLst>
                    <a:ext uri="{A12FA001-AC4F-418D-AE19-62706E023703}">
                      <ahyp:hlinkClr val="tx"/>
                    </a:ext>
                  </a:extLst>
                </a:hlinkClick>
              </a:rPr>
              <a:t>https://github.com/athaker/econ_136/blob/master/market-making-demo.py</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9"/>
          <p:cNvSpPr txBox="1"/>
          <p:nvPr/>
        </p:nvSpPr>
        <p:spPr>
          <a:xfrm>
            <a:off x="484175" y="1693800"/>
            <a:ext cx="7331700" cy="14016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5000">
                <a:solidFill>
                  <a:srgbClr val="FFFFFF"/>
                </a:solidFill>
                <a:latin typeface="Poppins"/>
                <a:ea typeface="Poppins"/>
                <a:cs typeface="Poppins"/>
                <a:sym typeface="Poppins"/>
              </a:rPr>
              <a:t>But why does this matter?</a:t>
            </a:r>
            <a:endParaRPr b="1" i="0" sz="5000" u="none" cap="none" strike="noStrike">
              <a:solidFill>
                <a:srgbClr val="FFFFFF"/>
              </a:solidFill>
              <a:latin typeface="Poppins"/>
              <a:ea typeface="Poppins"/>
              <a:cs typeface="Poppins"/>
              <a:sym typeface="Poppins"/>
            </a:endParaRPr>
          </a:p>
        </p:txBody>
      </p:sp>
      <p:sp>
        <p:nvSpPr>
          <p:cNvPr id="206" name="Google Shape;206;p39"/>
          <p:cNvSpPr txBox="1"/>
          <p:nvPr/>
        </p:nvSpPr>
        <p:spPr>
          <a:xfrm>
            <a:off x="497875" y="3325850"/>
            <a:ext cx="8180400" cy="50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595959"/>
                </a:solidFill>
              </a:rPr>
              <a:t>Agents/AI have been around for forever, and applied to finance for decades. Institutional flows are showing that uncorrelated assets are paramount for long term growth. </a:t>
            </a:r>
            <a:endParaRPr sz="1800">
              <a:solidFill>
                <a:srgbClr val="595959"/>
              </a:solidFill>
            </a:endParaRPr>
          </a:p>
          <a:p>
            <a:pPr indent="0" lvl="0" marL="0" rtl="0" algn="ctr">
              <a:lnSpc>
                <a:spcPct val="115000"/>
              </a:lnSpc>
              <a:spcBef>
                <a:spcPts val="1200"/>
              </a:spcBef>
              <a:spcAft>
                <a:spcPts val="0"/>
              </a:spcAft>
              <a:buClr>
                <a:schemeClr val="dk1"/>
              </a:buClr>
              <a:buSzPts val="1100"/>
              <a:buFont typeface="Arial"/>
              <a:buNone/>
            </a:pPr>
            <a:r>
              <a:t/>
            </a:r>
            <a:endParaRPr b="1" sz="1600">
              <a:solidFill>
                <a:srgbClr val="595959"/>
              </a:solidFill>
            </a:endParaRPr>
          </a:p>
          <a:p>
            <a:pPr indent="0" lvl="0" marL="0" marR="0" rtl="0" algn="l">
              <a:lnSpc>
                <a:spcPct val="100000"/>
              </a:lnSpc>
              <a:spcBef>
                <a:spcPts val="1200"/>
              </a:spcBef>
              <a:spcAft>
                <a:spcPts val="0"/>
              </a:spcAft>
              <a:buClr>
                <a:srgbClr val="000000"/>
              </a:buClr>
              <a:buSzPts val="1100"/>
              <a:buFont typeface="Arial"/>
              <a:buNone/>
            </a:pPr>
            <a:r>
              <a:t/>
            </a:r>
            <a:endParaRPr sz="2000">
              <a:solidFill>
                <a:srgbClr val="FFFFFF"/>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0"/>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Institutions</a:t>
            </a:r>
            <a:r>
              <a:rPr b="1" lang="en" sz="4000">
                <a:solidFill>
                  <a:srgbClr val="6D3BF5"/>
                </a:solidFill>
                <a:latin typeface="Poppins"/>
                <a:ea typeface="Poppins"/>
                <a:cs typeface="Poppins"/>
                <a:sym typeface="Poppins"/>
              </a:rPr>
              <a:t> are Moving to Alts</a:t>
            </a:r>
            <a:endParaRPr b="1" i="0" sz="4000" u="none" cap="none" strike="noStrike">
              <a:solidFill>
                <a:srgbClr val="6D3BF5"/>
              </a:solidFill>
              <a:latin typeface="Poppins"/>
              <a:ea typeface="Poppins"/>
              <a:cs typeface="Poppins"/>
              <a:sym typeface="Poppins"/>
            </a:endParaRPr>
          </a:p>
        </p:txBody>
      </p:sp>
      <p:pic>
        <p:nvPicPr>
          <p:cNvPr id="213" name="Google Shape;213;p40" title="Chart"/>
          <p:cNvPicPr preferRelativeResize="0"/>
          <p:nvPr/>
        </p:nvPicPr>
        <p:blipFill>
          <a:blip r:embed="rId3">
            <a:alphaModFix/>
          </a:blip>
          <a:stretch>
            <a:fillRect/>
          </a:stretch>
        </p:blipFill>
        <p:spPr>
          <a:xfrm>
            <a:off x="670375" y="1017725"/>
            <a:ext cx="5572676" cy="3438275"/>
          </a:xfrm>
          <a:prstGeom prst="rect">
            <a:avLst/>
          </a:prstGeom>
          <a:noFill/>
          <a:ln>
            <a:noFill/>
          </a:ln>
        </p:spPr>
      </p:pic>
      <p:sp>
        <p:nvSpPr>
          <p:cNvPr id="214" name="Google Shape;214;p40"/>
          <p:cNvSpPr txBox="1"/>
          <p:nvPr/>
        </p:nvSpPr>
        <p:spPr>
          <a:xfrm>
            <a:off x="6862925" y="2036700"/>
            <a:ext cx="1800600" cy="10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About 50% of alts are AI powered!</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1"/>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Yale Leads the Pack</a:t>
            </a:r>
            <a:endParaRPr b="1" i="0" sz="4000" u="none" cap="none" strike="noStrike">
              <a:solidFill>
                <a:srgbClr val="6D3BF5"/>
              </a:solidFill>
              <a:latin typeface="Poppins"/>
              <a:ea typeface="Poppins"/>
              <a:cs typeface="Poppins"/>
              <a:sym typeface="Poppins"/>
            </a:endParaRPr>
          </a:p>
        </p:txBody>
      </p:sp>
      <p:pic>
        <p:nvPicPr>
          <p:cNvPr id="221" name="Google Shape;221;p41" title="Chart"/>
          <p:cNvPicPr preferRelativeResize="0"/>
          <p:nvPr/>
        </p:nvPicPr>
        <p:blipFill>
          <a:blip r:embed="rId3">
            <a:alphaModFix/>
          </a:blip>
          <a:stretch>
            <a:fillRect/>
          </a:stretch>
        </p:blipFill>
        <p:spPr>
          <a:xfrm>
            <a:off x="1659987" y="897550"/>
            <a:ext cx="5824026" cy="3601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2"/>
          <p:cNvSpPr txBox="1"/>
          <p:nvPr/>
        </p:nvSpPr>
        <p:spPr>
          <a:xfrm>
            <a:off x="484175" y="1693800"/>
            <a:ext cx="7331700" cy="14016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5000">
                <a:solidFill>
                  <a:srgbClr val="FFFFFF"/>
                </a:solidFill>
                <a:latin typeface="Poppins"/>
                <a:ea typeface="Poppins"/>
                <a:cs typeface="Poppins"/>
                <a:sym typeface="Poppins"/>
              </a:rPr>
              <a:t>How does this affect me?</a:t>
            </a:r>
            <a:endParaRPr b="1" i="0" sz="5000" u="none" cap="none" strike="noStrike">
              <a:solidFill>
                <a:srgbClr val="FFFFFF"/>
              </a:solidFill>
              <a:latin typeface="Poppins"/>
              <a:ea typeface="Poppins"/>
              <a:cs typeface="Poppins"/>
              <a:sym typeface="Poppins"/>
            </a:endParaRPr>
          </a:p>
        </p:txBody>
      </p:sp>
      <p:sp>
        <p:nvSpPr>
          <p:cNvPr id="228" name="Google Shape;228;p42"/>
          <p:cNvSpPr txBox="1"/>
          <p:nvPr/>
        </p:nvSpPr>
        <p:spPr>
          <a:xfrm>
            <a:off x="497875" y="3325850"/>
            <a:ext cx="8180400" cy="50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t/>
            </a:r>
            <a:endParaRPr b="1" sz="1600">
              <a:solidFill>
                <a:srgbClr val="595959"/>
              </a:solidFill>
            </a:endParaRPr>
          </a:p>
          <a:p>
            <a:pPr indent="0" lvl="0" marL="0" marR="0" rtl="0" algn="l">
              <a:lnSpc>
                <a:spcPct val="100000"/>
              </a:lnSpc>
              <a:spcBef>
                <a:spcPts val="1200"/>
              </a:spcBef>
              <a:spcAft>
                <a:spcPts val="0"/>
              </a:spcAft>
              <a:buClr>
                <a:srgbClr val="000000"/>
              </a:buClr>
              <a:buSzPts val="1100"/>
              <a:buFont typeface="Arial"/>
              <a:buNone/>
            </a:pPr>
            <a:r>
              <a:t/>
            </a:r>
            <a:endParaRPr sz="2000">
              <a:solidFill>
                <a:srgbClr val="FFFFFF"/>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3"/>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Drawdowns are Painful</a:t>
            </a:r>
            <a:endParaRPr b="1" i="0" sz="4000" u="none" cap="none" strike="noStrike">
              <a:solidFill>
                <a:srgbClr val="6D3BF5"/>
              </a:solidFill>
              <a:latin typeface="Poppins"/>
              <a:ea typeface="Poppins"/>
              <a:cs typeface="Poppins"/>
              <a:sym typeface="Poppins"/>
            </a:endParaRPr>
          </a:p>
        </p:txBody>
      </p:sp>
      <p:graphicFrame>
        <p:nvGraphicFramePr>
          <p:cNvPr id="235" name="Google Shape;235;p43"/>
          <p:cNvGraphicFramePr/>
          <p:nvPr/>
        </p:nvGraphicFramePr>
        <p:xfrm>
          <a:off x="1600200" y="2011363"/>
          <a:ext cx="3000000" cy="3000000"/>
        </p:xfrm>
        <a:graphic>
          <a:graphicData uri="http://schemas.openxmlformats.org/drawingml/2006/table">
            <a:tbl>
              <a:tblPr>
                <a:noFill/>
                <a:tableStyleId>{C2C82F5D-7F28-4AD3-9396-DA1E2200D94E}</a:tableStyleId>
              </a:tblPr>
              <a:tblGrid>
                <a:gridCol w="742950"/>
                <a:gridCol w="742950"/>
                <a:gridCol w="742950"/>
                <a:gridCol w="742950"/>
                <a:gridCol w="742950"/>
                <a:gridCol w="742950"/>
                <a:gridCol w="742950"/>
                <a:gridCol w="742950"/>
              </a:tblGrid>
              <a:tr h="200025">
                <a:tc rowSpan="2">
                  <a:txBody>
                    <a:bodyPr/>
                    <a:lstStyle/>
                    <a:p>
                      <a:pPr indent="0" lvl="0" marL="0" rtl="0" algn="l">
                        <a:lnSpc>
                          <a:spcPct val="115000"/>
                        </a:lnSpc>
                        <a:spcBef>
                          <a:spcPts val="0"/>
                        </a:spcBef>
                        <a:spcAft>
                          <a:spcPts val="0"/>
                        </a:spcAft>
                        <a:buNone/>
                      </a:pPr>
                      <a:r>
                        <a:t/>
                      </a:r>
                      <a:endParaRPr b="1" sz="1000"/>
                    </a:p>
                    <a:p>
                      <a:pPr indent="0" lvl="0" marL="0" rtl="0" algn="l">
                        <a:lnSpc>
                          <a:spcPct val="115000"/>
                        </a:lnSpc>
                        <a:spcBef>
                          <a:spcPts val="0"/>
                        </a:spcBef>
                        <a:spcAft>
                          <a:spcPts val="0"/>
                        </a:spcAft>
                        <a:buNone/>
                      </a:pPr>
                      <a:r>
                        <a:rPr b="1" lang="en" sz="1000"/>
                        <a:t>Portfolio Loss</a:t>
                      </a:r>
                      <a:endParaRPr b="1"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rowSpan="2">
                  <a:txBody>
                    <a:bodyPr/>
                    <a:lstStyle/>
                    <a:p>
                      <a:pPr indent="0" lvl="0" marL="0" rtl="0" algn="l">
                        <a:lnSpc>
                          <a:spcPct val="115000"/>
                        </a:lnSpc>
                        <a:spcBef>
                          <a:spcPts val="0"/>
                        </a:spcBef>
                        <a:spcAft>
                          <a:spcPts val="0"/>
                        </a:spcAft>
                        <a:buNone/>
                      </a:pPr>
                      <a:r>
                        <a:rPr b="1" lang="en" sz="1000"/>
                        <a:t>Gain to Restore Loss</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gridSpan="6">
                  <a:txBody>
                    <a:bodyPr/>
                    <a:lstStyle/>
                    <a:p>
                      <a:pPr indent="0" lvl="0" marL="0" rtl="0" algn="l">
                        <a:lnSpc>
                          <a:spcPct val="115000"/>
                        </a:lnSpc>
                        <a:spcBef>
                          <a:spcPts val="0"/>
                        </a:spcBef>
                        <a:spcAft>
                          <a:spcPts val="0"/>
                        </a:spcAft>
                        <a:buNone/>
                      </a:pPr>
                      <a:r>
                        <a:rPr b="1" lang="en" sz="1000"/>
                        <a:t>Percentage Change of recovery from loss within N years</a:t>
                      </a:r>
                      <a:endParaRPr b="1" sz="1000"/>
                    </a:p>
                  </a:txBody>
                  <a:tcPr marT="25400" marB="25400" marR="0" marL="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c hMerge="1"/>
              </a:tr>
              <a:tr h="342900">
                <a:tc vMerge="1"/>
                <a:tc vMerge="1"/>
                <a:tc>
                  <a:txBody>
                    <a:bodyPr/>
                    <a:lstStyle/>
                    <a:p>
                      <a:pPr indent="0" lvl="0" marL="0" rtl="0" algn="r">
                        <a:lnSpc>
                          <a:spcPct val="115000"/>
                        </a:lnSpc>
                        <a:spcBef>
                          <a:spcPts val="0"/>
                        </a:spcBef>
                        <a:spcAft>
                          <a:spcPts val="0"/>
                        </a:spcAft>
                        <a:buNone/>
                      </a:pPr>
                      <a:r>
                        <a:rPr lang="en" sz="1000"/>
                        <a:t>1</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-10.00%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11.11%</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52.50%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74.40%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86.10%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78.40%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77.80%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93.50%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-20.00%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25.00%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25.00%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48.70%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68.40%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67.60%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72.20%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93.50%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-35.00%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53.85%</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17.90%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34.20%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56.80%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61.10%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93.50%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-50.00%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7.90%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13.50%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36.10%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80.60%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-65.00%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185.71%</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2.70%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5.60%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61.30%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Portfolio Construction can Reduce Pain</a:t>
            </a:r>
            <a:endParaRPr b="1" i="0" sz="4000" u="none" cap="none" strike="noStrike">
              <a:solidFill>
                <a:srgbClr val="6D3BF5"/>
              </a:solidFill>
              <a:latin typeface="Poppins"/>
              <a:ea typeface="Poppins"/>
              <a:cs typeface="Poppins"/>
              <a:sym typeface="Poppins"/>
            </a:endParaRPr>
          </a:p>
        </p:txBody>
      </p:sp>
      <p:pic>
        <p:nvPicPr>
          <p:cNvPr id="242" name="Google Shape;242;p44" title="Chart"/>
          <p:cNvPicPr preferRelativeResize="0"/>
          <p:nvPr/>
        </p:nvPicPr>
        <p:blipFill>
          <a:blip r:embed="rId3">
            <a:alphaModFix/>
          </a:blip>
          <a:stretch>
            <a:fillRect/>
          </a:stretch>
        </p:blipFill>
        <p:spPr>
          <a:xfrm>
            <a:off x="86024" y="1477650"/>
            <a:ext cx="4603200" cy="2846301"/>
          </a:xfrm>
          <a:prstGeom prst="rect">
            <a:avLst/>
          </a:prstGeom>
          <a:noFill/>
          <a:ln>
            <a:noFill/>
          </a:ln>
        </p:spPr>
      </p:pic>
      <p:graphicFrame>
        <p:nvGraphicFramePr>
          <p:cNvPr id="243" name="Google Shape;243;p44"/>
          <p:cNvGraphicFramePr/>
          <p:nvPr/>
        </p:nvGraphicFramePr>
        <p:xfrm>
          <a:off x="4794925" y="951000"/>
          <a:ext cx="3000000" cy="3000000"/>
        </p:xfrm>
        <a:graphic>
          <a:graphicData uri="http://schemas.openxmlformats.org/drawingml/2006/table">
            <a:tbl>
              <a:tblPr>
                <a:noFill/>
                <a:tableStyleId>{C2C82F5D-7F28-4AD3-9396-DA1E2200D94E}</a:tableStyleId>
              </a:tblPr>
              <a:tblGrid>
                <a:gridCol w="846225"/>
                <a:gridCol w="846225"/>
                <a:gridCol w="846225"/>
                <a:gridCol w="846225"/>
                <a:gridCol w="846225"/>
              </a:tblGrid>
              <a:tr h="209550">
                <a:tc>
                  <a:txBody>
                    <a:bodyPr/>
                    <a:lstStyle/>
                    <a:p>
                      <a:pPr indent="0" lvl="0" marL="0" rtl="0" algn="l">
                        <a:lnSpc>
                          <a:spcPct val="115000"/>
                        </a:lnSpc>
                        <a:spcBef>
                          <a:spcPts val="0"/>
                        </a:spcBef>
                        <a:spcAft>
                          <a:spcPts val="0"/>
                        </a:spcAft>
                        <a:buNone/>
                      </a:pPr>
                      <a:r>
                        <a:rPr b="1" lang="en" sz="1000"/>
                        <a:t>Metric</a:t>
                      </a:r>
                      <a:endParaRPr b="1"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S&amp;P500</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Uncorrelated</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Blended</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Rebalanced</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Average</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6.47%</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5.79%</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5.19%</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6.13%</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STD</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17.78%</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15.73%</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9.18%</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4.51%</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Sharpe</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0.36</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0.37</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0.56</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1.36</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244" name="Google Shape;244;p44"/>
          <p:cNvPicPr preferRelativeResize="0"/>
          <p:nvPr/>
        </p:nvPicPr>
        <p:blipFill>
          <a:blip r:embed="rId4">
            <a:alphaModFix/>
          </a:blip>
          <a:stretch>
            <a:fillRect/>
          </a:stretch>
        </p:blipFill>
        <p:spPr>
          <a:xfrm>
            <a:off x="4894850" y="1943325"/>
            <a:ext cx="3810000" cy="2419350"/>
          </a:xfrm>
          <a:prstGeom prst="rect">
            <a:avLst/>
          </a:prstGeom>
          <a:noFill/>
          <a:ln>
            <a:noFill/>
          </a:ln>
        </p:spPr>
      </p:pic>
      <p:sp>
        <p:nvSpPr>
          <p:cNvPr id="245" name="Google Shape;245;p44"/>
          <p:cNvSpPr txBox="1"/>
          <p:nvPr/>
        </p:nvSpPr>
        <p:spPr>
          <a:xfrm>
            <a:off x="5113975" y="4423050"/>
            <a:ext cx="35274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Seek truly diversified </a:t>
            </a:r>
            <a:r>
              <a:rPr lang="en" sz="1200">
                <a:solidFill>
                  <a:schemeClr val="dk1"/>
                </a:solidFill>
              </a:rPr>
              <a:t>investments</a:t>
            </a:r>
            <a:r>
              <a:rPr lang="en" sz="1200">
                <a:solidFill>
                  <a:schemeClr val="dk1"/>
                </a:solidFill>
              </a:rPr>
              <a:t> that exhibit long term uncorrelation. Bonds (AGG) often are very </a:t>
            </a:r>
            <a:r>
              <a:rPr lang="en" sz="1200">
                <a:solidFill>
                  <a:schemeClr val="dk1"/>
                </a:solidFill>
              </a:rPr>
              <a:t>correlated.</a:t>
            </a:r>
            <a:endParaRPr sz="12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5"/>
          <p:cNvSpPr txBox="1"/>
          <p:nvPr/>
        </p:nvSpPr>
        <p:spPr>
          <a:xfrm>
            <a:off x="484175" y="1693800"/>
            <a:ext cx="7331700" cy="14016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5000">
                <a:solidFill>
                  <a:srgbClr val="FFFFFF"/>
                </a:solidFill>
                <a:latin typeface="Poppins"/>
                <a:ea typeface="Poppins"/>
                <a:cs typeface="Poppins"/>
                <a:sym typeface="Poppins"/>
              </a:rPr>
              <a:t>Getting started!</a:t>
            </a:r>
            <a:endParaRPr b="1" i="0" sz="5000" u="none" cap="none" strike="noStrike">
              <a:solidFill>
                <a:srgbClr val="FFFFFF"/>
              </a:solidFill>
              <a:latin typeface="Poppins"/>
              <a:ea typeface="Poppins"/>
              <a:cs typeface="Poppins"/>
              <a:sym typeface="Poppins"/>
            </a:endParaRPr>
          </a:p>
        </p:txBody>
      </p:sp>
      <p:sp>
        <p:nvSpPr>
          <p:cNvPr id="252" name="Google Shape;252;p45"/>
          <p:cNvSpPr txBox="1"/>
          <p:nvPr/>
        </p:nvSpPr>
        <p:spPr>
          <a:xfrm>
            <a:off x="497875" y="3325850"/>
            <a:ext cx="8180400" cy="50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t/>
            </a:r>
            <a:endParaRPr b="1" sz="1600">
              <a:solidFill>
                <a:srgbClr val="595959"/>
              </a:solidFill>
            </a:endParaRPr>
          </a:p>
          <a:p>
            <a:pPr indent="0" lvl="0" marL="0" marR="0" rtl="0" algn="l">
              <a:lnSpc>
                <a:spcPct val="100000"/>
              </a:lnSpc>
              <a:spcBef>
                <a:spcPts val="1200"/>
              </a:spcBef>
              <a:spcAft>
                <a:spcPts val="0"/>
              </a:spcAft>
              <a:buClr>
                <a:srgbClr val="000000"/>
              </a:buClr>
              <a:buSzPts val="1100"/>
              <a:buFont typeface="Arial"/>
              <a:buNone/>
            </a:pPr>
            <a:r>
              <a:t/>
            </a:r>
            <a:endParaRPr sz="2000">
              <a:solidFill>
                <a:srgbClr val="FFFFFF"/>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6"/>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 Visual Guide</a:t>
            </a:r>
            <a:endParaRPr b="1" i="0" sz="4000" u="none" cap="none" strike="noStrike">
              <a:solidFill>
                <a:srgbClr val="6D3BF5"/>
              </a:solidFill>
              <a:latin typeface="Poppins"/>
              <a:ea typeface="Poppins"/>
              <a:cs typeface="Poppins"/>
              <a:sym typeface="Poppins"/>
            </a:endParaRPr>
          </a:p>
        </p:txBody>
      </p:sp>
      <p:pic>
        <p:nvPicPr>
          <p:cNvPr id="259" name="Google Shape;259;p46"/>
          <p:cNvPicPr preferRelativeResize="0"/>
          <p:nvPr/>
        </p:nvPicPr>
        <p:blipFill>
          <a:blip r:embed="rId3">
            <a:alphaModFix/>
          </a:blip>
          <a:stretch>
            <a:fillRect/>
          </a:stretch>
        </p:blipFill>
        <p:spPr>
          <a:xfrm>
            <a:off x="2067195" y="897550"/>
            <a:ext cx="5009613" cy="37572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7"/>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Be Careful of Fees: Robinhood PFOF - September 2024</a:t>
            </a:r>
            <a:endParaRPr b="1" i="0" sz="4000" u="none" cap="none" strike="noStrike">
              <a:solidFill>
                <a:srgbClr val="6D3BF5"/>
              </a:solidFill>
              <a:latin typeface="Poppins"/>
              <a:ea typeface="Poppins"/>
              <a:cs typeface="Poppins"/>
              <a:sym typeface="Poppins"/>
            </a:endParaRPr>
          </a:p>
        </p:txBody>
      </p:sp>
      <p:graphicFrame>
        <p:nvGraphicFramePr>
          <p:cNvPr id="266" name="Google Shape;266;p47"/>
          <p:cNvGraphicFramePr/>
          <p:nvPr/>
        </p:nvGraphicFramePr>
        <p:xfrm>
          <a:off x="285750" y="1623025"/>
          <a:ext cx="3000000" cy="3000000"/>
        </p:xfrm>
        <a:graphic>
          <a:graphicData uri="http://schemas.openxmlformats.org/drawingml/2006/table">
            <a:tbl>
              <a:tblPr>
                <a:noFill/>
                <a:tableStyleId>{8E988DE2-97A2-416A-9140-A02111780125}</a:tableStyleId>
              </a:tblPr>
              <a:tblGrid>
                <a:gridCol w="952500"/>
                <a:gridCol w="1075375"/>
                <a:gridCol w="829625"/>
                <a:gridCol w="1136825"/>
                <a:gridCol w="768175"/>
                <a:gridCol w="1145625"/>
                <a:gridCol w="759375"/>
                <a:gridCol w="1066600"/>
                <a:gridCol w="838400"/>
              </a:tblGrid>
              <a:tr h="100000">
                <a:tc>
                  <a:txBody>
                    <a:bodyPr/>
                    <a:lstStyle/>
                    <a:p>
                      <a:pPr indent="0" lvl="0" marL="0" rtl="0" algn="l">
                        <a:lnSpc>
                          <a:spcPct val="115000"/>
                        </a:lnSpc>
                        <a:spcBef>
                          <a:spcPts val="0"/>
                        </a:spcBef>
                        <a:spcAft>
                          <a:spcPts val="0"/>
                        </a:spcAft>
                        <a:buNone/>
                      </a:pPr>
                      <a:r>
                        <a:rPr b="1" lang="en" sz="1200"/>
                        <a:t>Type</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Paid/Received for Market Orders (USD)</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Market Orders(cents per hundred shares)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 Received for Marketable Limit Orders (USD)</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Marketable Limit Orders(cents per hundred shares)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Non-Marketable Limit Orders(USD)</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Non-Marketable Limit Orders(cents per hundred shares)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Other Orders(USD)</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Other Orders(cents per hundred shares)</a:t>
                      </a:r>
                      <a:endParaRPr b="1"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7000">
                <a:tc>
                  <a:txBody>
                    <a:bodyPr/>
                    <a:lstStyle/>
                    <a:p>
                      <a:pPr indent="0" lvl="0" marL="0" rtl="0" algn="l">
                        <a:lnSpc>
                          <a:spcPct val="115000"/>
                        </a:lnSpc>
                        <a:spcBef>
                          <a:spcPts val="0"/>
                        </a:spcBef>
                        <a:spcAft>
                          <a:spcPts val="0"/>
                        </a:spcAft>
                        <a:buNone/>
                      </a:pPr>
                      <a:r>
                        <a:rPr lang="en" sz="1200"/>
                        <a:t>S&amp;P500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$476,120.14</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$0.54</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$506,842.39</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$0.45</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$159,669.04</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$0.49</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$406,231.62</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$0.33</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7000">
                <a:tc>
                  <a:txBody>
                    <a:bodyPr/>
                    <a:lstStyle/>
                    <a:p>
                      <a:pPr indent="0" lvl="0" marL="0" rtl="0" algn="l">
                        <a:lnSpc>
                          <a:spcPct val="115000"/>
                        </a:lnSpc>
                        <a:spcBef>
                          <a:spcPts val="0"/>
                        </a:spcBef>
                        <a:spcAft>
                          <a:spcPts val="0"/>
                        </a:spcAft>
                        <a:buNone/>
                      </a:pPr>
                      <a:r>
                        <a:rPr lang="en" sz="1200"/>
                        <a:t>Non S&amp;P500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$2,595,718.32</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$0.17</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$2,764,997.73</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$0.10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$1,214,001.70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$0.10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$746,273.38</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$0.17</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7000">
                <a:tc>
                  <a:txBody>
                    <a:bodyPr/>
                    <a:lstStyle/>
                    <a:p>
                      <a:pPr indent="0" lvl="0" marL="0" rtl="0" algn="l">
                        <a:lnSpc>
                          <a:spcPct val="115000"/>
                        </a:lnSpc>
                        <a:spcBef>
                          <a:spcPts val="0"/>
                        </a:spcBef>
                        <a:spcAft>
                          <a:spcPts val="0"/>
                        </a:spcAft>
                        <a:buNone/>
                      </a:pPr>
                      <a:r>
                        <a:rPr lang="en" sz="1200"/>
                        <a:t>Options</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$267,735.21</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$0.35</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$26,281,705.80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$0.36</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$21,002,467.90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$0.47</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$4,900,789.94</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$0.41</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67" name="Google Shape;267;p47"/>
          <p:cNvSpPr txBox="1"/>
          <p:nvPr/>
        </p:nvSpPr>
        <p:spPr>
          <a:xfrm>
            <a:off x="1071250" y="3977025"/>
            <a:ext cx="711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rgbClr val="0097A7"/>
                </a:solidFill>
                <a:hlinkClick r:id="rId3">
                  <a:extLst>
                    <a:ext uri="{A12FA001-AC4F-418D-AE19-62706E023703}">
                      <ahyp:hlinkClr val="tx"/>
                    </a:ext>
                  </a:extLst>
                </a:hlinkClick>
              </a:rPr>
              <a:t>Robinhood Financial LLC - Held NMS Stocks and Options Order Routing Public Report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8"/>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The Efficient Market</a:t>
            </a:r>
            <a:endParaRPr b="1" i="0" sz="4000" u="none" cap="none" strike="noStrike">
              <a:solidFill>
                <a:srgbClr val="6D3BF5"/>
              </a:solidFill>
              <a:latin typeface="Poppins"/>
              <a:ea typeface="Poppins"/>
              <a:cs typeface="Poppins"/>
              <a:sym typeface="Poppins"/>
            </a:endParaRPr>
          </a:p>
        </p:txBody>
      </p:sp>
      <p:sp>
        <p:nvSpPr>
          <p:cNvPr id="274" name="Google Shape;274;p48"/>
          <p:cNvSpPr txBox="1"/>
          <p:nvPr/>
        </p:nvSpPr>
        <p:spPr>
          <a:xfrm>
            <a:off x="12825" y="932000"/>
            <a:ext cx="5055900" cy="693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Impossible to “beat the market” </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Market efficiency causes prices to incorporate and reflect all relevant information</a:t>
            </a:r>
            <a:endParaRPr sz="1300">
              <a:solidFill>
                <a:srgbClr val="595959"/>
              </a:solidFill>
            </a:endParaRPr>
          </a:p>
          <a:p>
            <a:pPr indent="-311150" lvl="2" marL="1371600" rtl="0" algn="l">
              <a:lnSpc>
                <a:spcPct val="115000"/>
              </a:lnSpc>
              <a:spcBef>
                <a:spcPts val="0"/>
              </a:spcBef>
              <a:spcAft>
                <a:spcPts val="0"/>
              </a:spcAft>
              <a:buClr>
                <a:srgbClr val="595959"/>
              </a:buClr>
              <a:buSzPts val="1300"/>
              <a:buChar char="■"/>
            </a:pPr>
            <a:r>
              <a:rPr lang="en" sz="1300">
                <a:solidFill>
                  <a:srgbClr val="595959"/>
                </a:solidFill>
              </a:rPr>
              <a:t>Prices adjust quickly to new information</a:t>
            </a:r>
            <a:endParaRPr sz="1300">
              <a:solidFill>
                <a:srgbClr val="595959"/>
              </a:solidFill>
            </a:endParaRPr>
          </a:p>
          <a:p>
            <a:pPr indent="-311150" lvl="2" marL="1371600" rtl="0" algn="l">
              <a:lnSpc>
                <a:spcPct val="115000"/>
              </a:lnSpc>
              <a:spcBef>
                <a:spcPts val="0"/>
              </a:spcBef>
              <a:spcAft>
                <a:spcPts val="0"/>
              </a:spcAft>
              <a:buClr>
                <a:srgbClr val="595959"/>
              </a:buClr>
              <a:buSzPts val="1300"/>
              <a:buChar char="■"/>
            </a:pPr>
            <a:r>
              <a:rPr lang="en" sz="1300">
                <a:solidFill>
                  <a:srgbClr val="595959"/>
                </a:solidFill>
              </a:rPr>
              <a:t>Prices should reflect all available information</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Securities always trade at their fair value </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The only way to obtain higher returns is to purchase riskier investments</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Cannot predict trends, history does not indicate future</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The market is becoming increasingly more efficient</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Warren Buffett? Citadel? Virtu?</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When filing for its IPO in March 2014, it was disclosed that during five years Virtu Financial made profit 1,277 out of 1,278 days, losing money just one day.</a:t>
            </a:r>
            <a:endParaRPr sz="1300">
              <a:solidFill>
                <a:srgbClr val="595959"/>
              </a:solidFill>
            </a:endParaRPr>
          </a:p>
        </p:txBody>
      </p:sp>
      <p:pic>
        <p:nvPicPr>
          <p:cNvPr id="275" name="Google Shape;275;p48"/>
          <p:cNvPicPr preferRelativeResize="0"/>
          <p:nvPr/>
        </p:nvPicPr>
        <p:blipFill>
          <a:blip r:embed="rId3">
            <a:alphaModFix/>
          </a:blip>
          <a:stretch>
            <a:fillRect/>
          </a:stretch>
        </p:blipFill>
        <p:spPr>
          <a:xfrm>
            <a:off x="5258525" y="1538663"/>
            <a:ext cx="3885475" cy="20661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9"/>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Statistical Sampling</a:t>
            </a:r>
            <a:endParaRPr b="1" i="0" sz="4000" u="none" cap="none" strike="noStrike">
              <a:solidFill>
                <a:srgbClr val="6D3BF5"/>
              </a:solidFill>
              <a:latin typeface="Poppins"/>
              <a:ea typeface="Poppins"/>
              <a:cs typeface="Poppins"/>
              <a:sym typeface="Poppins"/>
            </a:endParaRPr>
          </a:p>
        </p:txBody>
      </p:sp>
      <p:sp>
        <p:nvSpPr>
          <p:cNvPr id="282" name="Google Shape;282;p49"/>
          <p:cNvSpPr txBox="1"/>
          <p:nvPr/>
        </p:nvSpPr>
        <p:spPr>
          <a:xfrm>
            <a:off x="0" y="2224800"/>
            <a:ext cx="5055900" cy="693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Some investors are simply lucky</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If you were to have a bunch of monkeys throw darts at a wall and use that to pick stocks you will have some major outperformers. </a:t>
            </a:r>
            <a:endParaRPr sz="1300">
              <a:solidFill>
                <a:srgbClr val="595959"/>
              </a:solidFill>
            </a:endParaRPr>
          </a:p>
        </p:txBody>
      </p:sp>
      <p:pic>
        <p:nvPicPr>
          <p:cNvPr id="283" name="Google Shape;283;p49"/>
          <p:cNvPicPr preferRelativeResize="0"/>
          <p:nvPr/>
        </p:nvPicPr>
        <p:blipFill>
          <a:blip r:embed="rId3">
            <a:alphaModFix/>
          </a:blip>
          <a:stretch>
            <a:fillRect/>
          </a:stretch>
        </p:blipFill>
        <p:spPr>
          <a:xfrm>
            <a:off x="5131325" y="1456925"/>
            <a:ext cx="3933300" cy="2077974"/>
          </a:xfrm>
          <a:prstGeom prst="rect">
            <a:avLst/>
          </a:prstGeom>
          <a:noFill/>
          <a:ln>
            <a:noFill/>
          </a:ln>
        </p:spPr>
      </p:pic>
      <p:sp>
        <p:nvSpPr>
          <p:cNvPr id="284" name="Google Shape;284;p49"/>
          <p:cNvSpPr txBox="1"/>
          <p:nvPr/>
        </p:nvSpPr>
        <p:spPr>
          <a:xfrm>
            <a:off x="2118000" y="3607925"/>
            <a:ext cx="4908000" cy="8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r>
              <a:rPr i="1" lang="en" sz="1000">
                <a:solidFill>
                  <a:schemeClr val="dk1"/>
                </a:solidFill>
                <a:latin typeface="Calibri"/>
                <a:ea typeface="Calibri"/>
                <a:cs typeface="Calibri"/>
                <a:sym typeface="Calibri"/>
              </a:rPr>
              <a:t>In statistical terms, I figure I have traded about 2 million contracts, with an average profit of $70 per contract (after slippage of perhaps $20). This average is approximately 700 standard deviations away from randomness.”</a:t>
            </a:r>
            <a:endParaRPr i="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    ~ </a:t>
            </a:r>
            <a:r>
              <a:rPr i="1" lang="en" sz="1000">
                <a:solidFill>
                  <a:schemeClr val="dk1"/>
                </a:solidFill>
                <a:latin typeface="Calibri"/>
                <a:ea typeface="Calibri"/>
                <a:cs typeface="Calibri"/>
                <a:sym typeface="Calibri"/>
              </a:rPr>
              <a:t>The Education of a Speculator</a:t>
            </a:r>
            <a:endParaRPr i="1" sz="10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AI/ML is only One Part</a:t>
            </a:r>
            <a:endParaRPr b="1" i="0" sz="4000" u="none" cap="none" strike="noStrike">
              <a:solidFill>
                <a:srgbClr val="6D3BF5"/>
              </a:solidFill>
              <a:latin typeface="Poppins"/>
              <a:ea typeface="Poppins"/>
              <a:cs typeface="Poppins"/>
              <a:sym typeface="Poppins"/>
            </a:endParaRPr>
          </a:p>
        </p:txBody>
      </p:sp>
      <p:sp>
        <p:nvSpPr>
          <p:cNvPr id="291" name="Google Shape;291;p50"/>
          <p:cNvSpPr txBox="1"/>
          <p:nvPr/>
        </p:nvSpPr>
        <p:spPr>
          <a:xfrm>
            <a:off x="0" y="1139350"/>
            <a:ext cx="4325700" cy="30528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595959"/>
              </a:buClr>
              <a:buSzPts val="1900"/>
              <a:buChar char="●"/>
            </a:pPr>
            <a:r>
              <a:rPr lang="en" sz="1900">
                <a:solidFill>
                  <a:srgbClr val="595959"/>
                </a:solidFill>
              </a:rPr>
              <a:t>Arguably the most important thing in Deep Learning / AI</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High quality data drives model </a:t>
            </a:r>
            <a:r>
              <a:rPr lang="en" sz="1900">
                <a:solidFill>
                  <a:srgbClr val="595959"/>
                </a:solidFill>
              </a:rPr>
              <a:t>performance</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Models today are often trained on the whole internet</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Identify what </a:t>
            </a:r>
            <a:r>
              <a:rPr lang="en" sz="1900">
                <a:solidFill>
                  <a:srgbClr val="595959"/>
                </a:solidFill>
              </a:rPr>
              <a:t>you are good at and that will drive performance</a:t>
            </a:r>
            <a:endParaRPr sz="1900">
              <a:solidFill>
                <a:srgbClr val="595959"/>
              </a:solidFill>
            </a:endParaRPr>
          </a:p>
        </p:txBody>
      </p:sp>
      <p:pic>
        <p:nvPicPr>
          <p:cNvPr id="292" name="Google Shape;292;p50"/>
          <p:cNvPicPr preferRelativeResize="0"/>
          <p:nvPr/>
        </p:nvPicPr>
        <p:blipFill rotWithShape="1">
          <a:blip r:embed="rId3">
            <a:alphaModFix/>
          </a:blip>
          <a:srcRect b="0" l="0" r="0" t="0"/>
          <a:stretch/>
        </p:blipFill>
        <p:spPr>
          <a:xfrm>
            <a:off x="4325638" y="1101119"/>
            <a:ext cx="4562475" cy="2990850"/>
          </a:xfrm>
          <a:prstGeom prst="rect">
            <a:avLst/>
          </a:prstGeom>
          <a:noFill/>
          <a:ln>
            <a:noFill/>
          </a:ln>
        </p:spPr>
      </p:pic>
      <p:sp>
        <p:nvSpPr>
          <p:cNvPr id="293" name="Google Shape;293;p50"/>
          <p:cNvSpPr/>
          <p:nvPr/>
        </p:nvSpPr>
        <p:spPr>
          <a:xfrm>
            <a:off x="4671888" y="3909650"/>
            <a:ext cx="3870000" cy="677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100" u="sng">
                <a:solidFill>
                  <a:schemeClr val="dk1"/>
                </a:solidFill>
                <a:latin typeface="Calibri"/>
                <a:ea typeface="Calibri"/>
                <a:cs typeface="Calibri"/>
                <a:sym typeface="Calibri"/>
                <a:hlinkClick r:id="rId4">
                  <a:extLst>
                    <a:ext uri="{A12FA001-AC4F-418D-AE19-62706E023703}">
                      <ahyp:hlinkClr val="tx"/>
                    </a:ext>
                  </a:extLst>
                </a:hlinkClick>
              </a:rPr>
              <a:t>https://developers.google.com/machine-learning/crash-course</a:t>
            </a:r>
            <a:r>
              <a:rPr lang="en" sz="1100">
                <a:solidFill>
                  <a:schemeClr val="dk1"/>
                </a:solidFill>
                <a:latin typeface="Calibri"/>
                <a:ea typeface="Calibri"/>
                <a:cs typeface="Calibri"/>
                <a:sym typeface="Calibri"/>
              </a:rPr>
              <a:t> </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1"/>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Backtesting a Strategy</a:t>
            </a:r>
            <a:endParaRPr b="1" i="0" sz="4000" u="none" cap="none" strike="noStrike">
              <a:solidFill>
                <a:srgbClr val="6D3BF5"/>
              </a:solidFill>
              <a:latin typeface="Poppins"/>
              <a:ea typeface="Poppins"/>
              <a:cs typeface="Poppins"/>
              <a:sym typeface="Poppins"/>
            </a:endParaRPr>
          </a:p>
        </p:txBody>
      </p:sp>
      <p:sp>
        <p:nvSpPr>
          <p:cNvPr id="300" name="Google Shape;300;p51"/>
          <p:cNvSpPr txBox="1"/>
          <p:nvPr/>
        </p:nvSpPr>
        <p:spPr>
          <a:xfrm>
            <a:off x="0" y="1139350"/>
            <a:ext cx="4325700" cy="30528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595959"/>
              </a:buClr>
              <a:buSzPts val="1900"/>
              <a:buChar char="●"/>
            </a:pPr>
            <a:r>
              <a:rPr lang="en" sz="1900">
                <a:solidFill>
                  <a:srgbClr val="595959"/>
                </a:solidFill>
              </a:rPr>
              <a:t>Does the strategy work across many assets?</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How many years does it work for?</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Risk Tolerance?</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Maximum Drawdown?</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Fees? Trading frequency?</a:t>
            </a:r>
            <a:endParaRPr sz="1900">
              <a:solidFill>
                <a:srgbClr val="595959"/>
              </a:solidFill>
            </a:endParaRPr>
          </a:p>
        </p:txBody>
      </p:sp>
      <p:pic>
        <p:nvPicPr>
          <p:cNvPr id="301" name="Google Shape;301;p51"/>
          <p:cNvPicPr preferRelativeResize="0"/>
          <p:nvPr/>
        </p:nvPicPr>
        <p:blipFill>
          <a:blip r:embed="rId3">
            <a:alphaModFix/>
          </a:blip>
          <a:stretch>
            <a:fillRect/>
          </a:stretch>
        </p:blipFill>
        <p:spPr>
          <a:xfrm>
            <a:off x="5302350" y="1149798"/>
            <a:ext cx="3747849" cy="3308025"/>
          </a:xfrm>
          <a:prstGeom prst="rect">
            <a:avLst/>
          </a:prstGeom>
          <a:noFill/>
          <a:ln>
            <a:noFill/>
          </a:ln>
        </p:spPr>
      </p:pic>
      <p:pic>
        <p:nvPicPr>
          <p:cNvPr id="302" name="Google Shape;302;p51"/>
          <p:cNvPicPr preferRelativeResize="0"/>
          <p:nvPr/>
        </p:nvPicPr>
        <p:blipFill>
          <a:blip r:embed="rId4">
            <a:alphaModFix/>
          </a:blip>
          <a:stretch>
            <a:fillRect/>
          </a:stretch>
        </p:blipFill>
        <p:spPr>
          <a:xfrm>
            <a:off x="3407088" y="3665175"/>
            <a:ext cx="1857375" cy="1478325"/>
          </a:xfrm>
          <a:prstGeom prst="rect">
            <a:avLst/>
          </a:prstGeom>
          <a:noFill/>
          <a:ln>
            <a:noFill/>
          </a:ln>
        </p:spPr>
      </p:pic>
      <p:sp>
        <p:nvSpPr>
          <p:cNvPr id="303" name="Google Shape;303;p51"/>
          <p:cNvSpPr txBox="1"/>
          <p:nvPr/>
        </p:nvSpPr>
        <p:spPr>
          <a:xfrm>
            <a:off x="4455150" y="4287288"/>
            <a:ext cx="1066200" cy="74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Sharpe:1.299</a:t>
            </a:r>
            <a:endParaRPr sz="65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PPC:0.338</a:t>
            </a:r>
            <a:endParaRPr sz="65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Wins:255</a:t>
            </a:r>
            <a:endParaRPr sz="65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Losses:202</a:t>
            </a:r>
            <a:endParaRPr sz="65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Trades:463.0</a:t>
            </a:r>
            <a:endParaRPr sz="650">
              <a:solidFill>
                <a:schemeClr val="dk1"/>
              </a:solidFill>
              <a:latin typeface="Calibri"/>
              <a:ea typeface="Calibri"/>
              <a:cs typeface="Calibri"/>
              <a:sym typeface="Calibri"/>
            </a:endParaRPr>
          </a:p>
        </p:txBody>
      </p:sp>
      <p:sp>
        <p:nvSpPr>
          <p:cNvPr id="304" name="Google Shape;304;p51"/>
          <p:cNvSpPr txBox="1"/>
          <p:nvPr/>
        </p:nvSpPr>
        <p:spPr>
          <a:xfrm>
            <a:off x="5769800" y="4259238"/>
            <a:ext cx="3000000" cy="8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900">
                <a:solidFill>
                  <a:schemeClr val="dk1"/>
                </a:solidFill>
                <a:latin typeface="Calibri"/>
                <a:ea typeface="Calibri"/>
                <a:cs typeface="Calibri"/>
                <a:sym typeface="Calibri"/>
              </a:rPr>
              <a:t>In Sample: SPY 2004-2010</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900">
                <a:solidFill>
                  <a:schemeClr val="dk1"/>
                </a:solidFill>
                <a:latin typeface="Calibri"/>
                <a:ea typeface="Calibri"/>
                <a:cs typeface="Calibri"/>
                <a:sym typeface="Calibri"/>
              </a:rPr>
              <a:t>Out of Sample: Assets Randomly Selected:</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900">
                <a:solidFill>
                  <a:schemeClr val="dk1"/>
                </a:solidFill>
                <a:latin typeface="Calibri"/>
                <a:ea typeface="Calibri"/>
                <a:cs typeface="Calibri"/>
                <a:sym typeface="Calibri"/>
              </a:rPr>
              <a:t>ADBE XLNX BBBY CFN EMC ADP AFL DE T SPLS DG ADS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900">
                <a:solidFill>
                  <a:schemeClr val="dk1"/>
                </a:solidFill>
                <a:latin typeface="Calibri"/>
                <a:ea typeface="Calibri"/>
                <a:cs typeface="Calibri"/>
                <a:sym typeface="Calibri"/>
              </a:rPr>
              <a:t>ALL MET CL PX WYN</a:t>
            </a:r>
            <a:endParaRPr sz="9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2"/>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Technical Indicators</a:t>
            </a:r>
            <a:endParaRPr b="1" i="0" sz="4000" u="none" cap="none" strike="noStrike">
              <a:solidFill>
                <a:srgbClr val="6D3BF5"/>
              </a:solidFill>
              <a:latin typeface="Poppins"/>
              <a:ea typeface="Poppins"/>
              <a:cs typeface="Poppins"/>
              <a:sym typeface="Poppins"/>
            </a:endParaRPr>
          </a:p>
        </p:txBody>
      </p:sp>
      <p:sp>
        <p:nvSpPr>
          <p:cNvPr id="311" name="Google Shape;311;p52"/>
          <p:cNvSpPr txBox="1"/>
          <p:nvPr/>
        </p:nvSpPr>
        <p:spPr>
          <a:xfrm>
            <a:off x="340225" y="1749975"/>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Technical indicators are mostly </a:t>
            </a:r>
            <a:r>
              <a:rPr b="1" lang="en" sz="2000">
                <a:solidFill>
                  <a:srgbClr val="404040"/>
                </a:solidFill>
              </a:rPr>
              <a:t>useless</a:t>
            </a:r>
            <a:r>
              <a:rPr lang="en" sz="2000">
                <a:solidFill>
                  <a:srgbClr val="404040"/>
                </a:solidFill>
              </a:rPr>
              <a:t> on their own</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Must identify a market phenomenon and statistically validate it</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Simplicity and understandability usually are better</a:t>
            </a:r>
            <a:endParaRPr sz="2000">
              <a:solidFill>
                <a:srgbClr val="595959"/>
              </a:solidFill>
            </a:endParaRPr>
          </a:p>
        </p:txBody>
      </p:sp>
      <p:sp>
        <p:nvSpPr>
          <p:cNvPr id="312" name="Google Shape;312;p52"/>
          <p:cNvSpPr txBox="1"/>
          <p:nvPr/>
        </p:nvSpPr>
        <p:spPr>
          <a:xfrm>
            <a:off x="6061900" y="193650"/>
            <a:ext cx="3000000" cy="47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Accumulation/Distribution (AD)</a:t>
            </a:r>
            <a:endParaRPr sz="1100"/>
          </a:p>
          <a:p>
            <a:pPr indent="0" lvl="0" marL="0" rtl="0" algn="l">
              <a:spcBef>
                <a:spcPts val="0"/>
              </a:spcBef>
              <a:spcAft>
                <a:spcPts val="0"/>
              </a:spcAft>
              <a:buNone/>
            </a:pPr>
            <a:r>
              <a:rPr lang="en" sz="1100"/>
              <a:t>Average Directional Movement (ADX)</a:t>
            </a:r>
            <a:endParaRPr sz="1100"/>
          </a:p>
          <a:p>
            <a:pPr indent="0" lvl="0" marL="0" rtl="0" algn="l">
              <a:spcBef>
                <a:spcPts val="0"/>
              </a:spcBef>
              <a:spcAft>
                <a:spcPts val="0"/>
              </a:spcAft>
              <a:buNone/>
            </a:pPr>
            <a:r>
              <a:rPr lang="en" sz="1100"/>
              <a:t>Absolute Price Oscillator (APO)</a:t>
            </a:r>
            <a:endParaRPr sz="1100"/>
          </a:p>
          <a:p>
            <a:pPr indent="0" lvl="0" marL="0" rtl="0" algn="l">
              <a:spcBef>
                <a:spcPts val="0"/>
              </a:spcBef>
              <a:spcAft>
                <a:spcPts val="0"/>
              </a:spcAft>
              <a:buNone/>
            </a:pPr>
            <a:r>
              <a:rPr lang="en" sz="1100"/>
              <a:t>Aroon Oscillator (ARO)</a:t>
            </a:r>
            <a:endParaRPr sz="1100"/>
          </a:p>
          <a:p>
            <a:pPr indent="0" lvl="0" marL="0" rtl="0" algn="l">
              <a:spcBef>
                <a:spcPts val="0"/>
              </a:spcBef>
              <a:spcAft>
                <a:spcPts val="0"/>
              </a:spcAft>
              <a:buNone/>
            </a:pPr>
            <a:r>
              <a:rPr lang="en" sz="1100"/>
              <a:t>Average True Range (ATR)</a:t>
            </a:r>
            <a:endParaRPr sz="1100"/>
          </a:p>
          <a:p>
            <a:pPr indent="0" lvl="0" marL="0" rtl="0" algn="l">
              <a:spcBef>
                <a:spcPts val="0"/>
              </a:spcBef>
              <a:spcAft>
                <a:spcPts val="0"/>
              </a:spcAft>
              <a:buNone/>
            </a:pPr>
            <a:r>
              <a:rPr lang="en" sz="1100"/>
              <a:t>Bollinger Band (BBANDS)</a:t>
            </a:r>
            <a:endParaRPr sz="1100"/>
          </a:p>
          <a:p>
            <a:pPr indent="0" lvl="0" marL="0" rtl="0" algn="l">
              <a:spcBef>
                <a:spcPts val="0"/>
              </a:spcBef>
              <a:spcAft>
                <a:spcPts val="0"/>
              </a:spcAft>
              <a:buNone/>
            </a:pPr>
            <a:r>
              <a:rPr lang="en" sz="1100"/>
              <a:t>Directional Movement Indicators (DMI)</a:t>
            </a:r>
            <a:endParaRPr sz="1100"/>
          </a:p>
          <a:p>
            <a:pPr indent="0" lvl="0" marL="0" rtl="0" algn="l">
              <a:spcBef>
                <a:spcPts val="0"/>
              </a:spcBef>
              <a:spcAft>
                <a:spcPts val="0"/>
              </a:spcAft>
              <a:buNone/>
            </a:pPr>
            <a:r>
              <a:rPr lang="en" sz="1100"/>
              <a:t>Exponential (EMA)</a:t>
            </a:r>
            <a:endParaRPr sz="1100"/>
          </a:p>
          <a:p>
            <a:pPr indent="0" lvl="0" marL="0" rtl="0" algn="l">
              <a:spcBef>
                <a:spcPts val="0"/>
              </a:spcBef>
              <a:spcAft>
                <a:spcPts val="0"/>
              </a:spcAft>
              <a:buNone/>
            </a:pPr>
            <a:r>
              <a:rPr lang="en" sz="1100"/>
              <a:t>Fill Indicator (FILL)</a:t>
            </a:r>
            <a:endParaRPr sz="1100"/>
          </a:p>
          <a:p>
            <a:pPr indent="0" lvl="0" marL="0" rtl="0" algn="l">
              <a:spcBef>
                <a:spcPts val="0"/>
              </a:spcBef>
              <a:spcAft>
                <a:spcPts val="0"/>
              </a:spcAft>
              <a:buNone/>
            </a:pPr>
            <a:r>
              <a:rPr lang="en" sz="1100"/>
              <a:t>Ichimoku (ICH)</a:t>
            </a:r>
            <a:endParaRPr sz="1100"/>
          </a:p>
          <a:p>
            <a:pPr indent="0" lvl="0" marL="0" rtl="0" algn="l">
              <a:spcBef>
                <a:spcPts val="0"/>
              </a:spcBef>
              <a:spcAft>
                <a:spcPts val="0"/>
              </a:spcAft>
              <a:buNone/>
            </a:pPr>
            <a:r>
              <a:rPr lang="en" sz="1100"/>
              <a:t>Keltner Channel (KC)</a:t>
            </a:r>
            <a:endParaRPr sz="1100"/>
          </a:p>
          <a:p>
            <a:pPr indent="0" lvl="0" marL="0" rtl="0" algn="l">
              <a:spcBef>
                <a:spcPts val="0"/>
              </a:spcBef>
              <a:spcAft>
                <a:spcPts val="0"/>
              </a:spcAft>
              <a:buNone/>
            </a:pPr>
            <a:r>
              <a:rPr lang="en" sz="1100"/>
              <a:t>Linear Regression (LR)</a:t>
            </a:r>
            <a:endParaRPr sz="1100"/>
          </a:p>
          <a:p>
            <a:pPr indent="0" lvl="0" marL="0" rtl="0" algn="l">
              <a:spcBef>
                <a:spcPts val="0"/>
              </a:spcBef>
              <a:spcAft>
                <a:spcPts val="0"/>
              </a:spcAft>
              <a:buNone/>
            </a:pPr>
            <a:r>
              <a:rPr lang="en" sz="1100"/>
              <a:t>Moving Average Convergence Divergence (MACD)</a:t>
            </a:r>
            <a:endParaRPr sz="1100"/>
          </a:p>
          <a:p>
            <a:pPr indent="0" lvl="0" marL="0" rtl="0" algn="l">
              <a:spcBef>
                <a:spcPts val="0"/>
              </a:spcBef>
              <a:spcAft>
                <a:spcPts val="0"/>
              </a:spcAft>
              <a:buNone/>
            </a:pPr>
            <a:r>
              <a:rPr lang="en" sz="1100"/>
              <a:t>On Balance Volume (OBV)</a:t>
            </a:r>
            <a:endParaRPr sz="1100"/>
          </a:p>
          <a:p>
            <a:pPr indent="0" lvl="0" marL="0" rtl="0" algn="l">
              <a:spcBef>
                <a:spcPts val="0"/>
              </a:spcBef>
              <a:spcAft>
                <a:spcPts val="0"/>
              </a:spcAft>
              <a:buNone/>
            </a:pPr>
            <a:r>
              <a:rPr lang="en" sz="1100"/>
              <a:t>Relative Strength Indicator (RSI)</a:t>
            </a:r>
            <a:endParaRPr sz="1100"/>
          </a:p>
          <a:p>
            <a:pPr indent="0" lvl="0" marL="0" rtl="0" algn="l">
              <a:spcBef>
                <a:spcPts val="0"/>
              </a:spcBef>
              <a:spcAft>
                <a:spcPts val="0"/>
              </a:spcAft>
              <a:buNone/>
            </a:pPr>
            <a:r>
              <a:rPr lang="en" sz="1100"/>
              <a:t>Parabolic Sar (SAR)</a:t>
            </a:r>
            <a:endParaRPr sz="1100"/>
          </a:p>
          <a:p>
            <a:pPr indent="0" lvl="0" marL="0" rtl="0" algn="l">
              <a:spcBef>
                <a:spcPts val="0"/>
              </a:spcBef>
              <a:spcAft>
                <a:spcPts val="0"/>
              </a:spcAft>
              <a:buNone/>
            </a:pPr>
            <a:r>
              <a:rPr lang="en" sz="1100"/>
              <a:t>Simple Moving Average (SMA)</a:t>
            </a:r>
            <a:endParaRPr sz="1100"/>
          </a:p>
          <a:p>
            <a:pPr indent="0" lvl="0" marL="0" rtl="0" algn="l">
              <a:spcBef>
                <a:spcPts val="0"/>
              </a:spcBef>
              <a:spcAft>
                <a:spcPts val="0"/>
              </a:spcAft>
              <a:buNone/>
            </a:pPr>
            <a:r>
              <a:rPr lang="en" sz="1100"/>
              <a:t>Triple Exponential Moving Average (TEMA)</a:t>
            </a:r>
            <a:endParaRPr sz="1100"/>
          </a:p>
          <a:p>
            <a:pPr indent="0" lvl="0" marL="0" rtl="0" algn="l">
              <a:spcBef>
                <a:spcPts val="0"/>
              </a:spcBef>
              <a:spcAft>
                <a:spcPts val="0"/>
              </a:spcAft>
              <a:buNone/>
            </a:pPr>
            <a:r>
              <a:rPr lang="en" sz="1100"/>
              <a:t>Triangular Moving Average (TRIMA)</a:t>
            </a:r>
            <a:endParaRPr sz="1100"/>
          </a:p>
          <a:p>
            <a:pPr indent="0" lvl="0" marL="0" rtl="0" algn="l">
              <a:spcBef>
                <a:spcPts val="0"/>
              </a:spcBef>
              <a:spcAft>
                <a:spcPts val="0"/>
              </a:spcAft>
              <a:buNone/>
            </a:pPr>
            <a:r>
              <a:rPr lang="en" sz="1100"/>
              <a:t>Triple Exponential Moving Average Oscillator (TRIX)</a:t>
            </a:r>
            <a:endParaRPr sz="1100"/>
          </a:p>
          <a:p>
            <a:pPr indent="0" lvl="0" marL="0" rtl="0" algn="l">
              <a:spcBef>
                <a:spcPts val="0"/>
              </a:spcBef>
              <a:spcAft>
                <a:spcPts val="0"/>
              </a:spcAft>
              <a:buNone/>
            </a:pPr>
            <a:r>
              <a:rPr lang="en" sz="1100"/>
              <a:t>Time Series Forecast (TSF)</a:t>
            </a:r>
            <a:endParaRPr sz="1100"/>
          </a:p>
          <a:p>
            <a:pPr indent="0" lvl="0" marL="0" rtl="0" algn="l">
              <a:spcBef>
                <a:spcPts val="0"/>
              </a:spcBef>
              <a:spcAft>
                <a:spcPts val="0"/>
              </a:spcAft>
              <a:buNone/>
            </a:pPr>
            <a:r>
              <a:rPr lang="en" sz="1100"/>
              <a:t>TT Cumulative Vol Delta (TT CVD)</a:t>
            </a:r>
            <a:endParaRPr sz="1100"/>
          </a:p>
          <a:p>
            <a:pPr indent="0" lvl="0" marL="0" rtl="0" algn="l">
              <a:spcBef>
                <a:spcPts val="0"/>
              </a:spcBef>
              <a:spcAft>
                <a:spcPts val="0"/>
              </a:spcAft>
              <a:buNone/>
            </a:pPr>
            <a:r>
              <a:rPr lang="en" sz="1100"/>
              <a:t>Ultimate Oscillator (ULTOSC)</a:t>
            </a:r>
            <a:endParaRPr sz="1100"/>
          </a:p>
          <a:p>
            <a:pPr indent="0" lvl="0" marL="0" rtl="0" algn="l">
              <a:spcBef>
                <a:spcPts val="0"/>
              </a:spcBef>
              <a:spcAft>
                <a:spcPts val="0"/>
              </a:spcAft>
              <a:buNone/>
            </a:pPr>
            <a:r>
              <a:rPr lang="en" sz="1100"/>
              <a:t>Volume Delta (Vol ∆)</a:t>
            </a:r>
            <a:endParaRPr sz="1100"/>
          </a:p>
          <a:p>
            <a:pPr indent="0" lvl="0" marL="0" rtl="0" algn="l">
              <a:spcBef>
                <a:spcPts val="0"/>
              </a:spcBef>
              <a:spcAft>
                <a:spcPts val="0"/>
              </a:spcAft>
              <a:buNone/>
            </a:pPr>
            <a:r>
              <a:rPr lang="en" sz="1100"/>
              <a:t>Volume Weighted Average Price (VWAP)</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pic>
        <p:nvPicPr>
          <p:cNvPr id="318" name="Google Shape;318;p53"/>
          <p:cNvPicPr preferRelativeResize="0"/>
          <p:nvPr/>
        </p:nvPicPr>
        <p:blipFill rotWithShape="1">
          <a:blip r:embed="rId4">
            <a:alphaModFix/>
          </a:blip>
          <a:srcRect b="0" l="0" r="0" t="0"/>
          <a:stretch/>
        </p:blipFill>
        <p:spPr>
          <a:xfrm>
            <a:off x="408425" y="458000"/>
            <a:ext cx="1018725" cy="99575"/>
          </a:xfrm>
          <a:prstGeom prst="rect">
            <a:avLst/>
          </a:prstGeom>
          <a:noFill/>
          <a:ln>
            <a:noFill/>
          </a:ln>
        </p:spPr>
      </p:pic>
      <p:sp>
        <p:nvSpPr>
          <p:cNvPr id="319" name="Google Shape;319;p53"/>
          <p:cNvSpPr txBox="1"/>
          <p:nvPr/>
        </p:nvSpPr>
        <p:spPr>
          <a:xfrm>
            <a:off x="340225" y="609550"/>
            <a:ext cx="4533600" cy="12288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4200">
                <a:solidFill>
                  <a:schemeClr val="lt1"/>
                </a:solidFill>
                <a:latin typeface="Poppins"/>
                <a:ea typeface="Poppins"/>
                <a:cs typeface="Poppins"/>
                <a:sym typeface="Poppins"/>
              </a:rPr>
              <a:t>Domain Specific Agents</a:t>
            </a:r>
            <a:endParaRPr b="1" i="0" sz="4200" u="none" cap="none" strike="noStrike">
              <a:solidFill>
                <a:schemeClr val="lt1"/>
              </a:solidFill>
              <a:latin typeface="Poppins"/>
              <a:ea typeface="Poppins"/>
              <a:cs typeface="Poppins"/>
              <a:sym typeface="Poppins"/>
            </a:endParaRPr>
          </a:p>
        </p:txBody>
      </p:sp>
      <p:sp>
        <p:nvSpPr>
          <p:cNvPr id="320" name="Google Shape;320;p53"/>
          <p:cNvSpPr txBox="1"/>
          <p:nvPr/>
        </p:nvSpPr>
        <p:spPr>
          <a:xfrm>
            <a:off x="340225" y="2086000"/>
            <a:ext cx="7688700" cy="1924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200"/>
              <a:buFont typeface="Arial"/>
              <a:buNone/>
            </a:pPr>
            <a:r>
              <a:rPr lang="en" sz="1600">
                <a:solidFill>
                  <a:schemeClr val="lt1"/>
                </a:solidFill>
                <a:latin typeface="Poppins"/>
                <a:ea typeface="Poppins"/>
                <a:cs typeface="Poppins"/>
                <a:sym typeface="Poppins"/>
              </a:rPr>
              <a:t>There are so many, you can make money if you understand a field well.</a:t>
            </a:r>
            <a:endParaRPr b="0" i="0" sz="1200" u="none" cap="none" strike="noStrike">
              <a:solidFill>
                <a:schemeClr val="lt1"/>
              </a:solidFill>
              <a:latin typeface="Noto Sans Symbols"/>
              <a:ea typeface="Noto Sans Symbols"/>
              <a:cs typeface="Noto Sans Symbols"/>
              <a:sym typeface="Noto Sans Symbol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Arbitrage</a:t>
            </a:r>
            <a:endParaRPr b="1" i="0" sz="4000" u="none" cap="none" strike="noStrike">
              <a:solidFill>
                <a:srgbClr val="6D3BF5"/>
              </a:solidFill>
              <a:latin typeface="Poppins"/>
              <a:ea typeface="Poppins"/>
              <a:cs typeface="Poppins"/>
              <a:sym typeface="Poppins"/>
            </a:endParaRPr>
          </a:p>
        </p:txBody>
      </p:sp>
      <p:pic>
        <p:nvPicPr>
          <p:cNvPr id="327" name="Google Shape;327;p54"/>
          <p:cNvPicPr preferRelativeResize="0"/>
          <p:nvPr/>
        </p:nvPicPr>
        <p:blipFill>
          <a:blip r:embed="rId3">
            <a:alphaModFix/>
          </a:blip>
          <a:stretch>
            <a:fillRect/>
          </a:stretch>
        </p:blipFill>
        <p:spPr>
          <a:xfrm>
            <a:off x="568825" y="897550"/>
            <a:ext cx="8621266" cy="3941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5"/>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Market Making</a:t>
            </a:r>
            <a:endParaRPr b="1" i="0" sz="4000" u="none" cap="none" strike="noStrike">
              <a:solidFill>
                <a:srgbClr val="6D3BF5"/>
              </a:solidFill>
              <a:latin typeface="Poppins"/>
              <a:ea typeface="Poppins"/>
              <a:cs typeface="Poppins"/>
              <a:sym typeface="Poppins"/>
            </a:endParaRPr>
          </a:p>
        </p:txBody>
      </p:sp>
      <p:sp>
        <p:nvSpPr>
          <p:cNvPr id="334" name="Google Shape;334;p55"/>
          <p:cNvSpPr txBox="1"/>
          <p:nvPr/>
        </p:nvSpPr>
        <p:spPr>
          <a:xfrm>
            <a:off x="5214700" y="1207975"/>
            <a:ext cx="3732900" cy="305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None/>
            </a:pPr>
            <a:r>
              <a:t/>
            </a:r>
            <a:endParaRPr sz="1600">
              <a:solidFill>
                <a:srgbClr val="404040"/>
              </a:solidFill>
            </a:endParaRPr>
          </a:p>
          <a:p>
            <a:pPr indent="0" lvl="0" marL="457200" rtl="0" algn="l">
              <a:lnSpc>
                <a:spcPct val="90000"/>
              </a:lnSpc>
              <a:spcBef>
                <a:spcPts val="1000"/>
              </a:spcBef>
              <a:spcAft>
                <a:spcPts val="0"/>
              </a:spcAft>
              <a:buNone/>
            </a:pPr>
            <a:r>
              <a:t/>
            </a:r>
            <a:endParaRPr sz="1600">
              <a:solidFill>
                <a:srgbClr val="404040"/>
              </a:solidFill>
            </a:endParaRPr>
          </a:p>
          <a:p>
            <a:pPr indent="-330200" lvl="0" marL="457200" rtl="0" algn="l">
              <a:lnSpc>
                <a:spcPct val="90000"/>
              </a:lnSpc>
              <a:spcBef>
                <a:spcPts val="1000"/>
              </a:spcBef>
              <a:spcAft>
                <a:spcPts val="0"/>
              </a:spcAft>
              <a:buClr>
                <a:srgbClr val="404040"/>
              </a:buClr>
              <a:buSzPts val="1600"/>
              <a:buChar char="●"/>
            </a:pPr>
            <a:r>
              <a:rPr lang="en" sz="1600">
                <a:solidFill>
                  <a:srgbClr val="404040"/>
                </a:solidFill>
              </a:rPr>
              <a:t>Increase liquidity – rewarded with the spread</a:t>
            </a:r>
            <a:endParaRPr sz="1600">
              <a:solidFill>
                <a:srgbClr val="404040"/>
              </a:solidFill>
            </a:endParaRPr>
          </a:p>
          <a:p>
            <a:pPr indent="-330200" lvl="0" marL="457200" rtl="0" algn="l">
              <a:lnSpc>
                <a:spcPct val="90000"/>
              </a:lnSpc>
              <a:spcBef>
                <a:spcPts val="0"/>
              </a:spcBef>
              <a:spcAft>
                <a:spcPts val="0"/>
              </a:spcAft>
              <a:buClr>
                <a:srgbClr val="404040"/>
              </a:buClr>
              <a:buSzPts val="1600"/>
              <a:buChar char="●"/>
            </a:pPr>
            <a:r>
              <a:rPr lang="en" sz="1600">
                <a:solidFill>
                  <a:srgbClr val="404040"/>
                </a:solidFill>
              </a:rPr>
              <a:t>Be on both sides of the book</a:t>
            </a:r>
            <a:endParaRPr sz="1600">
              <a:solidFill>
                <a:srgbClr val="404040"/>
              </a:solidFill>
            </a:endParaRPr>
          </a:p>
          <a:p>
            <a:pPr indent="-330200" lvl="0" marL="457200" rtl="0" algn="l">
              <a:lnSpc>
                <a:spcPct val="90000"/>
              </a:lnSpc>
              <a:spcBef>
                <a:spcPts val="0"/>
              </a:spcBef>
              <a:spcAft>
                <a:spcPts val="0"/>
              </a:spcAft>
              <a:buClr>
                <a:srgbClr val="404040"/>
              </a:buClr>
              <a:buSzPts val="1600"/>
              <a:buChar char="●"/>
            </a:pPr>
            <a:r>
              <a:rPr lang="en" sz="1600">
                <a:solidFill>
                  <a:srgbClr val="404040"/>
                </a:solidFill>
              </a:rPr>
              <a:t>Can be dangerous in times of volatility</a:t>
            </a:r>
            <a:endParaRPr sz="1600">
              <a:solidFill>
                <a:srgbClr val="404040"/>
              </a:solidFill>
            </a:endParaRPr>
          </a:p>
        </p:txBody>
      </p:sp>
      <p:graphicFrame>
        <p:nvGraphicFramePr>
          <p:cNvPr id="335" name="Google Shape;335;p55"/>
          <p:cNvGraphicFramePr/>
          <p:nvPr/>
        </p:nvGraphicFramePr>
        <p:xfrm>
          <a:off x="663625" y="1384813"/>
          <a:ext cx="3000000" cy="3000000"/>
        </p:xfrm>
        <a:graphic>
          <a:graphicData uri="http://schemas.openxmlformats.org/drawingml/2006/table">
            <a:tbl>
              <a:tblPr>
                <a:noFill/>
                <a:tableStyleId>{8E988DE2-97A2-416A-9140-A02111780125}</a:tableStyleId>
              </a:tblPr>
              <a:tblGrid>
                <a:gridCol w="1292500"/>
                <a:gridCol w="1275125"/>
                <a:gridCol w="1269325"/>
              </a:tblGrid>
              <a:tr h="210200">
                <a:tc>
                  <a:txBody>
                    <a:bodyPr/>
                    <a:lstStyle/>
                    <a:p>
                      <a:pPr indent="0" lvl="0" marL="0" rtl="0" algn="ctr">
                        <a:lnSpc>
                          <a:spcPct val="115000"/>
                        </a:lnSpc>
                        <a:spcBef>
                          <a:spcPts val="0"/>
                        </a:spcBef>
                        <a:spcAft>
                          <a:spcPts val="0"/>
                        </a:spcAft>
                        <a:buNone/>
                      </a:pPr>
                      <a:r>
                        <a:rPr b="1" lang="en" sz="1300">
                          <a:solidFill>
                            <a:srgbClr val="FFFFFF"/>
                          </a:solidFill>
                        </a:rPr>
                        <a:t>Bids</a:t>
                      </a:r>
                      <a:endParaRPr b="1" sz="1300">
                        <a:solidFill>
                          <a:srgbClr val="FFFFFF"/>
                        </a:solidFill>
                      </a:endParaRPr>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4817"/>
                    </a:solidFill>
                  </a:tcPr>
                </a:tc>
                <a:tc>
                  <a:txBody>
                    <a:bodyPr/>
                    <a:lstStyle/>
                    <a:p>
                      <a:pPr indent="0" lvl="0" marL="0" rtl="0" algn="ctr">
                        <a:lnSpc>
                          <a:spcPct val="115000"/>
                        </a:lnSpc>
                        <a:spcBef>
                          <a:spcPts val="0"/>
                        </a:spcBef>
                        <a:spcAft>
                          <a:spcPts val="0"/>
                        </a:spcAft>
                        <a:buNone/>
                      </a:pPr>
                      <a:r>
                        <a:rPr b="1" lang="en" sz="1300">
                          <a:solidFill>
                            <a:srgbClr val="FFFFFF"/>
                          </a:solidFill>
                        </a:rPr>
                        <a:t>Price</a:t>
                      </a:r>
                      <a:endParaRPr b="1" sz="1300">
                        <a:solidFill>
                          <a:srgbClr val="FFFFFF"/>
                        </a:solidFill>
                      </a:endParaRPr>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4817"/>
                    </a:solidFill>
                  </a:tcPr>
                </a:tc>
                <a:tc>
                  <a:txBody>
                    <a:bodyPr/>
                    <a:lstStyle/>
                    <a:p>
                      <a:pPr indent="0" lvl="0" marL="0" rtl="0" algn="ctr">
                        <a:lnSpc>
                          <a:spcPct val="115000"/>
                        </a:lnSpc>
                        <a:spcBef>
                          <a:spcPts val="0"/>
                        </a:spcBef>
                        <a:spcAft>
                          <a:spcPts val="0"/>
                        </a:spcAft>
                        <a:buNone/>
                      </a:pPr>
                      <a:r>
                        <a:rPr b="1" lang="en" sz="1300">
                          <a:solidFill>
                            <a:srgbClr val="FFFFFF"/>
                          </a:solidFill>
                        </a:rPr>
                        <a:t>Asks</a:t>
                      </a:r>
                      <a:endParaRPr b="1" sz="1300">
                        <a:solidFill>
                          <a:srgbClr val="FFFFFF"/>
                        </a:solidFill>
                      </a:endParaRPr>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4817"/>
                    </a:solidFill>
                  </a:tcPr>
                </a:tc>
              </a:tr>
              <a:tr h="210200">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100.03</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2,1</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r>
              <a:tr h="205075">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100.02</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3,</a:t>
                      </a:r>
                      <a:r>
                        <a:rPr lang="en" sz="1300">
                          <a:solidFill>
                            <a:srgbClr val="FF0000"/>
                          </a:solidFill>
                        </a:rPr>
                        <a:t>7</a:t>
                      </a:r>
                      <a:r>
                        <a:rPr lang="en" sz="1300"/>
                        <a:t>,8</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r>
              <a:tr h="205075">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100.01</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5,2,15</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r>
              <a:tr h="205075">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100</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1,</a:t>
                      </a:r>
                      <a:r>
                        <a:rPr lang="en" sz="1300">
                          <a:solidFill>
                            <a:srgbClr val="FF0000"/>
                          </a:solidFill>
                        </a:rPr>
                        <a:t>2</a:t>
                      </a:r>
                      <a:r>
                        <a:rPr lang="en" sz="1300"/>
                        <a:t>,5</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r>
              <a:tr h="205075">
                <a:tc>
                  <a:txBody>
                    <a:bodyPr/>
                    <a:lstStyle/>
                    <a:p>
                      <a:pPr indent="0" lvl="0" marL="0" rtl="0" algn="ctr">
                        <a:lnSpc>
                          <a:spcPct val="115000"/>
                        </a:lnSpc>
                        <a:spcBef>
                          <a:spcPts val="0"/>
                        </a:spcBef>
                        <a:spcAft>
                          <a:spcPts val="0"/>
                        </a:spcAft>
                        <a:buNone/>
                      </a:pPr>
                      <a:r>
                        <a:rPr lang="en" sz="1300"/>
                        <a:t>1,</a:t>
                      </a:r>
                      <a:r>
                        <a:rPr lang="en" sz="1300">
                          <a:solidFill>
                            <a:srgbClr val="FF0000"/>
                          </a:solidFill>
                        </a:rPr>
                        <a:t>2</a:t>
                      </a:r>
                      <a:endParaRPr sz="1300">
                        <a:solidFill>
                          <a:srgbClr val="FF0000"/>
                        </a:solidFill>
                      </a:endParaRPr>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99.99</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r>
              <a:tr h="205075">
                <a:tc>
                  <a:txBody>
                    <a:bodyPr/>
                    <a:lstStyle/>
                    <a:p>
                      <a:pPr indent="0" lvl="0" marL="0" rtl="0" algn="ctr">
                        <a:lnSpc>
                          <a:spcPct val="115000"/>
                        </a:lnSpc>
                        <a:spcBef>
                          <a:spcPts val="0"/>
                        </a:spcBef>
                        <a:spcAft>
                          <a:spcPts val="0"/>
                        </a:spcAft>
                        <a:buNone/>
                      </a:pPr>
                      <a:r>
                        <a:rPr lang="en" sz="1300"/>
                        <a:t>2,</a:t>
                      </a:r>
                      <a:r>
                        <a:rPr lang="en" sz="1300">
                          <a:solidFill>
                            <a:srgbClr val="FF0000"/>
                          </a:solidFill>
                        </a:rPr>
                        <a:t>5</a:t>
                      </a:r>
                      <a:r>
                        <a:rPr lang="en" sz="1300"/>
                        <a:t>,8</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99.98</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r>
              <a:tr h="205075">
                <a:tc>
                  <a:txBody>
                    <a:bodyPr/>
                    <a:lstStyle/>
                    <a:p>
                      <a:pPr indent="0" lvl="0" marL="0" rtl="0" algn="ctr">
                        <a:lnSpc>
                          <a:spcPct val="115000"/>
                        </a:lnSpc>
                        <a:spcBef>
                          <a:spcPts val="0"/>
                        </a:spcBef>
                        <a:spcAft>
                          <a:spcPts val="0"/>
                        </a:spcAft>
                        <a:buNone/>
                      </a:pPr>
                      <a:r>
                        <a:rPr lang="en" sz="1300"/>
                        <a:t>3,8,1,5,3</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99.97</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r>
              <a:tr h="205075">
                <a:tc>
                  <a:txBody>
                    <a:bodyPr/>
                    <a:lstStyle/>
                    <a:p>
                      <a:pPr indent="0" lvl="0" marL="0" rtl="0" algn="ctr">
                        <a:lnSpc>
                          <a:spcPct val="115000"/>
                        </a:lnSpc>
                        <a:spcBef>
                          <a:spcPts val="0"/>
                        </a:spcBef>
                        <a:spcAft>
                          <a:spcPts val="0"/>
                        </a:spcAft>
                        <a:buNone/>
                      </a:pPr>
                      <a:r>
                        <a:rPr lang="en" sz="1300"/>
                        <a:t>2,3</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99.85</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Election Prediction</a:t>
            </a:r>
            <a:endParaRPr b="1" i="0" sz="4000" u="none" cap="none" strike="noStrike">
              <a:solidFill>
                <a:srgbClr val="6D3BF5"/>
              </a:solidFill>
              <a:latin typeface="Poppins"/>
              <a:ea typeface="Poppins"/>
              <a:cs typeface="Poppins"/>
              <a:sym typeface="Poppins"/>
            </a:endParaRPr>
          </a:p>
        </p:txBody>
      </p:sp>
      <p:sp>
        <p:nvSpPr>
          <p:cNvPr id="342" name="Google Shape;342;p56"/>
          <p:cNvSpPr txBox="1"/>
          <p:nvPr/>
        </p:nvSpPr>
        <p:spPr>
          <a:xfrm>
            <a:off x="3466125" y="1207982"/>
            <a:ext cx="5481300" cy="3057300"/>
          </a:xfrm>
          <a:prstGeom prst="rect">
            <a:avLst/>
          </a:prstGeom>
          <a:noFill/>
          <a:ln>
            <a:noFill/>
          </a:ln>
        </p:spPr>
        <p:txBody>
          <a:bodyPr anchorCtr="0" anchor="t" bIns="91425" lIns="91425" spcFirstLastPara="1" rIns="91425" wrap="square" tIns="91425">
            <a:noAutofit/>
          </a:bodyPr>
          <a:lstStyle/>
          <a:p>
            <a:pPr indent="-349250" lvl="0" marL="457200" rtl="0" algn="l">
              <a:lnSpc>
                <a:spcPct val="90000"/>
              </a:lnSpc>
              <a:spcBef>
                <a:spcPts val="1000"/>
              </a:spcBef>
              <a:spcAft>
                <a:spcPts val="0"/>
              </a:spcAft>
              <a:buClr>
                <a:srgbClr val="404040"/>
              </a:buClr>
              <a:buSzPts val="1900"/>
              <a:buChar char="●"/>
            </a:pPr>
            <a:r>
              <a:rPr lang="en" sz="1900">
                <a:solidFill>
                  <a:srgbClr val="404040"/>
                </a:solidFill>
              </a:rPr>
              <a:t>Use a DNN and features to predict the Trump election and the expected market reaction</a:t>
            </a:r>
            <a:endParaRPr sz="1900">
              <a:solidFill>
                <a:srgbClr val="404040"/>
              </a:solidFill>
            </a:endParaRPr>
          </a:p>
          <a:p>
            <a:pPr indent="-349250" lvl="0" marL="457200" rtl="0" algn="l">
              <a:lnSpc>
                <a:spcPct val="90000"/>
              </a:lnSpc>
              <a:spcBef>
                <a:spcPts val="0"/>
              </a:spcBef>
              <a:spcAft>
                <a:spcPts val="0"/>
              </a:spcAft>
              <a:buClr>
                <a:srgbClr val="404040"/>
              </a:buClr>
              <a:buSzPts val="1900"/>
              <a:buChar char="●"/>
            </a:pPr>
            <a:r>
              <a:rPr lang="en" sz="1900">
                <a:solidFill>
                  <a:srgbClr val="404040"/>
                </a:solidFill>
              </a:rPr>
              <a:t>Python utilizing Tensorflow</a:t>
            </a:r>
            <a:endParaRPr sz="1900">
              <a:solidFill>
                <a:srgbClr val="404040"/>
              </a:solidFill>
            </a:endParaRPr>
          </a:p>
          <a:p>
            <a:pPr indent="-349250" lvl="0" marL="457200" rtl="0" algn="l">
              <a:lnSpc>
                <a:spcPct val="90000"/>
              </a:lnSpc>
              <a:spcBef>
                <a:spcPts val="0"/>
              </a:spcBef>
              <a:spcAft>
                <a:spcPts val="0"/>
              </a:spcAft>
              <a:buClr>
                <a:srgbClr val="404040"/>
              </a:buClr>
              <a:buSzPts val="1900"/>
              <a:buChar char="●"/>
            </a:pPr>
            <a:r>
              <a:rPr lang="en" sz="1900">
                <a:solidFill>
                  <a:srgbClr val="404040"/>
                </a:solidFill>
              </a:rPr>
              <a:t>Identify the sources of data and the resulting outputs</a:t>
            </a:r>
            <a:endParaRPr sz="1900">
              <a:solidFill>
                <a:srgbClr val="404040"/>
              </a:solidFill>
            </a:endParaRPr>
          </a:p>
          <a:p>
            <a:pPr indent="-349250" lvl="0" marL="457200" rtl="0" algn="l">
              <a:lnSpc>
                <a:spcPct val="90000"/>
              </a:lnSpc>
              <a:spcBef>
                <a:spcPts val="0"/>
              </a:spcBef>
              <a:spcAft>
                <a:spcPts val="0"/>
              </a:spcAft>
              <a:buClr>
                <a:srgbClr val="404040"/>
              </a:buClr>
              <a:buSzPts val="1900"/>
              <a:buChar char="●"/>
            </a:pPr>
            <a:r>
              <a:rPr lang="en" sz="1900">
                <a:solidFill>
                  <a:srgbClr val="404040"/>
                </a:solidFill>
              </a:rPr>
              <a:t>What features do you think are most important to the model?</a:t>
            </a:r>
            <a:endParaRPr sz="1900">
              <a:solidFill>
                <a:srgbClr val="404040"/>
              </a:solidFill>
            </a:endParaRPr>
          </a:p>
        </p:txBody>
      </p:sp>
      <p:pic>
        <p:nvPicPr>
          <p:cNvPr id="343" name="Google Shape;343;p56"/>
          <p:cNvPicPr preferRelativeResize="0"/>
          <p:nvPr/>
        </p:nvPicPr>
        <p:blipFill>
          <a:blip r:embed="rId3">
            <a:alphaModFix/>
          </a:blip>
          <a:stretch>
            <a:fillRect/>
          </a:stretch>
        </p:blipFill>
        <p:spPr>
          <a:xfrm>
            <a:off x="769974" y="1049950"/>
            <a:ext cx="2374400" cy="3127650"/>
          </a:xfrm>
          <a:prstGeom prst="rect">
            <a:avLst/>
          </a:prstGeom>
          <a:noFill/>
          <a:ln>
            <a:noFill/>
          </a:ln>
        </p:spPr>
      </p:pic>
      <p:sp>
        <p:nvSpPr>
          <p:cNvPr id="344" name="Google Shape;344;p56"/>
          <p:cNvSpPr txBox="1"/>
          <p:nvPr/>
        </p:nvSpPr>
        <p:spPr>
          <a:xfrm>
            <a:off x="3330400" y="4016950"/>
            <a:ext cx="5316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Our code here:</a:t>
            </a:r>
            <a:br>
              <a:rPr b="1" lang="en"/>
            </a:br>
            <a:r>
              <a:rPr b="1" lang="en"/>
              <a:t>https://github.com/athaker/econ_136/tree/master/2024</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7"/>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Aerial Imagery</a:t>
            </a:r>
            <a:endParaRPr b="1" i="0" sz="4000" u="none" cap="none" strike="noStrike">
              <a:solidFill>
                <a:srgbClr val="6D3BF5"/>
              </a:solidFill>
              <a:latin typeface="Poppins"/>
              <a:ea typeface="Poppins"/>
              <a:cs typeface="Poppins"/>
              <a:sym typeface="Poppins"/>
            </a:endParaRPr>
          </a:p>
        </p:txBody>
      </p:sp>
      <p:sp>
        <p:nvSpPr>
          <p:cNvPr id="351" name="Google Shape;351;p57"/>
          <p:cNvSpPr txBox="1"/>
          <p:nvPr/>
        </p:nvSpPr>
        <p:spPr>
          <a:xfrm>
            <a:off x="3466125" y="1207982"/>
            <a:ext cx="5481300" cy="3057300"/>
          </a:xfrm>
          <a:prstGeom prst="rect">
            <a:avLst/>
          </a:prstGeom>
          <a:noFill/>
          <a:ln>
            <a:noFill/>
          </a:ln>
        </p:spPr>
        <p:txBody>
          <a:bodyPr anchorCtr="0" anchor="t" bIns="91425" lIns="91425" spcFirstLastPara="1" rIns="91425" wrap="square" tIns="91425">
            <a:noAutofit/>
          </a:bodyPr>
          <a:lstStyle/>
          <a:p>
            <a:pPr indent="-330200" lvl="0" marL="457200" rtl="0" algn="l">
              <a:lnSpc>
                <a:spcPct val="90000"/>
              </a:lnSpc>
              <a:spcBef>
                <a:spcPts val="1000"/>
              </a:spcBef>
              <a:spcAft>
                <a:spcPts val="0"/>
              </a:spcAft>
              <a:buClr>
                <a:srgbClr val="404040"/>
              </a:buClr>
              <a:buSzPts val="1600"/>
              <a:buChar char="●"/>
            </a:pPr>
            <a:r>
              <a:rPr lang="en" sz="1600">
                <a:solidFill>
                  <a:srgbClr val="404040"/>
                </a:solidFill>
              </a:rPr>
              <a:t>Thesis:</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Crop health can be influence the spot price of a </a:t>
            </a:r>
            <a:r>
              <a:rPr lang="en" sz="1600">
                <a:solidFill>
                  <a:srgbClr val="404040"/>
                </a:solidFill>
              </a:rPr>
              <a:t>tradable</a:t>
            </a:r>
            <a:r>
              <a:rPr lang="en" sz="1600">
                <a:solidFill>
                  <a:srgbClr val="404040"/>
                </a:solidFill>
              </a:rPr>
              <a:t> good</a:t>
            </a:r>
            <a:endParaRPr sz="1600">
              <a:solidFill>
                <a:srgbClr val="404040"/>
              </a:solidFill>
            </a:endParaRPr>
          </a:p>
          <a:p>
            <a:pPr indent="-330200" lvl="0" marL="457200" rtl="0" algn="l">
              <a:lnSpc>
                <a:spcPct val="90000"/>
              </a:lnSpc>
              <a:spcBef>
                <a:spcPts val="0"/>
              </a:spcBef>
              <a:spcAft>
                <a:spcPts val="0"/>
              </a:spcAft>
              <a:buClr>
                <a:srgbClr val="404040"/>
              </a:buClr>
              <a:buSzPts val="1600"/>
              <a:buChar char="●"/>
            </a:pPr>
            <a:r>
              <a:rPr lang="en" sz="1600">
                <a:solidFill>
                  <a:srgbClr val="404040"/>
                </a:solidFill>
              </a:rPr>
              <a:t>Execution:</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Take aerial imagery of Hard Red Winter wheat farms, use that as a proxy for health</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Google Earth gives us free historical imagery over time</a:t>
            </a:r>
            <a:endParaRPr sz="1600">
              <a:solidFill>
                <a:srgbClr val="404040"/>
              </a:solidFill>
            </a:endParaRPr>
          </a:p>
          <a:p>
            <a:pPr indent="-330200" lvl="0" marL="457200" rtl="0" algn="l">
              <a:lnSpc>
                <a:spcPct val="90000"/>
              </a:lnSpc>
              <a:spcBef>
                <a:spcPts val="0"/>
              </a:spcBef>
              <a:spcAft>
                <a:spcPts val="0"/>
              </a:spcAft>
              <a:buClr>
                <a:srgbClr val="404040"/>
              </a:buClr>
              <a:buSzPts val="1600"/>
              <a:buChar char="●"/>
            </a:pPr>
            <a:r>
              <a:rPr lang="en" sz="1600">
                <a:solidFill>
                  <a:srgbClr val="404040"/>
                </a:solidFill>
              </a:rPr>
              <a:t>Machine Learning:</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ML models can ”learn” the influence of crop health from market prices</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Use pretrained models that have been trained on large datasets</a:t>
            </a:r>
            <a:endParaRPr sz="1600">
              <a:solidFill>
                <a:srgbClr val="404040"/>
              </a:solidFill>
            </a:endParaRPr>
          </a:p>
          <a:p>
            <a:pPr indent="0" lvl="0" marL="0" rtl="0" algn="l">
              <a:lnSpc>
                <a:spcPct val="90000"/>
              </a:lnSpc>
              <a:spcBef>
                <a:spcPts val="1000"/>
              </a:spcBef>
              <a:spcAft>
                <a:spcPts val="0"/>
              </a:spcAft>
              <a:buNone/>
            </a:pPr>
            <a:r>
              <a:t/>
            </a:r>
            <a:endParaRPr sz="1600">
              <a:solidFill>
                <a:srgbClr val="404040"/>
              </a:solidFill>
            </a:endParaRPr>
          </a:p>
        </p:txBody>
      </p:sp>
      <p:pic>
        <p:nvPicPr>
          <p:cNvPr id="352" name="Google Shape;352;p57"/>
          <p:cNvPicPr preferRelativeResize="0"/>
          <p:nvPr/>
        </p:nvPicPr>
        <p:blipFill>
          <a:blip r:embed="rId3">
            <a:alphaModFix/>
          </a:blip>
          <a:stretch>
            <a:fillRect/>
          </a:stretch>
        </p:blipFill>
        <p:spPr>
          <a:xfrm>
            <a:off x="196200" y="1793975"/>
            <a:ext cx="3161326" cy="1885300"/>
          </a:xfrm>
          <a:prstGeom prst="rect">
            <a:avLst/>
          </a:prstGeom>
          <a:noFill/>
          <a:ln>
            <a:noFill/>
          </a:ln>
        </p:spPr>
      </p:pic>
      <p:sp>
        <p:nvSpPr>
          <p:cNvPr id="353" name="Google Shape;353;p57"/>
          <p:cNvSpPr txBox="1"/>
          <p:nvPr/>
        </p:nvSpPr>
        <p:spPr>
          <a:xfrm>
            <a:off x="2600050" y="4575700"/>
            <a:ext cx="79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Our Model Here: </a:t>
            </a:r>
            <a:r>
              <a:rPr lang="en" sz="1200"/>
              <a:t>https://github.com/athaker/econ_136/tree/master/archived_lectures/2019</a:t>
            </a:r>
            <a:endParaRPr sz="1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8" name="Shape 358"/>
        <p:cNvGrpSpPr/>
        <p:nvPr/>
      </p:nvGrpSpPr>
      <p:grpSpPr>
        <a:xfrm>
          <a:off x="0" y="0"/>
          <a:ext cx="0" cy="0"/>
          <a:chOff x="0" y="0"/>
          <a:chExt cx="0" cy="0"/>
        </a:xfrm>
      </p:grpSpPr>
      <p:pic>
        <p:nvPicPr>
          <p:cNvPr id="359" name="Google Shape;359;p58"/>
          <p:cNvPicPr preferRelativeResize="0"/>
          <p:nvPr/>
        </p:nvPicPr>
        <p:blipFill rotWithShape="1">
          <a:blip r:embed="rId4">
            <a:alphaModFix/>
          </a:blip>
          <a:srcRect b="0" l="0" r="0" t="0"/>
          <a:stretch/>
        </p:blipFill>
        <p:spPr>
          <a:xfrm>
            <a:off x="3306862" y="1024611"/>
            <a:ext cx="2390999" cy="1804855"/>
          </a:xfrm>
          <a:prstGeom prst="rect">
            <a:avLst/>
          </a:prstGeom>
          <a:noFill/>
          <a:ln>
            <a:noFill/>
          </a:ln>
        </p:spPr>
      </p:pic>
      <p:sp>
        <p:nvSpPr>
          <p:cNvPr id="360" name="Google Shape;360;p58"/>
          <p:cNvSpPr txBox="1"/>
          <p:nvPr/>
        </p:nvSpPr>
        <p:spPr>
          <a:xfrm>
            <a:off x="340225" y="2633650"/>
            <a:ext cx="8354400" cy="7578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rgbClr val="000000"/>
              </a:buClr>
              <a:buSzPts val="4200"/>
              <a:buFont typeface="Arial"/>
              <a:buNone/>
            </a:pPr>
            <a:r>
              <a:rPr b="1" i="0" lang="en" sz="4200" u="none" cap="none" strike="noStrike">
                <a:solidFill>
                  <a:srgbClr val="73F1BC"/>
                </a:solidFill>
                <a:latin typeface="Poppins"/>
                <a:ea typeface="Poppins"/>
                <a:cs typeface="Poppins"/>
                <a:sym typeface="Poppins"/>
              </a:rPr>
              <a:t>Thank You!</a:t>
            </a:r>
            <a:endParaRPr b="1" i="0" sz="4200" u="none" cap="none" strike="noStrike">
              <a:solidFill>
                <a:srgbClr val="73F1BC"/>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9"/>
          <p:cNvSpPr txBox="1"/>
          <p:nvPr>
            <p:ph idx="12" type="sldNum"/>
          </p:nvPr>
        </p:nvSpPr>
        <p:spPr>
          <a:xfrm>
            <a:off x="4484637" y="4905375"/>
            <a:ext cx="170100" cy="1770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Clr>
                <a:srgbClr val="000000"/>
              </a:buClr>
              <a:buSzPct val="180000"/>
              <a:buFont typeface="Helvetica Neue Light"/>
              <a:buNone/>
            </a:pPr>
            <a:fld id="{00000000-1234-1234-1234-123412341234}" type="slidenum">
              <a:rPr lang="en"/>
              <a:t>‹#›</a:t>
            </a:fld>
            <a:endParaRPr sz="500">
              <a:latin typeface="Arial"/>
              <a:ea typeface="Arial"/>
              <a:cs typeface="Arial"/>
              <a:sym typeface="Arial"/>
            </a:endParaRPr>
          </a:p>
        </p:txBody>
      </p:sp>
      <p:sp>
        <p:nvSpPr>
          <p:cNvPr id="366" name="Google Shape;366;p59"/>
          <p:cNvSpPr txBox="1"/>
          <p:nvPr>
            <p:ph type="title"/>
          </p:nvPr>
        </p:nvSpPr>
        <p:spPr>
          <a:xfrm>
            <a:off x="140125" y="124825"/>
            <a:ext cx="3968700" cy="51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The Name Tauroi</a:t>
            </a:r>
            <a:endParaRPr/>
          </a:p>
        </p:txBody>
      </p:sp>
      <p:sp>
        <p:nvSpPr>
          <p:cNvPr id="367" name="Google Shape;367;p59"/>
          <p:cNvSpPr txBox="1"/>
          <p:nvPr/>
        </p:nvSpPr>
        <p:spPr>
          <a:xfrm>
            <a:off x="2931350" y="1695800"/>
            <a:ext cx="3335400" cy="7311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FFFFFF"/>
              </a:buClr>
              <a:buSzPts val="4500"/>
              <a:buFont typeface="Helvetica Neue"/>
              <a:buNone/>
            </a:pPr>
            <a:r>
              <a:rPr b="1" i="0" lang="en" sz="4500" u="none" cap="none" strike="noStrike">
                <a:solidFill>
                  <a:srgbClr val="FFFFFF"/>
                </a:solidFill>
              </a:rPr>
              <a:t>Tau</a:t>
            </a:r>
            <a:r>
              <a:rPr b="1" i="0" lang="en" sz="4500" u="none" cap="none" strike="noStrike">
                <a:solidFill>
                  <a:srgbClr val="AC914D"/>
                </a:solidFill>
              </a:rPr>
              <a:t> + </a:t>
            </a:r>
            <a:r>
              <a:rPr b="1" i="0" lang="en" sz="4500" u="none" cap="none" strike="noStrike">
                <a:solidFill>
                  <a:srgbClr val="FFFFFF"/>
                </a:solidFill>
              </a:rPr>
              <a:t>ROI</a:t>
            </a:r>
            <a:endParaRPr sz="500"/>
          </a:p>
        </p:txBody>
      </p:sp>
      <p:sp>
        <p:nvSpPr>
          <p:cNvPr id="368" name="Google Shape;368;p59"/>
          <p:cNvSpPr txBox="1"/>
          <p:nvPr/>
        </p:nvSpPr>
        <p:spPr>
          <a:xfrm>
            <a:off x="1338900" y="2607275"/>
            <a:ext cx="2885400" cy="598500"/>
          </a:xfrm>
          <a:prstGeom prst="rect">
            <a:avLst/>
          </a:prstGeom>
          <a:noFill/>
          <a:ln>
            <a:noFill/>
          </a:ln>
        </p:spPr>
        <p:txBody>
          <a:bodyPr anchorCtr="0" anchor="ctr" bIns="19050" lIns="19050" spcFirstLastPara="1" rIns="19050" wrap="square" tIns="19050">
            <a:spAutoFit/>
          </a:bodyPr>
          <a:lstStyle/>
          <a:p>
            <a:pPr indent="0" lvl="0" marL="0" marR="0" rtl="0" algn="r">
              <a:lnSpc>
                <a:spcPct val="68656"/>
              </a:lnSpc>
              <a:spcBef>
                <a:spcPts val="0"/>
              </a:spcBef>
              <a:spcAft>
                <a:spcPts val="0"/>
              </a:spcAft>
              <a:buClr>
                <a:srgbClr val="000000"/>
              </a:buClr>
              <a:buSzPts val="1400"/>
              <a:buFont typeface="Helvetica Neue Light"/>
              <a:buNone/>
            </a:pPr>
            <a:r>
              <a:rPr i="0" lang="en" sz="1400" u="none" cap="none" strike="noStrike">
                <a:solidFill>
                  <a:srgbClr val="000000"/>
                </a:solidFill>
              </a:rPr>
              <a:t>Tau = </a:t>
            </a:r>
            <a:r>
              <a:rPr i="0" lang="en" sz="2500" u="none" cap="none" strike="noStrike">
                <a:solidFill>
                  <a:srgbClr val="000000"/>
                </a:solidFill>
              </a:rPr>
              <a:t>𝛕</a:t>
            </a:r>
            <a:r>
              <a:rPr i="0" lang="en" sz="1400" u="none" cap="none" strike="noStrike">
                <a:solidFill>
                  <a:srgbClr val="000000"/>
                </a:solidFill>
              </a:rPr>
              <a:t> Time constant in electrical engineering - properly estimating time can generate systematic profits</a:t>
            </a:r>
            <a:endParaRPr sz="500"/>
          </a:p>
        </p:txBody>
      </p:sp>
      <p:sp>
        <p:nvSpPr>
          <p:cNvPr id="369" name="Google Shape;369;p59"/>
          <p:cNvSpPr txBox="1"/>
          <p:nvPr/>
        </p:nvSpPr>
        <p:spPr>
          <a:xfrm>
            <a:off x="4906967" y="2595372"/>
            <a:ext cx="2825700" cy="254100"/>
          </a:xfrm>
          <a:prstGeom prst="rect">
            <a:avLst/>
          </a:prstGeom>
          <a:noFill/>
          <a:ln>
            <a:noFill/>
          </a:ln>
        </p:spPr>
        <p:txBody>
          <a:bodyPr anchorCtr="0" anchor="ctr" bIns="19050" lIns="19050" spcFirstLastPara="1" rIns="19050" wrap="square" tIns="19050">
            <a:spAutoFit/>
          </a:bodyPr>
          <a:lstStyle/>
          <a:p>
            <a:pPr indent="0" lvl="0" marL="0" marR="0" rtl="0" algn="l">
              <a:lnSpc>
                <a:spcPct val="127777"/>
              </a:lnSpc>
              <a:spcBef>
                <a:spcPts val="0"/>
              </a:spcBef>
              <a:spcAft>
                <a:spcPts val="0"/>
              </a:spcAft>
              <a:buClr>
                <a:srgbClr val="000000"/>
              </a:buClr>
              <a:buSzPts val="1400"/>
              <a:buFont typeface="Helvetica Neue Light"/>
              <a:buNone/>
            </a:pPr>
            <a:r>
              <a:rPr i="0" lang="en" sz="1400" u="none" cap="none" strike="noStrike">
                <a:solidFill>
                  <a:srgbClr val="000000"/>
                </a:solidFill>
              </a:rPr>
              <a:t>ROI = Return on investment</a:t>
            </a:r>
            <a:endParaRPr sz="500"/>
          </a:p>
        </p:txBody>
      </p:sp>
      <p:sp>
        <p:nvSpPr>
          <p:cNvPr id="370" name="Google Shape;370;p59"/>
          <p:cNvSpPr txBox="1"/>
          <p:nvPr/>
        </p:nvSpPr>
        <p:spPr>
          <a:xfrm>
            <a:off x="1556612" y="3736286"/>
            <a:ext cx="6084900" cy="2385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204586"/>
              </a:buClr>
              <a:buSzPts val="1400"/>
              <a:buFont typeface="Helvetica Neue"/>
              <a:buNone/>
            </a:pPr>
            <a:r>
              <a:rPr b="1" i="0" lang="en" sz="1300" u="none" cap="none" strike="noStrike">
                <a:solidFill>
                  <a:srgbClr val="204586"/>
                </a:solidFill>
              </a:rPr>
              <a:t>Tauroi </a:t>
            </a:r>
            <a:r>
              <a:rPr b="1" i="0" lang="en" sz="1300" u="none" cap="none" strike="noStrike">
                <a:solidFill>
                  <a:srgbClr val="AC914D"/>
                </a:solidFill>
              </a:rPr>
              <a:t>=</a:t>
            </a:r>
            <a:r>
              <a:rPr b="1" i="0" lang="en" sz="1300" u="none" cap="none" strike="noStrike">
                <a:solidFill>
                  <a:srgbClr val="204586"/>
                </a:solidFill>
              </a:rPr>
              <a:t> Tauroi Khalkeoi were mechanical bronze bulls in greek mythology</a:t>
            </a:r>
            <a:endParaRPr sz="400"/>
          </a:p>
        </p:txBody>
      </p:sp>
      <p:cxnSp>
        <p:nvCxnSpPr>
          <p:cNvPr id="371" name="Google Shape;371;p59"/>
          <p:cNvCxnSpPr/>
          <p:nvPr/>
        </p:nvCxnSpPr>
        <p:spPr>
          <a:xfrm rot="10800000">
            <a:off x="4565650" y="2550489"/>
            <a:ext cx="0" cy="804600"/>
          </a:xfrm>
          <a:prstGeom prst="straightConnector1">
            <a:avLst/>
          </a:prstGeom>
          <a:noFill/>
          <a:ln cap="flat" cmpd="sng" w="50800">
            <a:solidFill>
              <a:srgbClr val="AC914D"/>
            </a:solidFill>
            <a:prstDash val="solid"/>
            <a:miter lim="400000"/>
            <a:headEnd len="sm" w="sm" type="none"/>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0"/>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ETF / Index Arbitrage</a:t>
            </a:r>
            <a:endParaRPr b="1" i="0" sz="4000" u="none" cap="none" strike="noStrike">
              <a:solidFill>
                <a:srgbClr val="6D3BF5"/>
              </a:solidFill>
              <a:latin typeface="Poppins"/>
              <a:ea typeface="Poppins"/>
              <a:cs typeface="Poppins"/>
              <a:sym typeface="Poppins"/>
            </a:endParaRPr>
          </a:p>
        </p:txBody>
      </p:sp>
      <p:graphicFrame>
        <p:nvGraphicFramePr>
          <p:cNvPr id="378" name="Google Shape;378;p60"/>
          <p:cNvGraphicFramePr/>
          <p:nvPr/>
        </p:nvGraphicFramePr>
        <p:xfrm>
          <a:off x="6158000" y="170175"/>
          <a:ext cx="3000000" cy="3000000"/>
        </p:xfrm>
        <a:graphic>
          <a:graphicData uri="http://schemas.openxmlformats.org/drawingml/2006/table">
            <a:tbl>
              <a:tblPr>
                <a:noFill/>
                <a:tableStyleId>{8E988DE2-97A2-416A-9140-A02111780125}</a:tableStyleId>
              </a:tblPr>
              <a:tblGrid>
                <a:gridCol w="674425"/>
                <a:gridCol w="498475"/>
                <a:gridCol w="351875"/>
                <a:gridCol w="351875"/>
                <a:gridCol w="239475"/>
                <a:gridCol w="263900"/>
                <a:gridCol w="605975"/>
              </a:tblGrid>
              <a:tr h="247650">
                <a:tc>
                  <a:txBody>
                    <a:bodyPr/>
                    <a:lstStyle/>
                    <a:p>
                      <a:pPr indent="0" lvl="0" marL="0" rtl="0" algn="l">
                        <a:lnSpc>
                          <a:spcPct val="115000"/>
                        </a:lnSpc>
                        <a:spcBef>
                          <a:spcPts val="0"/>
                        </a:spcBef>
                        <a:spcAft>
                          <a:spcPts val="0"/>
                        </a:spcAft>
                        <a:buNone/>
                      </a:pPr>
                      <a:r>
                        <a:rPr b="1" lang="en" sz="800">
                          <a:solidFill>
                            <a:srgbClr val="FFFFFF"/>
                          </a:solidFill>
                        </a:rPr>
                        <a:t>Unit</a:t>
                      </a:r>
                      <a:endParaRPr b="1" sz="800">
                        <a:solidFill>
                          <a:srgbClr val="FFFFFF"/>
                        </a:solidFill>
                      </a:endParaRPr>
                    </a:p>
                  </a:txBody>
                  <a:tcPr marT="6350" marB="91425" marR="6350" marL="6350" anchor="b">
                    <a:lnL cap="flat" cmpd="sng" w="9525">
                      <a:solidFill>
                        <a:srgbClr val="029B2D"/>
                      </a:solidFill>
                      <a:prstDash val="solid"/>
                      <a:round/>
                      <a:headEnd len="sm" w="sm" type="none"/>
                      <a:tailEnd len="sm" w="sm" type="none"/>
                    </a:lnL>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Last</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Bid</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Ask</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Size</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Net</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Percentage</a:t>
                      </a:r>
                      <a:endParaRPr b="1" sz="800">
                        <a:solidFill>
                          <a:srgbClr val="FFFFFF"/>
                        </a:solidFill>
                      </a:endParaRPr>
                    </a:p>
                  </a:txBody>
                  <a:tcPr marT="6350" marB="91425" marR="6350" marL="6350" anchor="b">
                    <a:lnR cap="flat" cmpd="sng" w="9525">
                      <a:solidFill>
                        <a:srgbClr val="029B2D"/>
                      </a:solidFill>
                      <a:prstDash val="solid"/>
                      <a:round/>
                      <a:headEnd len="sm" w="sm" type="none"/>
                      <a:tailEnd len="sm" w="sm" type="none"/>
                    </a:lnR>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r>
              <a:tr h="247650">
                <a:tc>
                  <a:txBody>
                    <a:bodyPr/>
                    <a:lstStyle/>
                    <a:p>
                      <a:pPr indent="0" lvl="0" marL="0" rtl="0" algn="l">
                        <a:lnSpc>
                          <a:spcPct val="115000"/>
                        </a:lnSpc>
                        <a:spcBef>
                          <a:spcPts val="0"/>
                        </a:spcBef>
                        <a:spcAft>
                          <a:spcPts val="0"/>
                        </a:spcAft>
                        <a:buNone/>
                      </a:pPr>
                      <a:r>
                        <a:rPr lang="en" sz="800"/>
                        <a:t>AMD</a:t>
                      </a:r>
                      <a:endParaRPr sz="800"/>
                    </a:p>
                  </a:txBody>
                  <a:tcPr marT="6350" marB="91425" marR="6350" marL="6350" anchor="b">
                    <a:lnL cap="flat" cmpd="sng" w="9525">
                      <a:solidFill>
                        <a:srgbClr val="029B2D"/>
                      </a:solidFill>
                      <a:prstDash val="solid"/>
                      <a:round/>
                      <a:headEnd len="sm" w="sm" type="none"/>
                      <a:tailEnd len="sm" w="sm" type="none"/>
                    </a:lnL>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13.7</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13.69</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13.7</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100</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1370</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16.31%</a:t>
                      </a:r>
                      <a:endParaRPr sz="800"/>
                    </a:p>
                  </a:txBody>
                  <a:tcPr marT="6350" marB="91425" marR="6350" marL="6350" anchor="b">
                    <a:lnR cap="flat" cmpd="sng" w="9525">
                      <a:solidFill>
                        <a:srgbClr val="029B2D"/>
                      </a:solidFill>
                      <a:prstDash val="solid"/>
                      <a:round/>
                      <a:headEnd len="sm" w="sm" type="none"/>
                      <a:tailEnd len="sm" w="sm" type="none"/>
                    </a:lnR>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r>
              <a:tr h="247650">
                <a:tc>
                  <a:txBody>
                    <a:bodyPr/>
                    <a:lstStyle/>
                    <a:p>
                      <a:pPr indent="0" lvl="0" marL="0" rtl="0" algn="l">
                        <a:lnSpc>
                          <a:spcPct val="115000"/>
                        </a:lnSpc>
                        <a:spcBef>
                          <a:spcPts val="0"/>
                        </a:spcBef>
                        <a:spcAft>
                          <a:spcPts val="0"/>
                        </a:spcAft>
                        <a:buNone/>
                      </a:pPr>
                      <a:r>
                        <a:rPr lang="en" sz="800"/>
                        <a:t>INTC</a:t>
                      </a:r>
                      <a:endParaRPr sz="800"/>
                    </a:p>
                  </a:txBody>
                  <a:tcPr marT="6350" marB="91425" marR="6350" marL="6350" anchor="b">
                    <a:lnL cap="flat" cmpd="sng" w="9525">
                      <a:solidFill>
                        <a:srgbClr val="029B2D"/>
                      </a:solidFill>
                      <a:prstDash val="solid"/>
                      <a:round/>
                      <a:headEnd len="sm" w="sm" type="none"/>
                      <a:tailEnd len="sm" w="sm" type="none"/>
                    </a:lnL>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35.16</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35.16</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35.17</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100</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3516</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41.85%</a:t>
                      </a:r>
                      <a:endParaRPr sz="800"/>
                    </a:p>
                  </a:txBody>
                  <a:tcPr marT="6350" marB="91425" marR="6350" marL="6350" anchor="b">
                    <a:lnR cap="flat" cmpd="sng" w="9525">
                      <a:solidFill>
                        <a:srgbClr val="029B2D"/>
                      </a:solidFill>
                      <a:prstDash val="solid"/>
                      <a:round/>
                      <a:headEnd len="sm" w="sm" type="none"/>
                      <a:tailEnd len="sm" w="sm" type="none"/>
                    </a:lnR>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lang="en" sz="800"/>
                        <a:t>AAPL</a:t>
                      </a:r>
                      <a:endParaRPr sz="800"/>
                    </a:p>
                  </a:txBody>
                  <a:tcPr marT="6350" marB="91425" marR="6350" marL="6350" anchor="b">
                    <a:lnL cap="flat" cmpd="sng" w="9525">
                      <a:solidFill>
                        <a:srgbClr val="029B2D"/>
                      </a:solidFill>
                      <a:prstDash val="solid"/>
                      <a:round/>
                      <a:headEnd len="sm" w="sm" type="none"/>
                      <a:tailEnd len="sm" w="sm" type="none"/>
                    </a:lnL>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140.64</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140.63</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140.64</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25</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3516</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41.85%</a:t>
                      </a:r>
                      <a:endParaRPr sz="800"/>
                    </a:p>
                  </a:txBody>
                  <a:tcPr marT="6350" marB="91425" marR="6350" marL="6350" anchor="b">
                    <a:lnR cap="flat" cmpd="sng" w="9525">
                      <a:solidFill>
                        <a:srgbClr val="029B2D"/>
                      </a:solidFill>
                      <a:prstDash val="solid"/>
                      <a:round/>
                      <a:headEnd len="sm" w="sm" type="none"/>
                      <a:tailEnd len="sm" w="sm" type="none"/>
                    </a:lnR>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sz="800"/>
                        <a:t>Creation Unit</a:t>
                      </a:r>
                      <a:endParaRPr b="1" sz="800"/>
                    </a:p>
                  </a:txBody>
                  <a:tcPr marT="6350" marB="91425" marR="6350" marL="6350" anchor="b">
                    <a:lnL cap="flat" cmpd="sng" w="9525">
                      <a:solidFill>
                        <a:srgbClr val="029B2D"/>
                      </a:solidFill>
                      <a:prstDash val="solid"/>
                      <a:round/>
                      <a:headEnd len="sm" w="sm" type="none"/>
                      <a:tailEnd len="sm" w="sm" type="none"/>
                    </a:lnL>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84.02</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84.01</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84.03</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100</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8402</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100.00%</a:t>
                      </a:r>
                      <a:endParaRPr b="1" sz="800"/>
                    </a:p>
                  </a:txBody>
                  <a:tcPr marT="6350" marB="91425" marR="6350" marL="6350" anchor="b">
                    <a:lnR cap="flat" cmpd="sng" w="9525">
                      <a:solidFill>
                        <a:srgbClr val="029B2D"/>
                      </a:solidFill>
                      <a:prstDash val="solid"/>
                      <a:round/>
                      <a:headEnd len="sm" w="sm" type="none"/>
                      <a:tailEnd len="sm" w="sm" type="none"/>
                    </a:lnR>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r>
            </a:tbl>
          </a:graphicData>
        </a:graphic>
      </p:graphicFrame>
      <p:graphicFrame>
        <p:nvGraphicFramePr>
          <p:cNvPr id="379" name="Google Shape;379;p60"/>
          <p:cNvGraphicFramePr/>
          <p:nvPr/>
        </p:nvGraphicFramePr>
        <p:xfrm>
          <a:off x="6612775" y="1671550"/>
          <a:ext cx="3000000" cy="3000000"/>
        </p:xfrm>
        <a:graphic>
          <a:graphicData uri="http://schemas.openxmlformats.org/drawingml/2006/table">
            <a:tbl>
              <a:tblPr>
                <a:noFill/>
                <a:tableStyleId>{8E988DE2-97A2-416A-9140-A02111780125}</a:tableStyleId>
              </a:tblPr>
              <a:tblGrid>
                <a:gridCol w="952500"/>
                <a:gridCol w="819150"/>
              </a:tblGrid>
              <a:tr h="166225">
                <a:tc>
                  <a:txBody>
                    <a:bodyPr/>
                    <a:lstStyle/>
                    <a:p>
                      <a:pPr indent="0" lvl="0" marL="0" rtl="0" algn="l">
                        <a:lnSpc>
                          <a:spcPct val="115000"/>
                        </a:lnSpc>
                        <a:spcBef>
                          <a:spcPts val="0"/>
                        </a:spcBef>
                        <a:spcAft>
                          <a:spcPts val="0"/>
                        </a:spcAft>
                        <a:buNone/>
                      </a:pPr>
                      <a:r>
                        <a:rPr b="1" lang="en" sz="1000">
                          <a:solidFill>
                            <a:srgbClr val="FFFFFF"/>
                          </a:solidFill>
                        </a:rPr>
                        <a:t>Example</a:t>
                      </a:r>
                      <a:endParaRPr b="1" sz="1000">
                        <a:solidFill>
                          <a:srgbClr val="FFFFFF"/>
                        </a:solidFill>
                      </a:endParaRPr>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1000">
                          <a:solidFill>
                            <a:srgbClr val="FFFFFF"/>
                          </a:solidFill>
                        </a:rPr>
                        <a:t>Price</a:t>
                      </a:r>
                      <a:endParaRPr b="1" sz="1000">
                        <a:solidFill>
                          <a:srgbClr val="FFFFFF"/>
                        </a:solidFill>
                      </a:endParaRPr>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29B2D"/>
                    </a:solidFill>
                  </a:tcPr>
                </a:tc>
              </a:tr>
              <a:tr h="235250">
                <a:tc>
                  <a:txBody>
                    <a:bodyPr/>
                    <a:lstStyle/>
                    <a:p>
                      <a:pPr indent="0" lvl="0" marL="0" rtl="0" algn="l">
                        <a:lnSpc>
                          <a:spcPct val="115000"/>
                        </a:lnSpc>
                        <a:spcBef>
                          <a:spcPts val="0"/>
                        </a:spcBef>
                        <a:spcAft>
                          <a:spcPts val="0"/>
                        </a:spcAft>
                        <a:buNone/>
                      </a:pPr>
                      <a:r>
                        <a:rPr lang="en" sz="1000"/>
                        <a:t>Calculated Ask</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c>
                  <a:txBody>
                    <a:bodyPr/>
                    <a:lstStyle/>
                    <a:p>
                      <a:pPr indent="0" lvl="0" marL="0" rtl="0" algn="r">
                        <a:lnSpc>
                          <a:spcPct val="115000"/>
                        </a:lnSpc>
                        <a:spcBef>
                          <a:spcPts val="0"/>
                        </a:spcBef>
                        <a:spcAft>
                          <a:spcPts val="0"/>
                        </a:spcAft>
                        <a:buNone/>
                      </a:pPr>
                      <a:r>
                        <a:rPr lang="en" sz="1000"/>
                        <a:t>84.03</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r>
              <a:tr h="166225">
                <a:tc>
                  <a:txBody>
                    <a:bodyPr/>
                    <a:lstStyle/>
                    <a:p>
                      <a:pPr indent="0" lvl="0" marL="0" rtl="0" algn="l">
                        <a:lnSpc>
                          <a:spcPct val="115000"/>
                        </a:lnSpc>
                        <a:spcBef>
                          <a:spcPts val="0"/>
                        </a:spcBef>
                        <a:spcAft>
                          <a:spcPts val="0"/>
                        </a:spcAft>
                        <a:buNone/>
                      </a:pPr>
                      <a:r>
                        <a:rPr lang="en" sz="1000"/>
                        <a:t>Calculated Bid</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c>
                  <a:txBody>
                    <a:bodyPr/>
                    <a:lstStyle/>
                    <a:p>
                      <a:pPr indent="0" lvl="0" marL="0" rtl="0" algn="r">
                        <a:lnSpc>
                          <a:spcPct val="115000"/>
                        </a:lnSpc>
                        <a:spcBef>
                          <a:spcPts val="0"/>
                        </a:spcBef>
                        <a:spcAft>
                          <a:spcPts val="0"/>
                        </a:spcAft>
                        <a:buNone/>
                      </a:pPr>
                      <a:r>
                        <a:rPr lang="en" sz="1000"/>
                        <a:t>84.0075</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r>
              <a:tr h="166225">
                <a:tc>
                  <a:txBody>
                    <a:bodyPr/>
                    <a:lstStyle/>
                    <a:p>
                      <a:pPr indent="0" lvl="0" marL="0" rtl="0" algn="l">
                        <a:lnSpc>
                          <a:spcPct val="115000"/>
                        </a:lnSpc>
                        <a:spcBef>
                          <a:spcPts val="0"/>
                        </a:spcBef>
                        <a:spcAft>
                          <a:spcPts val="0"/>
                        </a:spcAft>
                        <a:buNone/>
                      </a:pPr>
                      <a:r>
                        <a:rPr lang="en" sz="1000"/>
                        <a:t>ETF Bid</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c>
                  <a:txBody>
                    <a:bodyPr/>
                    <a:lstStyle/>
                    <a:p>
                      <a:pPr indent="0" lvl="0" marL="0" rtl="0" algn="r">
                        <a:lnSpc>
                          <a:spcPct val="115000"/>
                        </a:lnSpc>
                        <a:spcBef>
                          <a:spcPts val="0"/>
                        </a:spcBef>
                        <a:spcAft>
                          <a:spcPts val="0"/>
                        </a:spcAft>
                        <a:buNone/>
                      </a:pPr>
                      <a:r>
                        <a:rPr lang="en" sz="1000"/>
                        <a:t>84.04</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r>
              <a:tr h="166225">
                <a:tc>
                  <a:txBody>
                    <a:bodyPr/>
                    <a:lstStyle/>
                    <a:p>
                      <a:pPr indent="0" lvl="0" marL="0" rtl="0" algn="l">
                        <a:lnSpc>
                          <a:spcPct val="115000"/>
                        </a:lnSpc>
                        <a:spcBef>
                          <a:spcPts val="0"/>
                        </a:spcBef>
                        <a:spcAft>
                          <a:spcPts val="0"/>
                        </a:spcAft>
                        <a:buNone/>
                      </a:pPr>
                      <a:r>
                        <a:rPr lang="en" sz="1000"/>
                        <a:t>ETF Ask</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c>
                  <a:txBody>
                    <a:bodyPr/>
                    <a:lstStyle/>
                    <a:p>
                      <a:pPr indent="0" lvl="0" marL="0" rtl="0" algn="r">
                        <a:lnSpc>
                          <a:spcPct val="115000"/>
                        </a:lnSpc>
                        <a:spcBef>
                          <a:spcPts val="0"/>
                        </a:spcBef>
                        <a:spcAft>
                          <a:spcPts val="0"/>
                        </a:spcAft>
                        <a:buNone/>
                      </a:pPr>
                      <a:r>
                        <a:rPr lang="en" sz="1000"/>
                        <a:t>84.05</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r>
            </a:tbl>
          </a:graphicData>
        </a:graphic>
      </p:graphicFrame>
      <p:sp>
        <p:nvSpPr>
          <p:cNvPr id="380" name="Google Shape;380;p60"/>
          <p:cNvSpPr txBox="1"/>
          <p:nvPr/>
        </p:nvSpPr>
        <p:spPr>
          <a:xfrm>
            <a:off x="131475" y="1007875"/>
            <a:ext cx="6214500" cy="35865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sz="1300"/>
              <a:t>This is a common strategy, and typically need flow</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Arbitrage happens when ETF trades at a discount or premium to the NAV</a:t>
            </a:r>
            <a:endParaRPr sz="1300"/>
          </a:p>
          <a:p>
            <a:pPr indent="-311150" lvl="1" marL="914400" rtl="0" algn="l">
              <a:spcBef>
                <a:spcPts val="0"/>
              </a:spcBef>
              <a:spcAft>
                <a:spcPts val="0"/>
              </a:spcAft>
              <a:buSzPts val="1300"/>
              <a:buChar char="○"/>
            </a:pPr>
            <a:r>
              <a:rPr b="1" lang="en" sz="1300"/>
              <a:t>Institutional</a:t>
            </a:r>
            <a:r>
              <a:rPr lang="en" sz="1300"/>
              <a:t>: When ETF price &gt; NAV, the AP will sell shares it received during creation and make a spread between the cost of the assets it bought for the ETF issuer and the selling price from the ETF shares. AP can also buy the underlying shares that compose the ETF directly at lower prices, sell ETF shares on the open market at the higher price, capturing the spread.</a:t>
            </a:r>
            <a:endParaRPr sz="1300"/>
          </a:p>
          <a:p>
            <a:pPr indent="-311150" lvl="1" marL="914400" rtl="0" algn="l">
              <a:spcBef>
                <a:spcPts val="0"/>
              </a:spcBef>
              <a:spcAft>
                <a:spcPts val="0"/>
              </a:spcAft>
              <a:buSzPts val="1300"/>
              <a:buChar char="○"/>
            </a:pPr>
            <a:r>
              <a:rPr b="1" lang="en" sz="1300"/>
              <a:t>Individuals</a:t>
            </a:r>
            <a:r>
              <a:rPr lang="en" sz="1300"/>
              <a:t>: When the ETF is selling at a premium (or discount), individuals can buy (short) the underlying securities in the same proportions and short (or buy) the ETF. Limited by liquidity and spread</a:t>
            </a:r>
            <a:endParaRPr sz="1300"/>
          </a:p>
          <a:p>
            <a:pPr indent="-311150" lvl="2" marL="1371600" rtl="0" algn="l">
              <a:spcBef>
                <a:spcPts val="0"/>
              </a:spcBef>
              <a:spcAft>
                <a:spcPts val="0"/>
              </a:spcAft>
              <a:buSzPts val="1300"/>
              <a:buChar char="■"/>
            </a:pPr>
            <a:r>
              <a:rPr lang="en" sz="1300"/>
              <a:t>If inside the spread need to know if the ETF goes to share price or share price goes to ETF price</a:t>
            </a:r>
            <a:endParaRPr sz="1300"/>
          </a:p>
          <a:p>
            <a:pPr indent="-311150" lvl="0" marL="457200" rtl="0" algn="l">
              <a:spcBef>
                <a:spcPts val="0"/>
              </a:spcBef>
              <a:spcAft>
                <a:spcPts val="0"/>
              </a:spcAft>
              <a:buSzPts val="1300"/>
              <a:buChar char="●"/>
            </a:pPr>
            <a:r>
              <a:t/>
            </a:r>
            <a:endParaRPr sz="1300"/>
          </a:p>
          <a:p>
            <a:pPr indent="-311150" lvl="0" marL="457200" rtl="0" algn="l">
              <a:spcBef>
                <a:spcPts val="0"/>
              </a:spcBef>
              <a:spcAft>
                <a:spcPts val="0"/>
              </a:spcAft>
              <a:buSzPts val="1300"/>
              <a:buChar char="●"/>
            </a:pPr>
            <a:r>
              <a:rPr lang="en" sz="1300"/>
              <a:t>Do this at an international level with ADR’s</a:t>
            </a:r>
            <a:endParaRPr sz="1300"/>
          </a:p>
          <a:p>
            <a:pPr indent="0" lvl="0" marL="0" rtl="0" algn="l">
              <a:spcBef>
                <a:spcPts val="0"/>
              </a:spcBef>
              <a:spcAft>
                <a:spcPts val="0"/>
              </a:spcAft>
              <a:buNone/>
            </a:pPr>
            <a:r>
              <a:t/>
            </a:r>
            <a:endParaRPr sz="13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1"/>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Deal Flow</a:t>
            </a:r>
            <a:endParaRPr b="1" i="0" sz="4000" u="none" cap="none" strike="noStrike">
              <a:solidFill>
                <a:srgbClr val="6D3BF5"/>
              </a:solidFill>
              <a:latin typeface="Poppins"/>
              <a:ea typeface="Poppins"/>
              <a:cs typeface="Poppins"/>
              <a:sym typeface="Poppins"/>
            </a:endParaRPr>
          </a:p>
        </p:txBody>
      </p:sp>
      <p:sp>
        <p:nvSpPr>
          <p:cNvPr id="387" name="Google Shape;387;p61"/>
          <p:cNvSpPr txBox="1"/>
          <p:nvPr/>
        </p:nvSpPr>
        <p:spPr>
          <a:xfrm>
            <a:off x="340225" y="988863"/>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Bank will trade all of the positions on behalf of FTSE Russell (moves ~20 Billion in a few hours) for a single client</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Buys up in anticipation of the trade and sells their own shares to the client</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Massive market moves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Legalized insider trading and market manipulation due to sheer size of orders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Goldman actually pays Russell (and the like) for their order flow!</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Robinhood and Citadel!</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t/>
            </a:r>
            <a:endParaRPr sz="2000">
              <a:solidFill>
                <a:srgbClr val="404040"/>
              </a:solidFill>
            </a:endParaRPr>
          </a:p>
        </p:txBody>
      </p:sp>
      <p:pic>
        <p:nvPicPr>
          <p:cNvPr id="388" name="Google Shape;388;p61"/>
          <p:cNvPicPr preferRelativeResize="0"/>
          <p:nvPr/>
        </p:nvPicPr>
        <p:blipFill>
          <a:blip r:embed="rId3">
            <a:alphaModFix/>
          </a:blip>
          <a:stretch>
            <a:fillRect/>
          </a:stretch>
        </p:blipFill>
        <p:spPr>
          <a:xfrm>
            <a:off x="5900900" y="1561988"/>
            <a:ext cx="3017676" cy="201952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2"/>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Sentiment</a:t>
            </a:r>
            <a:endParaRPr b="1" i="0" sz="4000" u="none" cap="none" strike="noStrike">
              <a:solidFill>
                <a:srgbClr val="6D3BF5"/>
              </a:solidFill>
              <a:latin typeface="Poppins"/>
              <a:ea typeface="Poppins"/>
              <a:cs typeface="Poppins"/>
              <a:sym typeface="Poppins"/>
            </a:endParaRPr>
          </a:p>
        </p:txBody>
      </p:sp>
      <p:sp>
        <p:nvSpPr>
          <p:cNvPr id="395" name="Google Shape;395;p62"/>
          <p:cNvSpPr txBox="1"/>
          <p:nvPr/>
        </p:nvSpPr>
        <p:spPr>
          <a:xfrm>
            <a:off x="340225" y="988863"/>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Twitter and other news sources (Reuters, etc.) can give me an information advantage</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Train an ML model to understand Donald Trumps Tweets, trade the resulting market sentiment</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Example:</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https://www.kaggle.com/c/two-sigma-financial-news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t/>
            </a:r>
            <a:endParaRPr sz="2000">
              <a:solidFill>
                <a:srgbClr val="404040"/>
              </a:solidFill>
            </a:endParaRPr>
          </a:p>
        </p:txBody>
      </p:sp>
      <p:pic>
        <p:nvPicPr>
          <p:cNvPr id="396" name="Google Shape;396;p62"/>
          <p:cNvPicPr preferRelativeResize="0"/>
          <p:nvPr/>
        </p:nvPicPr>
        <p:blipFill>
          <a:blip r:embed="rId3">
            <a:alphaModFix/>
          </a:blip>
          <a:stretch>
            <a:fillRect/>
          </a:stretch>
        </p:blipFill>
        <p:spPr>
          <a:xfrm>
            <a:off x="5973925" y="1049950"/>
            <a:ext cx="3017675" cy="1976365"/>
          </a:xfrm>
          <a:prstGeom prst="rect">
            <a:avLst/>
          </a:prstGeom>
          <a:noFill/>
          <a:ln>
            <a:noFill/>
          </a:ln>
        </p:spPr>
      </p:pic>
      <p:pic>
        <p:nvPicPr>
          <p:cNvPr id="397" name="Google Shape;397;p62"/>
          <p:cNvPicPr preferRelativeResize="0"/>
          <p:nvPr/>
        </p:nvPicPr>
        <p:blipFill>
          <a:blip r:embed="rId4">
            <a:alphaModFix/>
          </a:blip>
          <a:stretch>
            <a:fillRect/>
          </a:stretch>
        </p:blipFill>
        <p:spPr>
          <a:xfrm>
            <a:off x="5615425" y="3282963"/>
            <a:ext cx="3603091" cy="18605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3"/>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Drone Car Counting</a:t>
            </a:r>
            <a:endParaRPr b="1" i="0" sz="4000" u="none" cap="none" strike="noStrike">
              <a:solidFill>
                <a:srgbClr val="6D3BF5"/>
              </a:solidFill>
              <a:latin typeface="Poppins"/>
              <a:ea typeface="Poppins"/>
              <a:cs typeface="Poppins"/>
              <a:sym typeface="Poppins"/>
            </a:endParaRPr>
          </a:p>
        </p:txBody>
      </p:sp>
      <p:sp>
        <p:nvSpPr>
          <p:cNvPr id="404" name="Google Shape;404;p63"/>
          <p:cNvSpPr txBox="1"/>
          <p:nvPr/>
        </p:nvSpPr>
        <p:spPr>
          <a:xfrm>
            <a:off x="340225" y="988863"/>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Storefront business’s financial performance strongly correlated with number of visitors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Use image processing to count the number of cars over time in parking lots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Possible to forecast better than market</a:t>
            </a:r>
            <a:endParaRPr sz="2000">
              <a:solidFill>
                <a:srgbClr val="404040"/>
              </a:solidFill>
            </a:endParaRPr>
          </a:p>
        </p:txBody>
      </p:sp>
      <p:pic>
        <p:nvPicPr>
          <p:cNvPr id="405" name="Google Shape;405;p63"/>
          <p:cNvPicPr preferRelativeResize="0"/>
          <p:nvPr/>
        </p:nvPicPr>
        <p:blipFill>
          <a:blip r:embed="rId3">
            <a:alphaModFix/>
          </a:blip>
          <a:stretch>
            <a:fillRect/>
          </a:stretch>
        </p:blipFill>
        <p:spPr>
          <a:xfrm>
            <a:off x="5673850" y="1786713"/>
            <a:ext cx="3295416" cy="186053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Alt Data Spend</a:t>
            </a:r>
            <a:endParaRPr b="1" i="0" sz="4000" u="none" cap="none" strike="noStrike">
              <a:solidFill>
                <a:srgbClr val="6D3BF5"/>
              </a:solidFill>
              <a:latin typeface="Poppins"/>
              <a:ea typeface="Poppins"/>
              <a:cs typeface="Poppins"/>
              <a:sym typeface="Poppins"/>
            </a:endParaRPr>
          </a:p>
        </p:txBody>
      </p:sp>
      <p:sp>
        <p:nvSpPr>
          <p:cNvPr id="412" name="Google Shape;412;p64"/>
          <p:cNvSpPr txBox="1"/>
          <p:nvPr/>
        </p:nvSpPr>
        <p:spPr>
          <a:xfrm>
            <a:off x="3466125" y="1207963"/>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Consumer spending directly correlates with business performance</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Buy aggregated customer data from financial companies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Offline attribution</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See if a person searches online and then buys from a store</a:t>
            </a:r>
            <a:endParaRPr sz="2000">
              <a:solidFill>
                <a:srgbClr val="404040"/>
              </a:solidFill>
            </a:endParaRPr>
          </a:p>
        </p:txBody>
      </p:sp>
      <p:pic>
        <p:nvPicPr>
          <p:cNvPr id="413" name="Google Shape;413;p64"/>
          <p:cNvPicPr preferRelativeResize="0"/>
          <p:nvPr/>
        </p:nvPicPr>
        <p:blipFill>
          <a:blip r:embed="rId3">
            <a:alphaModFix/>
          </a:blip>
          <a:stretch>
            <a:fillRect/>
          </a:stretch>
        </p:blipFill>
        <p:spPr>
          <a:xfrm>
            <a:off x="738448" y="976925"/>
            <a:ext cx="2530025" cy="34051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5"/>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Packet Spoofing</a:t>
            </a:r>
            <a:endParaRPr b="1" i="0" sz="4000" u="none" cap="none" strike="noStrike">
              <a:solidFill>
                <a:srgbClr val="6D3BF5"/>
              </a:solidFill>
              <a:latin typeface="Poppins"/>
              <a:ea typeface="Poppins"/>
              <a:cs typeface="Poppins"/>
              <a:sym typeface="Poppins"/>
            </a:endParaRPr>
          </a:p>
        </p:txBody>
      </p:sp>
      <p:sp>
        <p:nvSpPr>
          <p:cNvPr id="420" name="Google Shape;420;p65"/>
          <p:cNvSpPr txBox="1"/>
          <p:nvPr/>
        </p:nvSpPr>
        <p:spPr>
          <a:xfrm>
            <a:off x="3466125" y="1207963"/>
            <a:ext cx="5481300" cy="1989300"/>
          </a:xfrm>
          <a:prstGeom prst="rect">
            <a:avLst/>
          </a:prstGeom>
          <a:noFill/>
          <a:ln>
            <a:noFill/>
          </a:ln>
        </p:spPr>
        <p:txBody>
          <a:bodyPr anchorCtr="0" anchor="t" bIns="91425" lIns="91425" spcFirstLastPara="1" rIns="91425" wrap="square" tIns="91425">
            <a:noAutofit/>
          </a:bodyPr>
          <a:lstStyle/>
          <a:p>
            <a:pPr indent="-323850" lvl="0" marL="457200" rtl="0" algn="l">
              <a:lnSpc>
                <a:spcPct val="90000"/>
              </a:lnSpc>
              <a:spcBef>
                <a:spcPts val="1000"/>
              </a:spcBef>
              <a:spcAft>
                <a:spcPts val="0"/>
              </a:spcAft>
              <a:buClr>
                <a:srgbClr val="404040"/>
              </a:buClr>
              <a:buSzPts val="1500"/>
              <a:buChar char="●"/>
            </a:pPr>
            <a:r>
              <a:rPr lang="en" sz="1500">
                <a:solidFill>
                  <a:srgbClr val="404040"/>
                </a:solidFill>
              </a:rPr>
              <a:t>Thesis:</a:t>
            </a:r>
            <a:endParaRPr sz="1500">
              <a:solidFill>
                <a:srgbClr val="404040"/>
              </a:solidFill>
            </a:endParaRPr>
          </a:p>
          <a:p>
            <a:pPr indent="-323850" lvl="1" marL="914400" rtl="0" algn="l">
              <a:lnSpc>
                <a:spcPct val="90000"/>
              </a:lnSpc>
              <a:spcBef>
                <a:spcPts val="0"/>
              </a:spcBef>
              <a:spcAft>
                <a:spcPts val="0"/>
              </a:spcAft>
              <a:buClr>
                <a:srgbClr val="404040"/>
              </a:buClr>
              <a:buSzPts val="1500"/>
              <a:buChar char="○"/>
            </a:pPr>
            <a:r>
              <a:rPr lang="en" sz="1500">
                <a:solidFill>
                  <a:srgbClr val="404040"/>
                </a:solidFill>
              </a:rPr>
              <a:t>Being first in the queue at the start of the day will give me a queuing advantage as I can make the market or understand where the market is trading at</a:t>
            </a:r>
            <a:endParaRPr sz="1500">
              <a:solidFill>
                <a:srgbClr val="404040"/>
              </a:solidFill>
            </a:endParaRPr>
          </a:p>
          <a:p>
            <a:pPr indent="-323850" lvl="0" marL="457200" rtl="0" algn="l">
              <a:lnSpc>
                <a:spcPct val="90000"/>
              </a:lnSpc>
              <a:spcBef>
                <a:spcPts val="0"/>
              </a:spcBef>
              <a:spcAft>
                <a:spcPts val="0"/>
              </a:spcAft>
              <a:buClr>
                <a:srgbClr val="404040"/>
              </a:buClr>
              <a:buSzPts val="1500"/>
              <a:buChar char="●"/>
            </a:pPr>
            <a:r>
              <a:rPr lang="en" sz="1500">
                <a:solidFill>
                  <a:srgbClr val="404040"/>
                </a:solidFill>
              </a:rPr>
              <a:t>Execution:</a:t>
            </a:r>
            <a:endParaRPr sz="1500">
              <a:solidFill>
                <a:srgbClr val="404040"/>
              </a:solidFill>
            </a:endParaRPr>
          </a:p>
          <a:p>
            <a:pPr indent="-323850" lvl="1" marL="914400" rtl="0" algn="l">
              <a:lnSpc>
                <a:spcPct val="90000"/>
              </a:lnSpc>
              <a:spcBef>
                <a:spcPts val="0"/>
              </a:spcBef>
              <a:spcAft>
                <a:spcPts val="0"/>
              </a:spcAft>
              <a:buClr>
                <a:srgbClr val="404040"/>
              </a:buClr>
              <a:buSzPts val="1500"/>
              <a:buChar char="○"/>
            </a:pPr>
            <a:r>
              <a:rPr lang="en" sz="1500">
                <a:solidFill>
                  <a:srgbClr val="404040"/>
                </a:solidFill>
              </a:rPr>
              <a:t>Malformed packets may not look like an order with intent to cancel – this will give me an information / time advantage</a:t>
            </a:r>
            <a:endParaRPr sz="1500">
              <a:solidFill>
                <a:srgbClr val="404040"/>
              </a:solidFill>
            </a:endParaRPr>
          </a:p>
          <a:p>
            <a:pPr indent="-323850" lvl="1" marL="914400" rtl="0" algn="l">
              <a:lnSpc>
                <a:spcPct val="90000"/>
              </a:lnSpc>
              <a:spcBef>
                <a:spcPts val="0"/>
              </a:spcBef>
              <a:spcAft>
                <a:spcPts val="0"/>
              </a:spcAft>
              <a:buClr>
                <a:srgbClr val="404040"/>
              </a:buClr>
              <a:buSzPts val="1500"/>
              <a:buChar char="○"/>
            </a:pPr>
            <a:r>
              <a:rPr lang="en" sz="1500">
                <a:solidFill>
                  <a:srgbClr val="404040"/>
                </a:solidFill>
              </a:rPr>
              <a:t>“Rule 575, Disruptive Practices Prohibited, prohibits the entering of an order or causing the entry of an order with the intent to cancel the order before execution or to modify the order to avoid execution. This practice is commonly known as spoofing.”</a:t>
            </a:r>
            <a:endParaRPr sz="1500">
              <a:solidFill>
                <a:srgbClr val="404040"/>
              </a:solidFill>
            </a:endParaRPr>
          </a:p>
          <a:p>
            <a:pPr indent="0" lvl="0" marL="0" rtl="0" algn="l">
              <a:lnSpc>
                <a:spcPct val="90000"/>
              </a:lnSpc>
              <a:spcBef>
                <a:spcPts val="1000"/>
              </a:spcBef>
              <a:spcAft>
                <a:spcPts val="0"/>
              </a:spcAft>
              <a:buNone/>
            </a:pPr>
            <a:r>
              <a:rPr lang="en" sz="1500">
                <a:solidFill>
                  <a:srgbClr val="404040"/>
                </a:solidFill>
              </a:rPr>
              <a:t>cmegroup.com</a:t>
            </a:r>
            <a:endParaRPr sz="1500">
              <a:solidFill>
                <a:srgbClr val="404040"/>
              </a:solidFill>
            </a:endParaRPr>
          </a:p>
        </p:txBody>
      </p:sp>
      <p:pic>
        <p:nvPicPr>
          <p:cNvPr id="421" name="Google Shape;421;p65"/>
          <p:cNvPicPr preferRelativeResize="0"/>
          <p:nvPr/>
        </p:nvPicPr>
        <p:blipFill>
          <a:blip r:embed="rId3">
            <a:alphaModFix/>
          </a:blip>
          <a:stretch>
            <a:fillRect/>
          </a:stretch>
        </p:blipFill>
        <p:spPr>
          <a:xfrm>
            <a:off x="167000" y="1683938"/>
            <a:ext cx="3161325" cy="177563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