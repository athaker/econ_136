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6" r:id="rId5"/>
    <p:sldMasterId id="2147483677" r:id="rId6"/>
  </p:sldMasterIdLst>
  <p:notesMasterIdLst>
    <p:notesMasterId r:id="rId7"/>
  </p:notesMasterIdLst>
  <p:sldIdLst>
    <p:sldId id="256" r:id="rId8"/>
    <p:sldId id="257" r:id="rId9"/>
    <p:sldId id="258" r:id="rId10"/>
    <p:sldId id="259" r:id="rId11"/>
    <p:sldId id="260" r:id="rId12"/>
    <p:sldId id="291" r:id="rId65"/>
    <p:sldId id="292" r:id="rId66"/>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93" r:id="rId67"/>
    <p:sldId id="280" r:id="rId32"/>
    <p:sldId id="281" r:id="rId33"/>
    <p:sldId id="282" r:id="rId34"/>
    <p:sldId id="283" r:id="rId35"/>
    <p:sldId id="284" r:id="rId36"/>
    <p:sldId id="285" r:id="rId37"/>
    <p:sldId id="286" r:id="rId38"/>
    <p:sldId id="287" r:id="rId39"/>
    <p:sldId id="288" r:id="rId40"/>
    <p:sldId id="289" r:id="rId41"/>
    <p:sldId id="290" r:id="rId42"/>
  </p:sldIdLst>
  <p:sldSz cy="5143500" cx="9144000"/>
  <p:notesSz cx="6858000" cy="9144000"/>
  <p:embeddedFontLst>
    <p:embeddedFont>
      <p:font typeface="Montserrat"/>
      <p:regular r:id="rId43"/>
      <p:bold r:id="rId44"/>
      <p:italic r:id="rId45"/>
      <p:boldItalic r:id="rId46"/>
    </p:embeddedFont>
    <p:embeddedFont>
      <p:font typeface="Poppins"/>
      <p:regular r:id="rId47"/>
      <p:bold r:id="rId48"/>
      <p:italic r:id="rId49"/>
      <p:boldItalic r:id="rId50"/>
    </p:embeddedFont>
    <p:embeddedFont>
      <p:font typeface="Poppins Medium"/>
      <p:regular r:id="rId51"/>
      <p:bold r:id="rId52"/>
      <p:italic r:id="rId53"/>
      <p:boldItalic r:id="rId54"/>
    </p:embeddedFont>
    <p:embeddedFont>
      <p:font typeface="Helvetica Neue"/>
      <p:regular r:id="rId55"/>
      <p:bold r:id="rId56"/>
      <p:italic r:id="rId57"/>
      <p:boldItalic r:id="rId58"/>
    </p:embeddedFont>
    <p:embeddedFont>
      <p:font typeface="Noto Sans Symbols"/>
      <p:regular r:id="rId59"/>
      <p:bold r:id="rId60"/>
    </p:embeddedFont>
    <p:embeddedFont>
      <p:font typeface="Poppins SemiBold"/>
      <p:regular r:id="rId61"/>
      <p:bold r:id="rId62"/>
      <p:italic r:id="rId63"/>
      <p:boldItalic r:id="rId6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2C82F5D-7F28-4AD3-9396-DA1E2200D94E}">
  <a:tblStyle styleId="{C2C82F5D-7F28-4AD3-9396-DA1E2200D94E}" styleName="Table_0">
    <a:wholeTbl>
      <a:tcTxStyle>
        <a:font>
          <a:latin typeface="Arial"/>
          <a:ea typeface="Arial"/>
          <a:cs typeface="Arial"/>
        </a:font>
        <a:srgbClr val="000000"/>
      </a:tcTxStyle>
      <a:tcStyle>
        <a:tcBdr>
          <a:left>
            <a:ln cap="flat" cmpd="sng">
              <a:solidFill>
                <a:srgbClr val="000000"/>
              </a:solidFill>
              <a:prstDash val="solid"/>
              <a:round/>
              <a:headEnd len="sm" w="sm" type="none"/>
              <a:tailEnd len="sm" w="sm" type="none"/>
            </a:ln>
          </a:left>
          <a:right>
            <a:ln cap="flat" cmpd="sng">
              <a:solidFill>
                <a:srgbClr val="000000"/>
              </a:solidFill>
              <a:prstDash val="solid"/>
              <a:round/>
              <a:headEnd len="sm" w="sm" type="none"/>
              <a:tailEnd len="sm" w="sm" type="none"/>
            </a:ln>
          </a:right>
          <a:top>
            <a:ln cap="flat" cmpd="sng">
              <a:solidFill>
                <a:srgbClr val="000000"/>
              </a:solidFill>
              <a:prstDash val="solid"/>
              <a:round/>
              <a:headEnd len="sm" w="sm" type="none"/>
              <a:tailEnd len="sm" w="sm" type="none"/>
            </a:ln>
          </a:top>
          <a:bottom>
            <a:ln cap="flat" cmpd="sng">
              <a:solidFill>
                <a:srgbClr val="000000"/>
              </a:solidFill>
              <a:prstDash val="solid"/>
              <a:round/>
              <a:headEnd len="sm" w="sm" type="none"/>
              <a:tailEnd len="sm" w="sm" type="none"/>
            </a:ln>
          </a:bottom>
          <a:insideH>
            <a:ln cap="flat" cmpd="sng">
              <a:solidFill>
                <a:srgbClr val="000000"/>
              </a:solidFill>
              <a:prstDash val="solid"/>
              <a:round/>
              <a:headEnd len="sm" w="sm" type="none"/>
              <a:tailEnd len="sm" w="sm" type="none"/>
            </a:ln>
          </a:insideH>
          <a:insideV>
            <a:ln cap="flat" cmpd="sng">
              <a:solidFill>
                <a:srgbClr val="000000"/>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8E988DE2-97A2-416A-9140-A02111780125}" styleName="Table_1">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3.xml"/><Relationship Id="rId42" Type="http://schemas.openxmlformats.org/officeDocument/2006/relationships/slide" Target="slides/slide35.xml"/><Relationship Id="rId41" Type="http://schemas.openxmlformats.org/officeDocument/2006/relationships/slide" Target="slides/slide34.xml"/><Relationship Id="rId44" Type="http://schemas.openxmlformats.org/officeDocument/2006/relationships/font" Target="fonts/Montserrat-bold.fntdata"/><Relationship Id="rId43" Type="http://schemas.openxmlformats.org/officeDocument/2006/relationships/font" Target="fonts/Montserrat-regular.fntdata"/><Relationship Id="rId46" Type="http://schemas.openxmlformats.org/officeDocument/2006/relationships/font" Target="fonts/Montserrat-boldItalic.fntdata"/><Relationship Id="rId45" Type="http://schemas.openxmlformats.org/officeDocument/2006/relationships/font" Target="fonts/Montserrat-italic.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48" Type="http://schemas.openxmlformats.org/officeDocument/2006/relationships/font" Target="fonts/Poppins-bold.fntdata"/><Relationship Id="rId47" Type="http://schemas.openxmlformats.org/officeDocument/2006/relationships/font" Target="fonts/Poppins-regular.fntdata"/><Relationship Id="rId49" Type="http://schemas.openxmlformats.org/officeDocument/2006/relationships/font" Target="fonts/Poppins-italic.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33" Type="http://schemas.openxmlformats.org/officeDocument/2006/relationships/slide" Target="slides/slide26.xml"/><Relationship Id="rId32" Type="http://schemas.openxmlformats.org/officeDocument/2006/relationships/slide" Target="slides/slide25.xml"/><Relationship Id="rId35" Type="http://schemas.openxmlformats.org/officeDocument/2006/relationships/slide" Target="slides/slide28.xml"/><Relationship Id="rId34" Type="http://schemas.openxmlformats.org/officeDocument/2006/relationships/slide" Target="slides/slide27.xml"/><Relationship Id="rId37" Type="http://schemas.openxmlformats.org/officeDocument/2006/relationships/slide" Target="slides/slide30.xml"/><Relationship Id="rId36" Type="http://schemas.openxmlformats.org/officeDocument/2006/relationships/slide" Target="slides/slide29.xml"/><Relationship Id="rId39" Type="http://schemas.openxmlformats.org/officeDocument/2006/relationships/slide" Target="slides/slide32.xml"/><Relationship Id="rId38" Type="http://schemas.openxmlformats.org/officeDocument/2006/relationships/slide" Target="slides/slide31.xml"/><Relationship Id="rId62" Type="http://schemas.openxmlformats.org/officeDocument/2006/relationships/font" Target="fonts/PoppinsSemiBold-bold.fntdata"/><Relationship Id="rId61" Type="http://schemas.openxmlformats.org/officeDocument/2006/relationships/font" Target="fonts/PoppinsSemiBold-regular.fntdata"/><Relationship Id="rId20" Type="http://schemas.openxmlformats.org/officeDocument/2006/relationships/slide" Target="slides/slide13.xml"/><Relationship Id="rId64" Type="http://schemas.openxmlformats.org/officeDocument/2006/relationships/font" Target="fonts/PoppinsSemiBold-boldItalic.fntdata"/><Relationship Id="rId63" Type="http://schemas.openxmlformats.org/officeDocument/2006/relationships/font" Target="fonts/PoppinsSemiBold-italic.fntdata"/><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60" Type="http://schemas.openxmlformats.org/officeDocument/2006/relationships/font" Target="fonts/NotoSansSymbols-bold.fntdata"/><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29" Type="http://schemas.openxmlformats.org/officeDocument/2006/relationships/slide" Target="slides/slide22.xml"/><Relationship Id="rId51" Type="http://schemas.openxmlformats.org/officeDocument/2006/relationships/font" Target="fonts/PoppinsMedium-regular.fntdata"/><Relationship Id="rId50" Type="http://schemas.openxmlformats.org/officeDocument/2006/relationships/font" Target="fonts/Poppins-boldItalic.fntdata"/><Relationship Id="rId53" Type="http://schemas.openxmlformats.org/officeDocument/2006/relationships/font" Target="fonts/PoppinsMedium-italic.fntdata"/><Relationship Id="rId52" Type="http://schemas.openxmlformats.org/officeDocument/2006/relationships/font" Target="fonts/PoppinsMedium-bold.fntdata"/><Relationship Id="rId11" Type="http://schemas.openxmlformats.org/officeDocument/2006/relationships/slide" Target="slides/slide4.xml"/><Relationship Id="rId55" Type="http://schemas.openxmlformats.org/officeDocument/2006/relationships/font" Target="fonts/HelveticaNeue-regular.fntdata"/><Relationship Id="rId10" Type="http://schemas.openxmlformats.org/officeDocument/2006/relationships/slide" Target="slides/slide3.xml"/><Relationship Id="rId54" Type="http://schemas.openxmlformats.org/officeDocument/2006/relationships/font" Target="fonts/PoppinsMedium-boldItalic.fntdata"/><Relationship Id="rId13" Type="http://schemas.openxmlformats.org/officeDocument/2006/relationships/slide" Target="slides/slide6.xml"/><Relationship Id="rId57" Type="http://schemas.openxmlformats.org/officeDocument/2006/relationships/font" Target="fonts/HelveticaNeue-italic.fntdata"/><Relationship Id="rId12" Type="http://schemas.openxmlformats.org/officeDocument/2006/relationships/slide" Target="slides/slide5.xml"/><Relationship Id="rId56" Type="http://schemas.openxmlformats.org/officeDocument/2006/relationships/font" Target="fonts/HelveticaNeue-bold.fntdata"/><Relationship Id="rId15" Type="http://schemas.openxmlformats.org/officeDocument/2006/relationships/slide" Target="slides/slide8.xml"/><Relationship Id="rId59" Type="http://schemas.openxmlformats.org/officeDocument/2006/relationships/font" Target="fonts/NotoSansSymbols-regular.fntdata"/><Relationship Id="rId14" Type="http://schemas.openxmlformats.org/officeDocument/2006/relationships/slide" Target="slides/slide7.xml"/><Relationship Id="rId58" Type="http://schemas.openxmlformats.org/officeDocument/2006/relationships/font" Target="fonts/HelveticaNeue-boldItalic.fntdata"/><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  <Relationship Id="rId65" Type="http://schemas.openxmlformats.org/officeDocument/2006/relationships/slide" Target="slides/slide36.xml"/>
  <Relationship Id="rId66" Type="http://schemas.openxmlformats.org/officeDocument/2006/relationships/slide" Target="slides/slide37.xml"/>
  <Relationship Id="rId67" Type="http://schemas.openxmlformats.org/officeDocument/2006/relationships/slide" Target="slides/slide38.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g3744a694f44_1_72:notes"/>
          <p:cNvSpPr/>
          <p:nvPr>
            <p:ph idx="2" type="sldImg"/>
          </p:nvPr>
        </p:nvSpPr>
        <p:spPr>
          <a:xfrm>
            <a:off x="2271713" y="1143001"/>
            <a:ext cx="2314575" cy="3087467"/>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3" name="Google Shape;133;g3744a694f44_1_72:notes"/>
          <p:cNvSpPr txBox="1"/>
          <p:nvPr>
            <p:ph idx="1" type="body"/>
          </p:nvPr>
        </p:nvSpPr>
        <p:spPr>
          <a:xfrm>
            <a:off x="685800" y="4399845"/>
            <a:ext cx="5486400" cy="3601067"/>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 name="Google Shape;134;g3744a694f44_1_72:notes"/>
          <p:cNvSpPr txBox="1"/>
          <p:nvPr>
            <p:ph idx="12" type="sldNum"/>
          </p:nvPr>
        </p:nvSpPr>
        <p:spPr>
          <a:xfrm>
            <a:off x="3885010" y="8686800"/>
            <a:ext cx="2971800" cy="45706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760f6f90ec_0_6: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 name="Google Shape;145;g3760f6f90ec_0_6: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760f6f90ec_0_6: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760f6f90ec_0_50: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8" name="Google Shape;158;g3760f6f90ec_0_50: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9" name="Google Shape;159;g3760f6f90ec_0_50: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760f6f90ec_0_87: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6" name="Google Shape;166;g3760f6f90ec_0_87: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7" name="Google Shape;167;g3760f6f90ec_0_87: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760f6f90ec_0_94: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 name="Google Shape;173;g3760f6f90ec_0_94: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4" name="Google Shape;174;g3760f6f90ec_0_94: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 name="Shape 181"/>
        <p:cNvGrpSpPr/>
        <p:nvPr/>
      </p:nvGrpSpPr>
      <p:grpSpPr>
        <a:xfrm>
          <a:off x="0" y="0"/>
          <a:ext cx="0" cy="0"/>
          <a:chOff x="0" y="0"/>
          <a:chExt cx="0" cy="0"/>
        </a:xfrm>
      </p:grpSpPr>
      <p:sp>
        <p:nvSpPr>
          <p:cNvPr id="182" name="Google Shape;182;g3760f6f90ec_0_103: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 name="Google Shape;183;g3760f6f90ec_0_103: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4" name="Google Shape;184;g3760f6f90ec_0_103: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760f6f90ec_0_109: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0" name="Google Shape;190;g3760f6f90ec_0_109: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760f6f90ec_0_109: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760f6f90ec_0_1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7" name="Google Shape;197;g3760f6f90ec_0_1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g3760f6f90ec_0_12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2" name="Google Shape;202;g3760f6f90ec_0_12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3" name="Google Shape;203;g3760f6f90ec_0_12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g3760f6f90ec_0_136: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9" name="Google Shape;209;g3760f6f90ec_0_136: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0" name="Google Shape;210;g3760f6f90ec_0_136: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g3760f6f90ec_0_144: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7" name="Google Shape;217;g3760f6f90ec_0_144: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8" name="Google Shape;218;g3760f6f90ec_0_144: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3760f6f90ec_0_15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 name="Google Shape;224;g3760f6f90ec_0_15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5" name="Google Shape;225;g3760f6f90ec_0_15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760f6f90ec_0_158: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1" name="Google Shape;231;g3760f6f90ec_0_158: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2" name="Google Shape;232;g3760f6f90ec_0_158: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6" name="Shape 236"/>
        <p:cNvGrpSpPr/>
        <p:nvPr/>
      </p:nvGrpSpPr>
      <p:grpSpPr>
        <a:xfrm>
          <a:off x="0" y="0"/>
          <a:ext cx="0" cy="0"/>
          <a:chOff x="0" y="0"/>
          <a:chExt cx="0" cy="0"/>
        </a:xfrm>
      </p:grpSpPr>
      <p:sp>
        <p:nvSpPr>
          <p:cNvPr id="237" name="Google Shape;237;g3760f6f90ec_0_165: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8" name="Google Shape;238;g3760f6f90ec_0_165: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9" name="Google Shape;239;g3760f6f90ec_0_165: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760f6f90ec_0_176: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g3760f6f90ec_0_176: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9" name="Google Shape;249;g3760f6f90ec_0_176: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g3760f6f90ec_0_369: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5" name="Google Shape;255;g3760f6f90ec_0_369: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g3760f6f90ec_0_369: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0" name="Shape 260"/>
        <p:cNvGrpSpPr/>
        <p:nvPr/>
      </p:nvGrpSpPr>
      <p:grpSpPr>
        <a:xfrm>
          <a:off x="0" y="0"/>
          <a:ext cx="0" cy="0"/>
          <a:chOff x="0" y="0"/>
          <a:chExt cx="0" cy="0"/>
        </a:xfrm>
      </p:grpSpPr>
      <p:sp>
        <p:nvSpPr>
          <p:cNvPr id="261" name="Google Shape;261;g3760f6f90ec_0_311: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2" name="Google Shape;262;g3760f6f90ec_0_311: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3" name="Google Shape;263;g3760f6f90ec_0_311: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3760f6f90ec_0_18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0" name="Google Shape;270;g3760f6f90ec_0_18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g3760f6f90ec_0_18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6" name="Shape 276"/>
        <p:cNvGrpSpPr/>
        <p:nvPr/>
      </p:nvGrpSpPr>
      <p:grpSpPr>
        <a:xfrm>
          <a:off x="0" y="0"/>
          <a:ext cx="0" cy="0"/>
          <a:chOff x="0" y="0"/>
          <a:chExt cx="0" cy="0"/>
        </a:xfrm>
      </p:grpSpPr>
      <p:sp>
        <p:nvSpPr>
          <p:cNvPr id="277" name="Google Shape;277;g3760f6f90ec_0_19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8" name="Google Shape;278;g3760f6f90ec_0_19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9" name="Google Shape;279;g3760f6f90ec_0_19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g3760f6f90ec_0_206: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7" name="Google Shape;287;g3760f6f90ec_0_206: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8" name="Google Shape;288;g3760f6f90ec_0_206: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3760f6f90ec_0_216: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6" name="Google Shape;296;g3760f6f90ec_0_216: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7" name="Google Shape;297;g3760f6f90ec_0_216: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g3760f6f90ec_0_269: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g3760f6f90ec_0_269: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8" name="Google Shape;308;g3760f6f90ec_0_269: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760f6f90ec_0_251: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3760f6f90ec_0_251: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g3760f6f90ec_0_251: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g3760f6f90ec_0_258: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3" name="Google Shape;323;g3760f6f90ec_0_258: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4" name="Google Shape;324;g3760f6f90ec_0_258: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8" name="Shape 328"/>
        <p:cNvGrpSpPr/>
        <p:nvPr/>
      </p:nvGrpSpPr>
      <p:grpSpPr>
        <a:xfrm>
          <a:off x="0" y="0"/>
          <a:ext cx="0" cy="0"/>
          <a:chOff x="0" y="0"/>
          <a:chExt cx="0" cy="0"/>
        </a:xfrm>
      </p:grpSpPr>
      <p:sp>
        <p:nvSpPr>
          <p:cNvPr id="329" name="Google Shape;329;g3760f6f90ec_0_393: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0" name="Google Shape;330;g3760f6f90ec_0_393: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g3760f6f90ec_0_393: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g3760f6f90ec_0_360: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8" name="Google Shape;338;g3760f6f90ec_0_360: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9" name="Google Shape;339;g3760f6f90ec_0_360: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g3760f6f90ec_0_377: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47" name="Google Shape;347;g3760f6f90ec_0_377: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8" name="Google Shape;348;g3760f6f90ec_0_377: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g3744a694f44_1_270: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6" name="Google Shape;356;g3744a694f44_1_270: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7" name="Google Shape;357;g3744a694f44_1_270: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37292596267_0_2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3" name="Google Shape;363;g37292596267_0_2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760f6f90ec_0_28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4" name="Google Shape;374;g3760f6f90ec_0_28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5" name="Google Shape;375;g3760f6f90ec_0_28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1" name="Shape 381"/>
        <p:cNvGrpSpPr/>
        <p:nvPr/>
      </p:nvGrpSpPr>
      <p:grpSpPr>
        <a:xfrm>
          <a:off x="0" y="0"/>
          <a:ext cx="0" cy="0"/>
          <a:chOff x="0" y="0"/>
          <a:chExt cx="0" cy="0"/>
        </a:xfrm>
      </p:grpSpPr>
      <p:sp>
        <p:nvSpPr>
          <p:cNvPr id="382" name="Google Shape;382;g3760f6f90ec_0_302: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3" name="Google Shape;383;g3760f6f90ec_0_302: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4" name="Google Shape;384;g3760f6f90ec_0_302: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g3760f6f90ec_0_320: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1" name="Google Shape;391;g3760f6f90ec_0_320: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2" name="Google Shape;392;g3760f6f90ec_0_320: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760f6f90ec_0_327: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0" name="Google Shape;400;g3760f6f90ec_0_327: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g3760f6f90ec_0_327: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6" name="Shape 406"/>
        <p:cNvGrpSpPr/>
        <p:nvPr/>
      </p:nvGrpSpPr>
      <p:grpSpPr>
        <a:xfrm>
          <a:off x="0" y="0"/>
          <a:ext cx="0" cy="0"/>
          <a:chOff x="0" y="0"/>
          <a:chExt cx="0" cy="0"/>
        </a:xfrm>
      </p:grpSpPr>
      <p:sp>
        <p:nvSpPr>
          <p:cNvPr id="407" name="Google Shape;407;g3760f6f90ec_0_339: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8" name="Google Shape;408;g3760f6f90ec_0_339: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9" name="Google Shape;409;g3760f6f90ec_0_339: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g3760f6f90ec_0_348:notes"/>
          <p:cNvSpPr/>
          <p:nvPr>
            <p:ph idx="2" type="sldImg"/>
          </p:nvPr>
        </p:nvSpPr>
        <p:spPr>
          <a:xfrm>
            <a:off x="2271713" y="1143001"/>
            <a:ext cx="2314500" cy="30876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6" name="Google Shape;416;g3760f6f90ec_0_348:notes"/>
          <p:cNvSpPr txBox="1"/>
          <p:nvPr>
            <p:ph idx="1" type="body"/>
          </p:nvPr>
        </p:nvSpPr>
        <p:spPr>
          <a:xfrm>
            <a:off x="685800" y="4399845"/>
            <a:ext cx="5486400" cy="36012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7" name="Google Shape;417;g3760f6f90ec_0_348:notes"/>
          <p:cNvSpPr txBox="1"/>
          <p:nvPr>
            <p:ph idx="12" type="sldNum"/>
          </p:nvPr>
        </p:nvSpPr>
        <p:spPr>
          <a:xfrm>
            <a:off x="3885010" y="8686800"/>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3.png"/><Relationship Id="rId4" Type="http://schemas.openxmlformats.org/officeDocument/2006/relationships/image" Target="../media/image2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jpg"/><Relationship Id="rId3" Type="http://schemas.openxmlformats.org/officeDocument/2006/relationships/image" Target="../media/image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 Id="rId3"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jp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jp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ull">
  <p:cSld name="CUSTOM_2">
    <p:spTree>
      <p:nvGrpSpPr>
        <p:cNvPr id="50" name="Shape 50"/>
        <p:cNvGrpSpPr/>
        <p:nvPr/>
      </p:nvGrpSpPr>
      <p:grpSpPr>
        <a:xfrm>
          <a:off x="0" y="0"/>
          <a:ext cx="0" cy="0"/>
          <a:chOff x="0" y="0"/>
          <a:chExt cx="0" cy="0"/>
        </a:xfrm>
      </p:grpSpPr>
      <p:pic>
        <p:nvPicPr>
          <p:cNvPr descr="AdobeStock_190473635.png" id="51" name="Google Shape;51;p13"/>
          <p:cNvPicPr preferRelativeResize="0"/>
          <p:nvPr/>
        </p:nvPicPr>
        <p:blipFill rotWithShape="1">
          <a:blip r:embed="rId2">
            <a:alphaModFix amt="34460"/>
          </a:blip>
          <a:srcRect b="0" l="703" r="9174" t="9837"/>
          <a:stretch/>
        </p:blipFill>
        <p:spPr>
          <a:xfrm>
            <a:off x="-12275" y="0"/>
            <a:ext cx="9207474" cy="5186002"/>
          </a:xfrm>
          <a:prstGeom prst="rect">
            <a:avLst/>
          </a:prstGeom>
          <a:noFill/>
          <a:ln>
            <a:noFill/>
          </a:ln>
        </p:spPr>
      </p:pic>
      <p:sp>
        <p:nvSpPr>
          <p:cNvPr id="52" name="Google Shape;52;p13"/>
          <p:cNvSpPr txBox="1"/>
          <p:nvPr>
            <p:ph idx="12" type="sldNum"/>
          </p:nvPr>
        </p:nvSpPr>
        <p:spPr>
          <a:xfrm>
            <a:off x="4484637" y="4905375"/>
            <a:ext cx="170100" cy="177000"/>
          </a:xfrm>
          <a:prstGeom prst="rect">
            <a:avLst/>
          </a:prstGeom>
        </p:spPr>
        <p:txBody>
          <a:bodyPr anchorCtr="0" anchor="ctr" bIns="91425" lIns="91425" spcFirstLastPara="1" rIns="91425" wrap="square" tIns="91425">
            <a:normAutofit fontScale="25000" lnSpcReduction="20000"/>
          </a:bodyPr>
          <a:lstStyle>
            <a:lvl1pPr lvl="0">
              <a:buClr>
                <a:srgbClr val="000000"/>
              </a:buClr>
              <a:buSzPts val="900"/>
              <a:buFont typeface="Helvetica Neue Light"/>
              <a:buNone/>
              <a:defRPr>
                <a:solidFill>
                  <a:srgbClr val="B58F36"/>
                </a:solidFill>
              </a:defRPr>
            </a:lvl1pPr>
            <a:lvl2pPr lvl="1">
              <a:buClr>
                <a:srgbClr val="000000"/>
              </a:buClr>
              <a:buSzPts val="900"/>
              <a:buFont typeface="Helvetica Neue Light"/>
              <a:buNone/>
              <a:defRPr>
                <a:solidFill>
                  <a:srgbClr val="B58F36"/>
                </a:solidFill>
              </a:defRPr>
            </a:lvl2pPr>
            <a:lvl3pPr lvl="2">
              <a:buClr>
                <a:srgbClr val="000000"/>
              </a:buClr>
              <a:buSzPts val="900"/>
              <a:buFont typeface="Helvetica Neue Light"/>
              <a:buNone/>
              <a:defRPr>
                <a:solidFill>
                  <a:srgbClr val="B58F36"/>
                </a:solidFill>
              </a:defRPr>
            </a:lvl3pPr>
            <a:lvl4pPr lvl="3">
              <a:buClr>
                <a:srgbClr val="000000"/>
              </a:buClr>
              <a:buSzPts val="900"/>
              <a:buFont typeface="Helvetica Neue Light"/>
              <a:buNone/>
              <a:defRPr>
                <a:solidFill>
                  <a:srgbClr val="B58F36"/>
                </a:solidFill>
              </a:defRPr>
            </a:lvl4pPr>
            <a:lvl5pPr lvl="4">
              <a:buClr>
                <a:srgbClr val="000000"/>
              </a:buClr>
              <a:buSzPts val="900"/>
              <a:buFont typeface="Helvetica Neue Light"/>
              <a:buNone/>
              <a:defRPr>
                <a:solidFill>
                  <a:srgbClr val="B58F36"/>
                </a:solidFill>
              </a:defRPr>
            </a:lvl5pPr>
            <a:lvl6pPr lvl="5">
              <a:buClr>
                <a:srgbClr val="000000"/>
              </a:buClr>
              <a:buSzPts val="900"/>
              <a:buFont typeface="Helvetica Neue Light"/>
              <a:buNone/>
              <a:defRPr>
                <a:solidFill>
                  <a:srgbClr val="B58F36"/>
                </a:solidFill>
              </a:defRPr>
            </a:lvl6pPr>
            <a:lvl7pPr lvl="6">
              <a:buClr>
                <a:srgbClr val="000000"/>
              </a:buClr>
              <a:buSzPts val="900"/>
              <a:buFont typeface="Helvetica Neue Light"/>
              <a:buNone/>
              <a:defRPr>
                <a:solidFill>
                  <a:srgbClr val="B58F36"/>
                </a:solidFill>
              </a:defRPr>
            </a:lvl7pPr>
            <a:lvl8pPr lvl="7">
              <a:buClr>
                <a:srgbClr val="000000"/>
              </a:buClr>
              <a:buSzPts val="900"/>
              <a:buFont typeface="Helvetica Neue Light"/>
              <a:buNone/>
              <a:defRPr>
                <a:solidFill>
                  <a:srgbClr val="B58F36"/>
                </a:solidFill>
              </a:defRPr>
            </a:lvl8pPr>
            <a:lvl9pPr lvl="8">
              <a:buClr>
                <a:srgbClr val="000000"/>
              </a:buClr>
              <a:buSzPts val="900"/>
              <a:buFont typeface="Helvetica Neue Light"/>
              <a:buNone/>
              <a:defRPr>
                <a:solidFill>
                  <a:srgbClr val="B58F36"/>
                </a:solidFill>
              </a:defRPr>
            </a:lvl9pPr>
          </a:lstStyle>
          <a:p>
            <a:pPr indent="0" lvl="0" marL="0" rtl="0" algn="r">
              <a:spcBef>
                <a:spcPts val="0"/>
              </a:spcBef>
              <a:spcAft>
                <a:spcPts val="0"/>
              </a:spcAft>
              <a:buNone/>
            </a:pPr>
            <a:fld id="{00000000-1234-1234-1234-123412341234}" type="slidenum">
              <a:rPr lang="en"/>
              <a:t>‹#›</a:t>
            </a:fld>
            <a:endParaRPr sz="500">
              <a:latin typeface="Arial"/>
              <a:ea typeface="Arial"/>
              <a:cs typeface="Arial"/>
              <a:sym typeface="Arial"/>
            </a:endParaRPr>
          </a:p>
        </p:txBody>
      </p:sp>
      <p:pic>
        <p:nvPicPr>
          <p:cNvPr descr="logo_gold.png" id="53" name="Google Shape;53;p13"/>
          <p:cNvPicPr preferRelativeResize="0"/>
          <p:nvPr/>
        </p:nvPicPr>
        <p:blipFill rotWithShape="1">
          <a:blip r:embed="rId3">
            <a:alphaModFix/>
          </a:blip>
          <a:srcRect b="0" l="0" r="0" t="0"/>
          <a:stretch/>
        </p:blipFill>
        <p:spPr>
          <a:xfrm>
            <a:off x="8545129" y="4597587"/>
            <a:ext cx="495837" cy="430698"/>
          </a:xfrm>
          <a:prstGeom prst="rect">
            <a:avLst/>
          </a:prstGeom>
          <a:noFill/>
          <a:ln>
            <a:noFill/>
          </a:ln>
        </p:spPr>
      </p:pic>
      <p:sp>
        <p:nvSpPr>
          <p:cNvPr id="54" name="Google Shape;54;p13"/>
          <p:cNvSpPr/>
          <p:nvPr/>
        </p:nvSpPr>
        <p:spPr>
          <a:xfrm>
            <a:off x="-50800" y="5064546"/>
            <a:ext cx="9246000" cy="85200"/>
          </a:xfrm>
          <a:prstGeom prst="rect">
            <a:avLst/>
          </a:prstGeom>
          <a:gradFill>
            <a:gsLst>
              <a:gs pos="0">
                <a:srgbClr val="0F2255"/>
              </a:gs>
              <a:gs pos="100000">
                <a:srgbClr val="204586"/>
              </a:gs>
            </a:gsLst>
            <a:lin ang="0" scaled="0"/>
          </a:gra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Helvetica Neue"/>
              <a:buNone/>
            </a:pPr>
            <a:r>
              <a:t/>
            </a:r>
            <a:endParaRPr b="0" i="0" sz="1200" u="none" cap="none" strike="noStrike">
              <a:solidFill>
                <a:srgbClr val="FFFFFF"/>
              </a:solidFill>
              <a:latin typeface="Helvetica Neue"/>
              <a:ea typeface="Helvetica Neue"/>
              <a:cs typeface="Helvetica Neue"/>
              <a:sym typeface="Helvetica Neue"/>
            </a:endParaRPr>
          </a:p>
        </p:txBody>
      </p:sp>
      <p:cxnSp>
        <p:nvCxnSpPr>
          <p:cNvPr id="55" name="Google Shape;55;p13"/>
          <p:cNvCxnSpPr/>
          <p:nvPr/>
        </p:nvCxnSpPr>
        <p:spPr>
          <a:xfrm>
            <a:off x="-12275" y="553500"/>
            <a:ext cx="1558500" cy="0"/>
          </a:xfrm>
          <a:prstGeom prst="straightConnector1">
            <a:avLst/>
          </a:prstGeom>
          <a:noFill/>
          <a:ln cap="flat" cmpd="sng" w="19050">
            <a:solidFill>
              <a:srgbClr val="204586"/>
            </a:solidFill>
            <a:prstDash val="solid"/>
            <a:miter lim="400000"/>
            <a:headEnd len="sm" w="sm" type="none"/>
            <a:tailEnd len="sm" w="sm" type="none"/>
          </a:ln>
        </p:spPr>
      </p:cxnSp>
      <p:sp>
        <p:nvSpPr>
          <p:cNvPr id="56" name="Google Shape;56;p13"/>
          <p:cNvSpPr txBox="1"/>
          <p:nvPr>
            <p:ph type="title"/>
          </p:nvPr>
        </p:nvSpPr>
        <p:spPr>
          <a:xfrm>
            <a:off x="140125" y="124825"/>
            <a:ext cx="3968700" cy="517200"/>
          </a:xfrm>
          <a:prstGeom prst="rect">
            <a:avLst/>
          </a:prstGeom>
        </p:spPr>
        <p:txBody>
          <a:bodyPr anchorCtr="0" anchor="t" bIns="91425" lIns="91425" spcFirstLastPara="1" rIns="91425" wrap="square" tIns="91425">
            <a:normAutofit/>
          </a:bodyPr>
          <a:lstStyle>
            <a:lvl1pPr lvl="0" algn="l">
              <a:spcBef>
                <a:spcPts val="0"/>
              </a:spcBef>
              <a:spcAft>
                <a:spcPts val="0"/>
              </a:spcAft>
              <a:buClr>
                <a:srgbClr val="B58F36"/>
              </a:buClr>
              <a:buSzPts val="2100"/>
              <a:buNone/>
              <a:defRPr b="1" sz="2100">
                <a:solidFill>
                  <a:srgbClr val="B58F36"/>
                </a:solidFill>
              </a:defRPr>
            </a:lvl1pPr>
            <a:lvl2pPr lvl="1">
              <a:spcBef>
                <a:spcPts val="0"/>
              </a:spcBef>
              <a:spcAft>
                <a:spcPts val="0"/>
              </a:spcAft>
              <a:buSzPts val="2800"/>
              <a:buNone/>
              <a:defRPr>
                <a:highlight>
                  <a:srgbClr val="B58F36"/>
                </a:highlight>
              </a:defRPr>
            </a:lvl2pPr>
            <a:lvl3pPr lvl="2">
              <a:spcBef>
                <a:spcPts val="0"/>
              </a:spcBef>
              <a:spcAft>
                <a:spcPts val="0"/>
              </a:spcAft>
              <a:buSzPts val="2800"/>
              <a:buNone/>
              <a:defRPr>
                <a:highlight>
                  <a:srgbClr val="B58F36"/>
                </a:highlight>
              </a:defRPr>
            </a:lvl3pPr>
            <a:lvl4pPr lvl="3">
              <a:spcBef>
                <a:spcPts val="0"/>
              </a:spcBef>
              <a:spcAft>
                <a:spcPts val="0"/>
              </a:spcAft>
              <a:buSzPts val="2800"/>
              <a:buNone/>
              <a:defRPr>
                <a:highlight>
                  <a:srgbClr val="B58F36"/>
                </a:highlight>
              </a:defRPr>
            </a:lvl4pPr>
            <a:lvl5pPr lvl="4">
              <a:spcBef>
                <a:spcPts val="0"/>
              </a:spcBef>
              <a:spcAft>
                <a:spcPts val="0"/>
              </a:spcAft>
              <a:buSzPts val="2800"/>
              <a:buNone/>
              <a:defRPr>
                <a:highlight>
                  <a:srgbClr val="B58F36"/>
                </a:highlight>
              </a:defRPr>
            </a:lvl5pPr>
            <a:lvl6pPr lvl="5">
              <a:spcBef>
                <a:spcPts val="0"/>
              </a:spcBef>
              <a:spcAft>
                <a:spcPts val="0"/>
              </a:spcAft>
              <a:buSzPts val="2800"/>
              <a:buNone/>
              <a:defRPr>
                <a:highlight>
                  <a:srgbClr val="B58F36"/>
                </a:highlight>
              </a:defRPr>
            </a:lvl6pPr>
            <a:lvl7pPr lvl="6">
              <a:spcBef>
                <a:spcPts val="0"/>
              </a:spcBef>
              <a:spcAft>
                <a:spcPts val="0"/>
              </a:spcAft>
              <a:buSzPts val="2800"/>
              <a:buNone/>
              <a:defRPr>
                <a:highlight>
                  <a:srgbClr val="B58F36"/>
                </a:highlight>
              </a:defRPr>
            </a:lvl7pPr>
            <a:lvl8pPr lvl="7">
              <a:spcBef>
                <a:spcPts val="0"/>
              </a:spcBef>
              <a:spcAft>
                <a:spcPts val="0"/>
              </a:spcAft>
              <a:buSzPts val="2800"/>
              <a:buNone/>
              <a:defRPr>
                <a:highlight>
                  <a:srgbClr val="B58F36"/>
                </a:highlight>
              </a:defRPr>
            </a:lvl8pPr>
            <a:lvl9pPr lvl="8">
              <a:spcBef>
                <a:spcPts val="0"/>
              </a:spcBef>
              <a:spcAft>
                <a:spcPts val="0"/>
              </a:spcAft>
              <a:buSzPts val="2800"/>
              <a:buNone/>
              <a:defRPr>
                <a:highlight>
                  <a:srgbClr val="B58F36"/>
                </a:highlight>
              </a:defRPr>
            </a:lvl9pPr>
          </a:lstStyle>
          <a:p/>
        </p:txBody>
      </p:sp>
      <p:sp>
        <p:nvSpPr>
          <p:cNvPr id="57" name="Google Shape;57;p13"/>
          <p:cNvSpPr txBox="1"/>
          <p:nvPr>
            <p:ph idx="1" type="body"/>
          </p:nvPr>
        </p:nvSpPr>
        <p:spPr>
          <a:xfrm>
            <a:off x="195225" y="745125"/>
            <a:ext cx="4289400" cy="17655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Clr>
                <a:srgbClr val="204586"/>
              </a:buClr>
              <a:buSzPts val="1800"/>
              <a:buChar char="●"/>
              <a:defRPr>
                <a:solidFill>
                  <a:srgbClr val="204586"/>
                </a:solidFill>
              </a:defRPr>
            </a:lvl1pPr>
            <a:lvl2pPr indent="-349250" lvl="1" marL="914400">
              <a:spcBef>
                <a:spcPts val="1200"/>
              </a:spcBef>
              <a:spcAft>
                <a:spcPts val="0"/>
              </a:spcAft>
              <a:buSzPts val="1900"/>
              <a:buChar char="○"/>
              <a:defRPr sz="1400"/>
            </a:lvl2pPr>
            <a:lvl3pPr indent="-317500" lvl="2" marL="1371600">
              <a:spcBef>
                <a:spcPts val="1200"/>
              </a:spcBef>
              <a:spcAft>
                <a:spcPts val="0"/>
              </a:spcAft>
              <a:buSzPts val="1400"/>
              <a:buChar char="■"/>
              <a:defRPr sz="1400"/>
            </a:lvl3pPr>
            <a:lvl4pPr indent="-317500" lvl="3" marL="1828800">
              <a:spcBef>
                <a:spcPts val="1200"/>
              </a:spcBef>
              <a:spcAft>
                <a:spcPts val="0"/>
              </a:spcAft>
              <a:buSzPts val="1400"/>
              <a:buChar char="●"/>
              <a:defRPr sz="1400"/>
            </a:lvl4pPr>
            <a:lvl5pPr indent="-317500" lvl="4" marL="2286000">
              <a:spcBef>
                <a:spcPts val="1200"/>
              </a:spcBef>
              <a:spcAft>
                <a:spcPts val="0"/>
              </a:spcAft>
              <a:buSzPts val="1400"/>
              <a:buChar char="○"/>
              <a:defRPr sz="1400"/>
            </a:lvl5pPr>
            <a:lvl6pPr indent="-317500" lvl="5" marL="2743200">
              <a:spcBef>
                <a:spcPts val="1200"/>
              </a:spcBef>
              <a:spcAft>
                <a:spcPts val="0"/>
              </a:spcAft>
              <a:buSzPts val="1400"/>
              <a:buChar char="■"/>
              <a:defRPr sz="1400"/>
            </a:lvl6pPr>
            <a:lvl7pPr indent="-317500" lvl="6" marL="3200400">
              <a:spcBef>
                <a:spcPts val="1200"/>
              </a:spcBef>
              <a:spcAft>
                <a:spcPts val="0"/>
              </a:spcAft>
              <a:buSzPts val="1400"/>
              <a:buChar char="●"/>
              <a:defRPr sz="1400"/>
            </a:lvl7pPr>
            <a:lvl8pPr indent="-317500" lvl="7" marL="3657600">
              <a:spcBef>
                <a:spcPts val="1200"/>
              </a:spcBef>
              <a:spcAft>
                <a:spcPts val="0"/>
              </a:spcAft>
              <a:buSzPts val="1400"/>
              <a:buChar char="○"/>
              <a:defRPr sz="1400"/>
            </a:lvl8pPr>
            <a:lvl9pPr indent="-317500" lvl="8" marL="4114800">
              <a:spcBef>
                <a:spcPts val="1200"/>
              </a:spcBef>
              <a:spcAft>
                <a:spcPts val="1200"/>
              </a:spcAft>
              <a:buSzPts val="1400"/>
              <a:buChar char="■"/>
              <a:defRPr sz="1400"/>
            </a:lvl9pPr>
          </a:lstStyle>
          <a:p/>
        </p:txBody>
      </p:sp>
      <p:pic>
        <p:nvPicPr>
          <p:cNvPr id="58" name="Google Shape;58;p13"/>
          <p:cNvPicPr preferRelativeResize="0"/>
          <p:nvPr/>
        </p:nvPicPr>
        <p:blipFill>
          <a:blip r:embed="rId4">
            <a:alphaModFix/>
          </a:blip>
          <a:stretch>
            <a:fillRect/>
          </a:stretch>
        </p:blipFill>
        <p:spPr>
          <a:xfrm>
            <a:off x="0" y="0"/>
            <a:ext cx="9144003" cy="5143501"/>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5" name="Shape 65"/>
        <p:cNvGrpSpPr/>
        <p:nvPr/>
      </p:nvGrpSpPr>
      <p:grpSpPr>
        <a:xfrm>
          <a:off x="0" y="0"/>
          <a:ext cx="0" cy="0"/>
          <a:chOff x="0" y="0"/>
          <a:chExt cx="0" cy="0"/>
        </a:xfrm>
      </p:grpSpPr>
      <p:sp>
        <p:nvSpPr>
          <p:cNvPr id="66" name="Google Shape;66;p15"/>
          <p:cNvSpPr txBox="1"/>
          <p:nvPr>
            <p:ph type="title"/>
          </p:nvPr>
        </p:nvSpPr>
        <p:spPr>
          <a:xfrm>
            <a:off x="6226576" y="451629"/>
            <a:ext cx="280034" cy="63563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400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5"/>
          <p:cNvSpPr txBox="1"/>
          <p:nvPr>
            <p:ph idx="1" type="body"/>
          </p:nvPr>
        </p:nvSpPr>
        <p:spPr>
          <a:xfrm>
            <a:off x="560831" y="1502955"/>
            <a:ext cx="8022336" cy="2914015"/>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sz="1200">
                <a:solidFill>
                  <a:schemeClr val="lt1"/>
                </a:solidFill>
                <a:latin typeface="Arial"/>
                <a:ea typeface="Arial"/>
                <a:cs typeface="Arial"/>
                <a:sym typeface="Aria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68" name="Google Shape;68;p15"/>
          <p:cNvSpPr txBox="1"/>
          <p:nvPr>
            <p:ph idx="11" type="ftr"/>
          </p:nvPr>
        </p:nvSpPr>
        <p:spPr>
          <a:xfrm>
            <a:off x="679094" y="4799096"/>
            <a:ext cx="3590925"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5"/>
          <p:cNvSpPr txBox="1"/>
          <p:nvPr>
            <p:ph idx="10" type="dt"/>
          </p:nvPr>
        </p:nvSpPr>
        <p:spPr>
          <a:xfrm>
            <a:off x="7634430" y="4799164"/>
            <a:ext cx="1176654"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15"/>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showMasterSp="0">
  <p:cSld name="Blank_1">
    <p:bg>
      <p:bgPr>
        <a:blipFill>
          <a:blip r:embed="rId2">
            <a:alphaModFix/>
          </a:blip>
          <a:stretch>
            <a:fillRect/>
          </a:stretch>
        </a:blipFill>
      </p:bgPr>
    </p:bg>
    <p:spTree>
      <p:nvGrpSpPr>
        <p:cNvPr id="71" name="Shape 71"/>
        <p:cNvGrpSpPr/>
        <p:nvPr/>
      </p:nvGrpSpPr>
      <p:grpSpPr>
        <a:xfrm>
          <a:off x="0" y="0"/>
          <a:ext cx="0" cy="0"/>
          <a:chOff x="0" y="0"/>
          <a:chExt cx="0" cy="0"/>
        </a:xfrm>
      </p:grpSpPr>
      <p:pic>
        <p:nvPicPr>
          <p:cNvPr id="72" name="Google Shape;72;p16"/>
          <p:cNvPicPr preferRelativeResize="0"/>
          <p:nvPr/>
        </p:nvPicPr>
        <p:blipFill rotWithShape="1">
          <a:blip r:embed="rId3">
            <a:alphaModFix/>
          </a:blip>
          <a:srcRect b="2883" l="0" r="0" t="2883"/>
          <a:stretch/>
        </p:blipFill>
        <p:spPr>
          <a:xfrm>
            <a:off x="408425" y="4595551"/>
            <a:ext cx="2118301" cy="227934"/>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1 1 1 1" showMasterSp="0">
  <p:cSld name="Blank_1_1_1_1_1_1">
    <p:bg>
      <p:bgPr>
        <a:solidFill>
          <a:schemeClr val="lt1"/>
        </a:solidFill>
      </p:bgPr>
    </p:bg>
    <p:spTree>
      <p:nvGrpSpPr>
        <p:cNvPr id="73" name="Shape 73"/>
        <p:cNvGrpSpPr/>
        <p:nvPr/>
      </p:nvGrpSpPr>
      <p:grpSpPr>
        <a:xfrm>
          <a:off x="0" y="0"/>
          <a:ext cx="0" cy="0"/>
          <a:chOff x="0" y="0"/>
          <a:chExt cx="0" cy="0"/>
        </a:xfrm>
      </p:grpSpPr>
      <p:pic>
        <p:nvPicPr>
          <p:cNvPr id="74" name="Google Shape;74;p17"/>
          <p:cNvPicPr preferRelativeResize="0"/>
          <p:nvPr/>
        </p:nvPicPr>
        <p:blipFill rotWithShape="1">
          <a:blip r:embed="rId2">
            <a:alphaModFix/>
          </a:blip>
          <a:srcRect b="1458" l="1767" r="1126" t="0"/>
          <a:stretch/>
        </p:blipFill>
        <p:spPr>
          <a:xfrm>
            <a:off x="-151954" y="-66150"/>
            <a:ext cx="9473060" cy="5271769"/>
          </a:xfrm>
          <a:prstGeom prst="rect">
            <a:avLst/>
          </a:prstGeom>
          <a:solidFill>
            <a:srgbClr val="141138"/>
          </a:solidFill>
          <a:ln>
            <a:noFill/>
          </a:ln>
        </p:spPr>
      </p:pic>
      <p:sp>
        <p:nvSpPr>
          <p:cNvPr id="75" name="Google Shape;75;p17"/>
          <p:cNvSpPr/>
          <p:nvPr/>
        </p:nvSpPr>
        <p:spPr>
          <a:xfrm>
            <a:off x="-151950" y="-64200"/>
            <a:ext cx="9473100" cy="5271900"/>
          </a:xfrm>
          <a:prstGeom prst="rect">
            <a:avLst/>
          </a:prstGeom>
          <a:solidFill>
            <a:srgbClr val="141138">
              <a:alpha val="7372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1D1C1D"/>
              </a:solidFill>
              <a:latin typeface="Arial"/>
              <a:ea typeface="Arial"/>
              <a:cs typeface="Arial"/>
              <a:sym typeface="Arial"/>
            </a:endParaRPr>
          </a:p>
        </p:txBody>
      </p:sp>
      <p:pic>
        <p:nvPicPr>
          <p:cNvPr id="76" name="Google Shape;76;p17"/>
          <p:cNvPicPr preferRelativeResize="0"/>
          <p:nvPr/>
        </p:nvPicPr>
        <p:blipFill rotWithShape="1">
          <a:blip r:embed="rId3">
            <a:alphaModFix/>
          </a:blip>
          <a:srcRect b="2883" l="0" r="0" t="2883"/>
          <a:stretch/>
        </p:blipFill>
        <p:spPr>
          <a:xfrm>
            <a:off x="408425" y="4595551"/>
            <a:ext cx="2118301" cy="227934"/>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1" showMasterSp="0">
  <p:cSld name="Blank_2_1">
    <p:bg>
      <p:bgPr>
        <a:solidFill>
          <a:schemeClr val="lt1"/>
        </a:solidFill>
      </p:bgPr>
    </p:bg>
    <p:spTree>
      <p:nvGrpSpPr>
        <p:cNvPr id="77" name="Shape 77"/>
        <p:cNvGrpSpPr/>
        <p:nvPr/>
      </p:nvGrpSpPr>
      <p:grpSpPr>
        <a:xfrm>
          <a:off x="0" y="0"/>
          <a:ext cx="0" cy="0"/>
          <a:chOff x="0" y="0"/>
          <a:chExt cx="0" cy="0"/>
        </a:xfrm>
      </p:grpSpPr>
      <p:sp>
        <p:nvSpPr>
          <p:cNvPr id="78" name="Google Shape;78;p18"/>
          <p:cNvSpPr txBox="1"/>
          <p:nvPr>
            <p:ph idx="11" type="ftr"/>
          </p:nvPr>
        </p:nvSpPr>
        <p:spPr>
          <a:xfrm>
            <a:off x="679094" y="4799096"/>
            <a:ext cx="3591000" cy="1962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8"/>
          <p:cNvSpPr txBox="1"/>
          <p:nvPr>
            <p:ph idx="12" type="sldNum"/>
          </p:nvPr>
        </p:nvSpPr>
        <p:spPr>
          <a:xfrm>
            <a:off x="6596930" y="4718105"/>
            <a:ext cx="2103000" cy="2772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8"/>
          <p:cNvPicPr preferRelativeResize="0"/>
          <p:nvPr/>
        </p:nvPicPr>
        <p:blipFill rotWithShape="1">
          <a:blip r:embed="rId2">
            <a:alphaModFix/>
          </a:blip>
          <a:srcRect b="7286" l="0" r="0" t="7286"/>
          <a:stretch/>
        </p:blipFill>
        <p:spPr>
          <a:xfrm>
            <a:off x="408425" y="4595551"/>
            <a:ext cx="2118301" cy="227934"/>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2" showMasterSp="0">
  <p:cSld name="Blank_2">
    <p:bg>
      <p:bgPr>
        <a:blipFill>
          <a:blip r:embed="rId2">
            <a:alphaModFix/>
          </a:blip>
          <a:stretch>
            <a:fillRect/>
          </a:stretch>
        </a:blipFill>
      </p:bgPr>
    </p:bg>
    <p:spTree>
      <p:nvGrpSpPr>
        <p:cNvPr id="81" name="Shape 81"/>
        <p:cNvGrpSpPr/>
        <p:nvPr/>
      </p:nvGrpSpPr>
      <p:grpSpPr>
        <a:xfrm>
          <a:off x="0" y="0"/>
          <a:ext cx="0" cy="0"/>
          <a:chOff x="0" y="0"/>
          <a:chExt cx="0" cy="0"/>
        </a:xfrm>
      </p:grpSpPr>
      <p:sp>
        <p:nvSpPr>
          <p:cNvPr id="82" name="Google Shape;82;p19"/>
          <p:cNvSpPr txBox="1"/>
          <p:nvPr>
            <p:ph idx="11" type="ftr"/>
          </p:nvPr>
        </p:nvSpPr>
        <p:spPr>
          <a:xfrm>
            <a:off x="679094" y="4799096"/>
            <a:ext cx="3591000" cy="1962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19"/>
          <p:cNvSpPr txBox="1"/>
          <p:nvPr>
            <p:ph idx="12" type="sldNum"/>
          </p:nvPr>
        </p:nvSpPr>
        <p:spPr>
          <a:xfrm>
            <a:off x="6596930" y="4718105"/>
            <a:ext cx="2103000" cy="2772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9"/>
          <p:cNvPicPr preferRelativeResize="0"/>
          <p:nvPr/>
        </p:nvPicPr>
        <p:blipFill rotWithShape="1">
          <a:blip r:embed="rId3">
            <a:alphaModFix/>
          </a:blip>
          <a:srcRect b="7286" l="0" r="0" t="7286"/>
          <a:stretch/>
        </p:blipFill>
        <p:spPr>
          <a:xfrm>
            <a:off x="408425" y="4595551"/>
            <a:ext cx="2118301" cy="227934"/>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1 1" showMasterSp="0">
  <p:cSld name="Blank_1_1_1_1">
    <p:bg>
      <p:bgPr>
        <a:solidFill>
          <a:schemeClr val="lt1"/>
        </a:solidFill>
      </p:bgPr>
    </p:bg>
    <p:spTree>
      <p:nvGrpSpPr>
        <p:cNvPr id="85" name="Shape 85"/>
        <p:cNvGrpSpPr/>
        <p:nvPr/>
      </p:nvGrpSpPr>
      <p:grpSpPr>
        <a:xfrm>
          <a:off x="0" y="0"/>
          <a:ext cx="0" cy="0"/>
          <a:chOff x="0" y="0"/>
          <a:chExt cx="0" cy="0"/>
        </a:xfrm>
      </p:grpSpPr>
      <p:sp>
        <p:nvSpPr>
          <p:cNvPr id="86" name="Google Shape;86;p20"/>
          <p:cNvSpPr/>
          <p:nvPr/>
        </p:nvSpPr>
        <p:spPr>
          <a:xfrm>
            <a:off x="0" y="100"/>
            <a:ext cx="2809800" cy="5143500"/>
          </a:xfrm>
          <a:prstGeom prst="rect">
            <a:avLst/>
          </a:prstGeom>
          <a:solidFill>
            <a:srgbClr val="1411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1D1C1D"/>
              </a:solidFill>
              <a:latin typeface="Arial"/>
              <a:ea typeface="Arial"/>
              <a:cs typeface="Arial"/>
              <a:sym typeface="Arial"/>
            </a:endParaRPr>
          </a:p>
        </p:txBody>
      </p:sp>
      <p:pic>
        <p:nvPicPr>
          <p:cNvPr id="87" name="Google Shape;87;p20"/>
          <p:cNvPicPr preferRelativeResize="0"/>
          <p:nvPr/>
        </p:nvPicPr>
        <p:blipFill rotWithShape="1">
          <a:blip r:embed="rId2">
            <a:alphaModFix/>
          </a:blip>
          <a:srcRect b="2883" l="0" r="0" t="2883"/>
          <a:stretch/>
        </p:blipFill>
        <p:spPr>
          <a:xfrm>
            <a:off x="408425" y="4595551"/>
            <a:ext cx="2118301" cy="227934"/>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1 1 1" showMasterSp="0">
  <p:cSld name="Blank_1_1_1_1_1">
    <p:bg>
      <p:bgPr>
        <a:solidFill>
          <a:schemeClr val="lt1"/>
        </a:solidFill>
      </p:bgPr>
    </p:bg>
    <p:spTree>
      <p:nvGrpSpPr>
        <p:cNvPr id="88" name="Shape 88"/>
        <p:cNvGrpSpPr/>
        <p:nvPr/>
      </p:nvGrpSpPr>
      <p:grpSpPr>
        <a:xfrm>
          <a:off x="0" y="0"/>
          <a:ext cx="0" cy="0"/>
          <a:chOff x="0" y="0"/>
          <a:chExt cx="0" cy="0"/>
        </a:xfrm>
      </p:grpSpPr>
      <p:pic>
        <p:nvPicPr>
          <p:cNvPr id="89" name="Google Shape;89;p21"/>
          <p:cNvPicPr preferRelativeResize="0"/>
          <p:nvPr/>
        </p:nvPicPr>
        <p:blipFill rotWithShape="1">
          <a:blip r:embed="rId2">
            <a:alphaModFix/>
          </a:blip>
          <a:srcRect b="0" l="34448" r="34448" t="0"/>
          <a:stretch/>
        </p:blipFill>
        <p:spPr>
          <a:xfrm>
            <a:off x="0" y="0"/>
            <a:ext cx="2809800" cy="5143500"/>
          </a:xfrm>
          <a:prstGeom prst="rect">
            <a:avLst/>
          </a:prstGeom>
          <a:solidFill>
            <a:srgbClr val="141138"/>
          </a:solidFill>
          <a:ln>
            <a:noFill/>
          </a:ln>
        </p:spPr>
      </p:pic>
      <p:sp>
        <p:nvSpPr>
          <p:cNvPr id="90" name="Google Shape;90;p21"/>
          <p:cNvSpPr/>
          <p:nvPr/>
        </p:nvSpPr>
        <p:spPr>
          <a:xfrm>
            <a:off x="0" y="0"/>
            <a:ext cx="2809800" cy="5143500"/>
          </a:xfrm>
          <a:prstGeom prst="rect">
            <a:avLst/>
          </a:prstGeom>
          <a:solidFill>
            <a:srgbClr val="141138">
              <a:alpha val="73725"/>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1D1C1D"/>
              </a:solidFill>
              <a:latin typeface="Arial"/>
              <a:ea typeface="Arial"/>
              <a:cs typeface="Arial"/>
              <a:sym typeface="Arial"/>
            </a:endParaRPr>
          </a:p>
        </p:txBody>
      </p:sp>
      <p:pic>
        <p:nvPicPr>
          <p:cNvPr id="91" name="Google Shape;91;p21"/>
          <p:cNvPicPr preferRelativeResize="0"/>
          <p:nvPr/>
        </p:nvPicPr>
        <p:blipFill rotWithShape="1">
          <a:blip r:embed="rId3">
            <a:alphaModFix/>
          </a:blip>
          <a:srcRect b="2883" l="0" r="0" t="2883"/>
          <a:stretch/>
        </p:blipFill>
        <p:spPr>
          <a:xfrm>
            <a:off x="408425" y="4595551"/>
            <a:ext cx="2118301" cy="227934"/>
          </a:xfrm>
          <a:prstGeom prst="rect">
            <a:avLst/>
          </a:prstGeom>
          <a:noFill/>
          <a:ln>
            <a:noFill/>
          </a:ln>
        </p:spPr>
      </p:pic>
      <p:sp>
        <p:nvSpPr>
          <p:cNvPr id="92" name="Google Shape;92;p21"/>
          <p:cNvSpPr/>
          <p:nvPr/>
        </p:nvSpPr>
        <p:spPr>
          <a:xfrm>
            <a:off x="2809800" y="100"/>
            <a:ext cx="6596100" cy="5143500"/>
          </a:xfrm>
          <a:prstGeom prst="rect">
            <a:avLst/>
          </a:prstGeom>
          <a:solidFill>
            <a:srgbClr val="1411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1D1C1D"/>
              </a:solidFill>
              <a:latin typeface="Arial"/>
              <a:ea typeface="Arial"/>
              <a:cs typeface="Arial"/>
              <a:sym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showMasterSp="0">
  <p:cSld name="Two Content">
    <p:bg>
      <p:bgPr>
        <a:solidFill>
          <a:schemeClr val="lt1"/>
        </a:solidFill>
      </p:bgPr>
    </p:bg>
    <p:spTree>
      <p:nvGrpSpPr>
        <p:cNvPr id="93" name="Shape 93"/>
        <p:cNvGrpSpPr/>
        <p:nvPr/>
      </p:nvGrpSpPr>
      <p:grpSpPr>
        <a:xfrm>
          <a:off x="0" y="0"/>
          <a:ext cx="0" cy="0"/>
          <a:chOff x="0" y="0"/>
          <a:chExt cx="0" cy="0"/>
        </a:xfrm>
      </p:grpSpPr>
      <p:pic>
        <p:nvPicPr>
          <p:cNvPr id="94" name="Google Shape;94;p22"/>
          <p:cNvPicPr preferRelativeResize="0"/>
          <p:nvPr/>
        </p:nvPicPr>
        <p:blipFill rotWithShape="1">
          <a:blip r:embed="rId2">
            <a:alphaModFix/>
          </a:blip>
          <a:srcRect b="0" l="0" r="0" t="0"/>
          <a:stretch/>
        </p:blipFill>
        <p:spPr>
          <a:xfrm>
            <a:off x="0" y="0"/>
            <a:ext cx="9143999" cy="4667250"/>
          </a:xfrm>
          <a:prstGeom prst="rect">
            <a:avLst/>
          </a:prstGeom>
          <a:noFill/>
          <a:ln>
            <a:noFill/>
          </a:ln>
        </p:spPr>
      </p:pic>
      <p:sp>
        <p:nvSpPr>
          <p:cNvPr id="95" name="Google Shape;95;p22"/>
          <p:cNvSpPr txBox="1"/>
          <p:nvPr>
            <p:ph type="title"/>
          </p:nvPr>
        </p:nvSpPr>
        <p:spPr>
          <a:xfrm>
            <a:off x="6226576" y="451629"/>
            <a:ext cx="280034" cy="63563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400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p22"/>
          <p:cNvSpPr txBox="1"/>
          <p:nvPr>
            <p:ph idx="1" type="body"/>
          </p:nvPr>
        </p:nvSpPr>
        <p:spPr>
          <a:xfrm>
            <a:off x="407349" y="1131788"/>
            <a:ext cx="3754120" cy="3529965"/>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sz="8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7" name="Google Shape;97;p22"/>
          <p:cNvSpPr txBox="1"/>
          <p:nvPr>
            <p:ph idx="2" type="body"/>
          </p:nvPr>
        </p:nvSpPr>
        <p:spPr>
          <a:xfrm>
            <a:off x="4707866" y="1151652"/>
            <a:ext cx="3781425" cy="3389629"/>
          </a:xfrm>
          <a:prstGeom prst="rect">
            <a:avLst/>
          </a:prstGeom>
          <a:noFill/>
          <a:ln>
            <a:noFill/>
          </a:ln>
        </p:spPr>
        <p:txBody>
          <a:bodyPr anchorCtr="0" anchor="t" bIns="0" lIns="0" spcFirstLastPara="1" rIns="0" wrap="square" tIns="0">
            <a:spAutoFit/>
          </a:bodyPr>
          <a:lstStyle>
            <a:lvl1pPr indent="-228600" lvl="0" marL="457200" algn="l">
              <a:lnSpc>
                <a:spcPct val="100000"/>
              </a:lnSpc>
              <a:spcBef>
                <a:spcPts val="0"/>
              </a:spcBef>
              <a:spcAft>
                <a:spcPts val="0"/>
              </a:spcAft>
              <a:buSzPts val="1400"/>
              <a:buNone/>
              <a:defRPr b="0" i="0" sz="800">
                <a:solidFill>
                  <a:schemeClr val="dk1"/>
                </a:solidFill>
                <a:latin typeface="Arial"/>
                <a:ea typeface="Arial"/>
                <a:cs typeface="Arial"/>
                <a:sym typeface="Arial"/>
              </a:defRPr>
            </a:lvl1pPr>
            <a:lvl2pPr indent="-228600" lvl="1" marL="914400" algn="l">
              <a:lnSpc>
                <a:spcPct val="100000"/>
              </a:lnSpc>
              <a:spcBef>
                <a:spcPts val="0"/>
              </a:spcBef>
              <a:spcAft>
                <a:spcPts val="0"/>
              </a:spcAft>
              <a:buSzPts val="1400"/>
              <a:buNone/>
              <a:defRPr/>
            </a:lvl2pPr>
            <a:lvl3pPr indent="-228600" lvl="2" marL="1371600" algn="l">
              <a:lnSpc>
                <a:spcPct val="100000"/>
              </a:lnSpc>
              <a:spcBef>
                <a:spcPts val="0"/>
              </a:spcBef>
              <a:spcAft>
                <a:spcPts val="0"/>
              </a:spcAft>
              <a:buSzPts val="1400"/>
              <a:buNone/>
              <a:defRPr/>
            </a:lvl3pPr>
            <a:lvl4pPr indent="-228600" lvl="3" marL="1828800" algn="l">
              <a:lnSpc>
                <a:spcPct val="100000"/>
              </a:lnSpc>
              <a:spcBef>
                <a:spcPts val="0"/>
              </a:spcBef>
              <a:spcAft>
                <a:spcPts val="0"/>
              </a:spcAft>
              <a:buSzPts val="1400"/>
              <a:buNone/>
              <a:defRPr/>
            </a:lvl4pPr>
            <a:lvl5pPr indent="-228600" lvl="4" marL="2286000" algn="l">
              <a:lnSpc>
                <a:spcPct val="100000"/>
              </a:lnSpc>
              <a:spcBef>
                <a:spcPts val="0"/>
              </a:spcBef>
              <a:spcAft>
                <a:spcPts val="0"/>
              </a:spcAft>
              <a:buSzPts val="1400"/>
              <a:buNone/>
              <a:defRPr/>
            </a:lvl5pPr>
            <a:lvl6pPr indent="-228600" lvl="5" marL="2743200" algn="l">
              <a:lnSpc>
                <a:spcPct val="100000"/>
              </a:lnSpc>
              <a:spcBef>
                <a:spcPts val="0"/>
              </a:spcBef>
              <a:spcAft>
                <a:spcPts val="0"/>
              </a:spcAft>
              <a:buSzPts val="1400"/>
              <a:buNone/>
              <a:defRPr/>
            </a:lvl6pPr>
            <a:lvl7pPr indent="-228600" lvl="6" marL="3200400" algn="l">
              <a:lnSpc>
                <a:spcPct val="100000"/>
              </a:lnSpc>
              <a:spcBef>
                <a:spcPts val="0"/>
              </a:spcBef>
              <a:spcAft>
                <a:spcPts val="0"/>
              </a:spcAft>
              <a:buSzPts val="1400"/>
              <a:buNone/>
              <a:defRPr/>
            </a:lvl7pPr>
            <a:lvl8pPr indent="-228600" lvl="7" marL="3657600" algn="l">
              <a:lnSpc>
                <a:spcPct val="100000"/>
              </a:lnSpc>
              <a:spcBef>
                <a:spcPts val="0"/>
              </a:spcBef>
              <a:spcAft>
                <a:spcPts val="0"/>
              </a:spcAft>
              <a:buSzPts val="1400"/>
              <a:buNone/>
              <a:defRPr/>
            </a:lvl8pPr>
            <a:lvl9pPr indent="-228600" lvl="8" marL="4114800" algn="l">
              <a:lnSpc>
                <a:spcPct val="100000"/>
              </a:lnSpc>
              <a:spcBef>
                <a:spcPts val="0"/>
              </a:spcBef>
              <a:spcAft>
                <a:spcPts val="0"/>
              </a:spcAft>
              <a:buSzPts val="1400"/>
              <a:buNone/>
              <a:defRPr/>
            </a:lvl9pPr>
          </a:lstStyle>
          <a:p/>
        </p:txBody>
      </p:sp>
      <p:sp>
        <p:nvSpPr>
          <p:cNvPr id="98" name="Google Shape;98;p22"/>
          <p:cNvSpPr txBox="1"/>
          <p:nvPr>
            <p:ph idx="11" type="ftr"/>
          </p:nvPr>
        </p:nvSpPr>
        <p:spPr>
          <a:xfrm>
            <a:off x="679094" y="4799096"/>
            <a:ext cx="3590925"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9" name="Google Shape;99;p22"/>
          <p:cNvSpPr txBox="1"/>
          <p:nvPr>
            <p:ph idx="10" type="dt"/>
          </p:nvPr>
        </p:nvSpPr>
        <p:spPr>
          <a:xfrm>
            <a:off x="7634430" y="4799164"/>
            <a:ext cx="1176654"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p22"/>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bg>
      <p:bgPr>
        <a:solidFill>
          <a:srgbClr val="B398FF">
            <a:alpha val="11373"/>
          </a:srgbClr>
        </a:solidFill>
      </p:bgPr>
    </p:bg>
    <p:spTree>
      <p:nvGrpSpPr>
        <p:cNvPr id="101" name="Shape 101"/>
        <p:cNvGrpSpPr/>
        <p:nvPr/>
      </p:nvGrpSpPr>
      <p:grpSpPr>
        <a:xfrm>
          <a:off x="0" y="0"/>
          <a:ext cx="0" cy="0"/>
          <a:chOff x="0" y="0"/>
          <a:chExt cx="0" cy="0"/>
        </a:xfrm>
      </p:grpSpPr>
      <p:sp>
        <p:nvSpPr>
          <p:cNvPr id="102" name="Google Shape;102;p23"/>
          <p:cNvSpPr txBox="1"/>
          <p:nvPr>
            <p:ph idx="12" type="sldNum"/>
          </p:nvPr>
        </p:nvSpPr>
        <p:spPr>
          <a:xfrm>
            <a:off x="6596930" y="4718105"/>
            <a:ext cx="2103000" cy="2772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73F1BC"/>
                </a:solidFill>
                <a:latin typeface="Poppins Medium"/>
                <a:ea typeface="Poppins Medium"/>
                <a:cs typeface="Poppins Medium"/>
                <a:sym typeface="Poppins Medium"/>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showMasterSp="0">
  <p:cSld name="Blank_1_1">
    <p:bg>
      <p:bgPr>
        <a:blipFill>
          <a:blip r:embed="rId2">
            <a:alphaModFix/>
          </a:blip>
          <a:stretch>
            <a:fillRect/>
          </a:stretch>
        </a:blipFill>
      </p:bgPr>
    </p:bg>
    <p:spTree>
      <p:nvGrpSpPr>
        <p:cNvPr id="103" name="Shape 103"/>
        <p:cNvGrpSpPr/>
        <p:nvPr/>
      </p:nvGrpSpPr>
      <p:grpSpPr>
        <a:xfrm>
          <a:off x="0" y="0"/>
          <a:ext cx="0" cy="0"/>
          <a:chOff x="0" y="0"/>
          <a:chExt cx="0" cy="0"/>
        </a:xfrm>
      </p:grpSpPr>
      <p:pic>
        <p:nvPicPr>
          <p:cNvPr id="104" name="Google Shape;104;p24"/>
          <p:cNvPicPr preferRelativeResize="0"/>
          <p:nvPr/>
        </p:nvPicPr>
        <p:blipFill rotWithShape="1">
          <a:blip r:embed="rId3">
            <a:alphaModFix/>
          </a:blip>
          <a:srcRect b="2883" l="0" r="0" t="2883"/>
          <a:stretch/>
        </p:blipFill>
        <p:spPr>
          <a:xfrm>
            <a:off x="408425" y="4595551"/>
            <a:ext cx="2118301" cy="227934"/>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1" showMasterSp="0">
  <p:cSld name="Blank_1_1_1">
    <p:bg>
      <p:bgPr>
        <a:solidFill>
          <a:schemeClr val="lt1"/>
        </a:solidFill>
      </p:bgPr>
    </p:bg>
    <p:spTree>
      <p:nvGrpSpPr>
        <p:cNvPr id="105" name="Shape 105"/>
        <p:cNvGrpSpPr/>
        <p:nvPr/>
      </p:nvGrpSpPr>
      <p:grpSpPr>
        <a:xfrm>
          <a:off x="0" y="0"/>
          <a:ext cx="0" cy="0"/>
          <a:chOff x="0" y="0"/>
          <a:chExt cx="0" cy="0"/>
        </a:xfrm>
      </p:grpSpPr>
      <p:sp>
        <p:nvSpPr>
          <p:cNvPr id="106" name="Google Shape;106;p25"/>
          <p:cNvSpPr/>
          <p:nvPr/>
        </p:nvSpPr>
        <p:spPr>
          <a:xfrm>
            <a:off x="0" y="100"/>
            <a:ext cx="2809800" cy="5143500"/>
          </a:xfrm>
          <a:prstGeom prst="rect">
            <a:avLst/>
          </a:prstGeom>
          <a:solidFill>
            <a:srgbClr val="1411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1D1C1D"/>
              </a:solidFill>
              <a:latin typeface="Arial"/>
              <a:ea typeface="Arial"/>
              <a:cs typeface="Arial"/>
              <a:sym typeface="Arial"/>
            </a:endParaRPr>
          </a:p>
        </p:txBody>
      </p:sp>
      <p:pic>
        <p:nvPicPr>
          <p:cNvPr id="107" name="Google Shape;107;p25"/>
          <p:cNvPicPr preferRelativeResize="0"/>
          <p:nvPr/>
        </p:nvPicPr>
        <p:blipFill rotWithShape="1">
          <a:blip r:embed="rId2">
            <a:alphaModFix/>
          </a:blip>
          <a:srcRect b="2883" l="0" r="0" t="2883"/>
          <a:stretch/>
        </p:blipFill>
        <p:spPr>
          <a:xfrm>
            <a:off x="408425" y="4595551"/>
            <a:ext cx="2118301" cy="227934"/>
          </a:xfrm>
          <a:prstGeom prst="rect">
            <a:avLst/>
          </a:prstGeom>
          <a:noFill/>
          <a:ln>
            <a:noFill/>
          </a:ln>
        </p:spPr>
      </p:pic>
      <p:sp>
        <p:nvSpPr>
          <p:cNvPr id="108" name="Google Shape;108;p25"/>
          <p:cNvSpPr txBox="1"/>
          <p:nvPr>
            <p:ph type="title"/>
          </p:nvPr>
        </p:nvSpPr>
        <p:spPr>
          <a:xfrm>
            <a:off x="436575" y="463025"/>
            <a:ext cx="2063700" cy="873000"/>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2800"/>
              <a:buFont typeface="Montserrat"/>
              <a:buNone/>
              <a:defRPr b="1" sz="2800">
                <a:latin typeface="Montserrat"/>
                <a:ea typeface="Montserrat"/>
                <a:cs typeface="Montserrat"/>
                <a:sym typeface="Montserrat"/>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1 1 1 2" showMasterSp="0">
  <p:cSld name="Blank_1_1_1_1_2">
    <p:bg>
      <p:bgPr>
        <a:solidFill>
          <a:schemeClr val="lt1"/>
        </a:solidFill>
      </p:bgPr>
    </p:bg>
    <p:spTree>
      <p:nvGrpSpPr>
        <p:cNvPr id="109" name="Shape 109"/>
        <p:cNvGrpSpPr/>
        <p:nvPr/>
      </p:nvGrpSpPr>
      <p:grpSpPr>
        <a:xfrm>
          <a:off x="0" y="0"/>
          <a:ext cx="0" cy="0"/>
          <a:chOff x="0" y="0"/>
          <a:chExt cx="0" cy="0"/>
        </a:xfrm>
      </p:grpSpPr>
      <p:sp>
        <p:nvSpPr>
          <p:cNvPr id="110" name="Google Shape;110;p26"/>
          <p:cNvSpPr/>
          <p:nvPr/>
        </p:nvSpPr>
        <p:spPr>
          <a:xfrm>
            <a:off x="4506450" y="100"/>
            <a:ext cx="4648200" cy="1600200"/>
          </a:xfrm>
          <a:prstGeom prst="rect">
            <a:avLst/>
          </a:prstGeom>
          <a:solidFill>
            <a:srgbClr val="27126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 name="Google Shape;111;p26"/>
          <p:cNvSpPr/>
          <p:nvPr/>
        </p:nvSpPr>
        <p:spPr>
          <a:xfrm>
            <a:off x="4582650" y="1609725"/>
            <a:ext cx="4572000" cy="3533700"/>
          </a:xfrm>
          <a:prstGeom prst="rect">
            <a:avLst/>
          </a:prstGeom>
          <a:solidFill>
            <a:srgbClr val="B398FF">
              <a:alpha val="11373"/>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26"/>
          <p:cNvSpPr/>
          <p:nvPr/>
        </p:nvSpPr>
        <p:spPr>
          <a:xfrm>
            <a:off x="-1225" y="100"/>
            <a:ext cx="4572000" cy="1600200"/>
          </a:xfrm>
          <a:prstGeom prst="rect">
            <a:avLst/>
          </a:prstGeom>
          <a:solidFill>
            <a:srgbClr val="14113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3" name="Google Shape;113;p26"/>
          <p:cNvPicPr preferRelativeResize="0"/>
          <p:nvPr/>
        </p:nvPicPr>
        <p:blipFill rotWithShape="1">
          <a:blip r:embed="rId2">
            <a:alphaModFix/>
          </a:blip>
          <a:srcRect b="7286" l="0" r="0" t="7286"/>
          <a:stretch/>
        </p:blipFill>
        <p:spPr>
          <a:xfrm>
            <a:off x="408425" y="4595551"/>
            <a:ext cx="2118301" cy="227934"/>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27"/>
          <p:cNvSpPr txBox="1"/>
          <p:nvPr>
            <p:ph idx="1" type="subTitle"/>
          </p:nvPr>
        </p:nvSpPr>
        <p:spPr>
          <a:xfrm>
            <a:off x="1371600" y="2880360"/>
            <a:ext cx="6400800" cy="128587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p27"/>
          <p:cNvSpPr txBox="1"/>
          <p:nvPr>
            <p:ph idx="11" type="ftr"/>
          </p:nvPr>
        </p:nvSpPr>
        <p:spPr>
          <a:xfrm>
            <a:off x="679094" y="4799096"/>
            <a:ext cx="3590925"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pic>
        <p:nvPicPr>
          <p:cNvPr id="117" name="Google Shape;117;p27"/>
          <p:cNvPicPr preferRelativeResize="0"/>
          <p:nvPr/>
        </p:nvPicPr>
        <p:blipFill rotWithShape="1">
          <a:blip r:embed="rId3">
            <a:alphaModFix/>
          </a:blip>
          <a:srcRect b="7286" l="0" r="0" t="7286"/>
          <a:stretch/>
        </p:blipFill>
        <p:spPr>
          <a:xfrm>
            <a:off x="408425" y="4595551"/>
            <a:ext cx="2118301" cy="22793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118" name="Shape 118"/>
        <p:cNvGrpSpPr/>
        <p:nvPr/>
      </p:nvGrpSpPr>
      <p:grpSpPr>
        <a:xfrm>
          <a:off x="0" y="0"/>
          <a:ext cx="0" cy="0"/>
          <a:chOff x="0" y="0"/>
          <a:chExt cx="0" cy="0"/>
        </a:xfrm>
      </p:grpSpPr>
      <p:sp>
        <p:nvSpPr>
          <p:cNvPr id="119" name="Google Shape;119;p28"/>
          <p:cNvSpPr txBox="1"/>
          <p:nvPr>
            <p:ph type="title"/>
          </p:nvPr>
        </p:nvSpPr>
        <p:spPr>
          <a:xfrm>
            <a:off x="6226576" y="451629"/>
            <a:ext cx="280034" cy="635635"/>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0" i="0" sz="4000">
                <a:solidFill>
                  <a:srgbClr val="D9D9D9"/>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0" name="Google Shape;120;p28"/>
          <p:cNvSpPr txBox="1"/>
          <p:nvPr>
            <p:ph idx="11" type="ftr"/>
          </p:nvPr>
        </p:nvSpPr>
        <p:spPr>
          <a:xfrm>
            <a:off x="679094" y="4799096"/>
            <a:ext cx="3590925"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1" name="Google Shape;121;p28"/>
          <p:cNvSpPr txBox="1"/>
          <p:nvPr>
            <p:ph idx="10" type="dt"/>
          </p:nvPr>
        </p:nvSpPr>
        <p:spPr>
          <a:xfrm>
            <a:off x="7634430" y="4799164"/>
            <a:ext cx="1176654" cy="196214"/>
          </a:xfrm>
          <a:prstGeom prst="rect">
            <a:avLst/>
          </a:prstGeom>
          <a:noFill/>
          <a:ln>
            <a:noFill/>
          </a:ln>
        </p:spPr>
        <p:txBody>
          <a:bodyPr anchorCtr="0" anchor="t" bIns="0" lIns="0" spcFirstLastPara="1" rIns="0" wrap="square" tIns="0">
            <a:spAutoFit/>
          </a:bodyPr>
          <a:lstStyle>
            <a:lvl1pPr lvl="0" algn="l">
              <a:lnSpc>
                <a:spcPct val="100000"/>
              </a:lnSpc>
              <a:spcBef>
                <a:spcPts val="0"/>
              </a:spcBef>
              <a:spcAft>
                <a:spcPts val="0"/>
              </a:spcAft>
              <a:buSzPts val="1400"/>
              <a:buNone/>
              <a:defRPr b="1" i="0" sz="1200">
                <a:solidFill>
                  <a:srgbClr val="666666"/>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2" name="Google Shape;122;p28"/>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23" name="Shape 123"/>
        <p:cNvGrpSpPr/>
        <p:nvPr/>
      </p:nvGrpSpPr>
      <p:grpSpPr>
        <a:xfrm>
          <a:off x="0" y="0"/>
          <a:ext cx="0" cy="0"/>
          <a:chOff x="0" y="0"/>
          <a:chExt cx="0" cy="0"/>
        </a:xfrm>
      </p:grpSpPr>
      <p:sp>
        <p:nvSpPr>
          <p:cNvPr id="124" name="Google Shape;124;p29"/>
          <p:cNvSpPr txBox="1"/>
          <p:nvPr>
            <p:ph type="ctrTitle"/>
          </p:nvPr>
        </p:nvSpPr>
        <p:spPr>
          <a:xfrm>
            <a:off x="311708" y="744575"/>
            <a:ext cx="8520600" cy="2052600"/>
          </a:xfrm>
          <a:prstGeom prst="rect">
            <a:avLst/>
          </a:prstGeom>
          <a:noFill/>
          <a:ln>
            <a:noFill/>
          </a:ln>
        </p:spPr>
        <p:txBody>
          <a:bodyPr anchorCtr="0" anchor="b" bIns="0" lIns="0" spcFirstLastPara="1" rIns="0" wrap="square" tIns="0">
            <a:sp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25" name="Google Shape;125;p29"/>
          <p:cNvSpPr txBox="1"/>
          <p:nvPr>
            <p:ph idx="1" type="subTitle"/>
          </p:nvPr>
        </p:nvSpPr>
        <p:spPr>
          <a:xfrm>
            <a:off x="311700" y="2834125"/>
            <a:ext cx="8520600" cy="792600"/>
          </a:xfrm>
          <a:prstGeom prst="rect">
            <a:avLst/>
          </a:prstGeom>
          <a:noFill/>
          <a:ln>
            <a:noFill/>
          </a:ln>
        </p:spPr>
        <p:txBody>
          <a:bodyPr anchorCtr="0" anchor="t" bIns="0" lIns="0" spcFirstLastPara="1" rIns="0" wrap="square" tIns="0">
            <a:sp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6" name="Google Shape;126;p29"/>
          <p:cNvSpPr txBox="1"/>
          <p:nvPr>
            <p:ph idx="12" type="sldNum"/>
          </p:nvPr>
        </p:nvSpPr>
        <p:spPr>
          <a:xfrm>
            <a:off x="8472458" y="4663217"/>
            <a:ext cx="548700" cy="277200"/>
          </a:xfrm>
          <a:prstGeom prst="rect">
            <a:avLst/>
          </a:prstGeom>
          <a:noFill/>
          <a:ln>
            <a:noFill/>
          </a:ln>
        </p:spPr>
        <p:txBody>
          <a:bodyPr anchorCtr="0" anchor="t" bIns="0" lIns="0" spcFirstLastPara="1" rIns="0" wrap="square" tIns="0">
            <a:spAutoFit/>
          </a:bodyPr>
          <a:lstStyle>
            <a:lvl1pPr indent="0" lvl="0"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27" name="Shape 127"/>
        <p:cNvGrpSpPr/>
        <p:nvPr/>
      </p:nvGrpSpPr>
      <p:grpSpPr>
        <a:xfrm>
          <a:off x="0" y="0"/>
          <a:ext cx="0" cy="0"/>
          <a:chOff x="0" y="0"/>
          <a:chExt cx="0" cy="0"/>
        </a:xfrm>
      </p:grpSpPr>
      <p:sp>
        <p:nvSpPr>
          <p:cNvPr id="128" name="Google Shape;128;p30"/>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9" name="Google Shape;129;p30"/>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130" name="Google Shape;130;p3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1.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9" name="Shape 59"/>
        <p:cNvGrpSpPr/>
        <p:nvPr/>
      </p:nvGrpSpPr>
      <p:grpSpPr>
        <a:xfrm>
          <a:off x="0" y="0"/>
          <a:ext cx="0" cy="0"/>
          <a:chOff x="0" y="0"/>
          <a:chExt cx="0" cy="0"/>
        </a:xfrm>
      </p:grpSpPr>
      <p:sp>
        <p:nvSpPr>
          <p:cNvPr id="60" name="Google Shape;60;p14"/>
          <p:cNvSpPr txBox="1"/>
          <p:nvPr>
            <p:ph type="title"/>
          </p:nvPr>
        </p:nvSpPr>
        <p:spPr>
          <a:xfrm>
            <a:off x="6226576" y="451629"/>
            <a:ext cx="280034" cy="635635"/>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0" i="0" sz="4000" u="none" cap="none" strike="noStrike">
                <a:solidFill>
                  <a:srgbClr val="D9D9D9"/>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560831" y="1502955"/>
            <a:ext cx="8022336" cy="2914015"/>
          </a:xfrm>
          <a:prstGeom prst="rect">
            <a:avLst/>
          </a:prstGeom>
          <a:noFill/>
          <a:ln>
            <a:noFill/>
          </a:ln>
        </p:spPr>
        <p:txBody>
          <a:bodyPr anchorCtr="0" anchor="t" bIns="0" lIns="0" spcFirstLastPara="1" rIns="0" wrap="square" tIns="0">
            <a:sp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lt1"/>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62" name="Google Shape;62;p14"/>
          <p:cNvSpPr txBox="1"/>
          <p:nvPr>
            <p:ph idx="11" type="ftr"/>
          </p:nvPr>
        </p:nvSpPr>
        <p:spPr>
          <a:xfrm>
            <a:off x="679094" y="4799096"/>
            <a:ext cx="3590925" cy="196214"/>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1" i="0" sz="12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63" name="Google Shape;63;p14"/>
          <p:cNvSpPr txBox="1"/>
          <p:nvPr>
            <p:ph idx="10" type="dt"/>
          </p:nvPr>
        </p:nvSpPr>
        <p:spPr>
          <a:xfrm>
            <a:off x="7634430" y="4799164"/>
            <a:ext cx="1176654" cy="196214"/>
          </a:xfrm>
          <a:prstGeom prst="rect">
            <a:avLst/>
          </a:prstGeom>
          <a:noFill/>
          <a:ln>
            <a:noFill/>
          </a:ln>
        </p:spPr>
        <p:txBody>
          <a:bodyPr anchorCtr="0" anchor="t" bIns="0" lIns="0" spcFirstLastPara="1" rIns="0" wrap="square" tIns="0">
            <a:spAutoFit/>
          </a:bodyPr>
          <a:lstStyle>
            <a:lvl1pPr lvl="0" marR="0" rtl="0" algn="l">
              <a:lnSpc>
                <a:spcPct val="100000"/>
              </a:lnSpc>
              <a:spcBef>
                <a:spcPts val="0"/>
              </a:spcBef>
              <a:spcAft>
                <a:spcPts val="0"/>
              </a:spcAft>
              <a:buClr>
                <a:srgbClr val="000000"/>
              </a:buClr>
              <a:buSzPts val="1400"/>
              <a:buFont typeface="Arial"/>
              <a:buNone/>
              <a:defRPr b="1" i="0" sz="1200" u="none" cap="none" strike="noStrike">
                <a:solidFill>
                  <a:srgbClr val="666666"/>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64" name="Google Shape;64;p14"/>
          <p:cNvSpPr txBox="1"/>
          <p:nvPr>
            <p:ph idx="12" type="sldNum"/>
          </p:nvPr>
        </p:nvSpPr>
        <p:spPr>
          <a:xfrm>
            <a:off x="6583680" y="4783455"/>
            <a:ext cx="2103120" cy="257175"/>
          </a:xfrm>
          <a:prstGeom prst="rect">
            <a:avLst/>
          </a:prstGeom>
          <a:noFill/>
          <a:ln>
            <a:noFill/>
          </a:ln>
        </p:spPr>
        <p:txBody>
          <a:bodyPr anchorCtr="0" anchor="t" bIns="0" lIns="0" spcFirstLastPara="1" rIns="0" wrap="square" tIns="0">
            <a:spAutoFit/>
          </a:bodyPr>
          <a:lstStyle>
            <a:lvl1pPr indent="0" lvl="0"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800"/>
              <a:buFont typeface="Arial"/>
              <a:buNone/>
              <a:defRPr b="0" i="0" sz="18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2.jpg"/><Relationship Id="rId4" Type="http://schemas.openxmlformats.org/officeDocument/2006/relationships/image" Target="../media/image8.png"/><Relationship Id="rId5"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1.jpg"/><Relationship Id="rId4" Type="http://schemas.openxmlformats.org/officeDocument/2006/relationships/image" Target="../media/image40.jpg"/><Relationship Id="rId5" Type="http://schemas.openxmlformats.org/officeDocument/2006/relationships/image" Target="../media/image16.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2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 Id="rId3" Type="http://schemas.openxmlformats.org/officeDocument/2006/relationships/image" Target="../media/image24.png"/><Relationship Id="rId4" Type="http://schemas.openxmlformats.org/officeDocument/2006/relationships/image" Target="../media/image22.gi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 Id="rId3" Type="http://schemas.openxmlformats.org/officeDocument/2006/relationships/hyperlink" Target="https://github.com/athaker/econ_136/blob/master/kalshi-market-making-demo.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github.com/athaker/econ_136/blob/master/kalshi-market-making-demo.p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3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 Id="rId3" Type="http://schemas.openxmlformats.org/officeDocument/2006/relationships/image" Target="../media/image4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 Id="rId3" Type="http://schemas.openxmlformats.org/officeDocument/2006/relationships/image" Target="../media/image4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hyperlink" Target="https://cdn.robinhood.com/assets/robinhood/legal/RHF%20SEC%20Rule%20606%20and%20607%20Disclosure%20Q2%202021.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 Id="rId3" Type="http://schemas.openxmlformats.org/officeDocument/2006/relationships/image" Target="../media/image3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 Id="rId3" Type="http://schemas.openxmlformats.org/officeDocument/2006/relationships/image" Target="../media/image21.png"/><Relationship Id="rId4" Type="http://schemas.openxmlformats.org/officeDocument/2006/relationships/hyperlink" Target="https://developers.google.com/machine-learning/crash-course"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 Id="rId3" Type="http://schemas.openxmlformats.org/officeDocument/2006/relationships/image" Target="../media/image34.png"/><Relationship Id="rId4"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3.xml"/><Relationship Id="rId3" Type="http://schemas.openxmlformats.org/officeDocument/2006/relationships/image" Target="../media/image45.png"/><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 Id="rId3"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8.xml"/><Relationship Id="rId3" Type="http://schemas.openxmlformats.org/officeDocument/2006/relationships/image" Target="../media/image28.jpg"/><Relationship Id="rId4"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 Id="rId3" Type="http://schemas.openxmlformats.org/officeDocument/2006/relationships/image" Target="../media/image3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 Id="rId3" Type="http://schemas.openxmlformats.org/officeDocument/2006/relationships/image" Target="../media/image29.png"/><Relationship Id="rId4" Type="http://schemas.openxmlformats.org/officeDocument/2006/relationships/image" Target="../media/image3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 Id="rId3" Type="http://schemas.openxmlformats.org/officeDocument/2006/relationships/image" Target="../media/image3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35" name="Shape 135"/>
        <p:cNvGrpSpPr/>
        <p:nvPr/>
      </p:nvGrpSpPr>
      <p:grpSpPr>
        <a:xfrm>
          <a:off x="0" y="0"/>
          <a:ext cx="0" cy="0"/>
          <a:chOff x="0" y="0"/>
          <a:chExt cx="0" cy="0"/>
        </a:xfrm>
      </p:grpSpPr>
      <p:sp>
        <p:nvSpPr>
          <p:cNvPr id="136" name="Google Shape;136;p31"/>
          <p:cNvSpPr txBox="1"/>
          <p:nvPr/>
        </p:nvSpPr>
        <p:spPr>
          <a:xfrm>
            <a:off x="3748100" y="1721675"/>
            <a:ext cx="5007000" cy="13557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4200">
                <a:solidFill>
                  <a:schemeClr val="lt1"/>
                </a:solidFill>
                <a:latin typeface="Poppins"/>
                <a:ea typeface="Poppins"/>
                <a:cs typeface="Poppins"/>
                <a:sym typeface="Poppins"/>
              </a:rPr>
              <a:t>Agents for Finance</a:t>
            </a:r>
            <a:endParaRPr b="1" i="0" sz="4200" u="none" cap="none" strike="noStrike">
              <a:solidFill>
                <a:schemeClr val="lt1"/>
              </a:solidFill>
              <a:latin typeface="Poppins"/>
              <a:ea typeface="Poppins"/>
              <a:cs typeface="Poppins"/>
              <a:sym typeface="Poppins"/>
            </a:endParaRPr>
          </a:p>
        </p:txBody>
      </p:sp>
      <p:grpSp>
        <p:nvGrpSpPr>
          <p:cNvPr id="137" name="Google Shape;137;p31"/>
          <p:cNvGrpSpPr/>
          <p:nvPr/>
        </p:nvGrpSpPr>
        <p:grpSpPr>
          <a:xfrm>
            <a:off x="575108" y="1343054"/>
            <a:ext cx="3098519" cy="2178347"/>
            <a:chOff x="792400" y="464500"/>
            <a:chExt cx="3351925" cy="2356498"/>
          </a:xfrm>
        </p:grpSpPr>
        <p:pic>
          <p:nvPicPr>
            <p:cNvPr id="138" name="Google Shape;138;p31"/>
            <p:cNvPicPr preferRelativeResize="0"/>
            <p:nvPr/>
          </p:nvPicPr>
          <p:blipFill rotWithShape="1">
            <a:blip r:embed="rId4">
              <a:alphaModFix/>
            </a:blip>
            <a:srcRect b="0" l="0" r="0" t="0"/>
            <a:stretch/>
          </p:blipFill>
          <p:spPr>
            <a:xfrm>
              <a:off x="792400" y="464500"/>
              <a:ext cx="3121725" cy="2356498"/>
            </a:xfrm>
            <a:prstGeom prst="rect">
              <a:avLst/>
            </a:prstGeom>
            <a:noFill/>
            <a:ln>
              <a:noFill/>
            </a:ln>
          </p:spPr>
        </p:pic>
        <p:pic>
          <p:nvPicPr>
            <p:cNvPr id="139" name="Google Shape;139;p31"/>
            <p:cNvPicPr preferRelativeResize="0"/>
            <p:nvPr/>
          </p:nvPicPr>
          <p:blipFill rotWithShape="1">
            <a:blip r:embed="rId5">
              <a:alphaModFix/>
            </a:blip>
            <a:srcRect b="0" l="0" r="0" t="0"/>
            <a:stretch/>
          </p:blipFill>
          <p:spPr>
            <a:xfrm>
              <a:off x="4106725" y="857949"/>
              <a:ext cx="37600" cy="1569600"/>
            </a:xfrm>
            <a:prstGeom prst="rect">
              <a:avLst/>
            </a:prstGeom>
            <a:noFill/>
            <a:ln>
              <a:noFill/>
            </a:ln>
          </p:spPr>
        </p:pic>
      </p:grpSp>
      <p:sp>
        <p:nvSpPr>
          <p:cNvPr id="140" name="Google Shape;140;p31"/>
          <p:cNvSpPr txBox="1"/>
          <p:nvPr/>
        </p:nvSpPr>
        <p:spPr>
          <a:xfrm>
            <a:off x="575100" y="4430725"/>
            <a:ext cx="7106100" cy="418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0" i="0" lang="en" sz="1800" u="none" cap="none" strike="noStrike">
                <a:solidFill>
                  <a:srgbClr val="B398FF"/>
                </a:solidFill>
                <a:latin typeface="Poppins SemiBold"/>
                <a:ea typeface="Poppins SemiBold"/>
                <a:cs typeface="Poppins SemiBold"/>
                <a:sym typeface="Poppins SemiBold"/>
              </a:rPr>
              <a:t>THE VENETIAN, LAS VEGAS</a:t>
            </a:r>
            <a:endParaRPr b="0" i="0" sz="1800" u="none" cap="none" strike="noStrike">
              <a:solidFill>
                <a:srgbClr val="B398FF"/>
              </a:solidFill>
              <a:latin typeface="Poppins SemiBold"/>
              <a:ea typeface="Poppins SemiBold"/>
              <a:cs typeface="Poppins SemiBold"/>
              <a:sym typeface="Poppins SemiBold"/>
            </a:endParaRPr>
          </a:p>
        </p:txBody>
      </p:sp>
      <p:sp>
        <p:nvSpPr>
          <p:cNvPr id="141" name="Google Shape;141;p31"/>
          <p:cNvSpPr txBox="1"/>
          <p:nvPr/>
        </p:nvSpPr>
        <p:spPr>
          <a:xfrm>
            <a:off x="5490350" y="4430725"/>
            <a:ext cx="3228600" cy="418200"/>
          </a:xfrm>
          <a:prstGeom prst="rect">
            <a:avLst/>
          </a:prstGeom>
          <a:noFill/>
          <a:ln>
            <a:noFill/>
          </a:ln>
        </p:spPr>
        <p:txBody>
          <a:bodyPr anchorCtr="0" anchor="t" bIns="91425" lIns="91425" spcFirstLastPara="1" rIns="91425" wrap="square" tIns="91425">
            <a:noAutofit/>
          </a:bodyPr>
          <a:lstStyle/>
          <a:p>
            <a:pPr indent="0" lvl="0" marL="0" marR="0" rtl="0" algn="r">
              <a:lnSpc>
                <a:spcPct val="70000"/>
              </a:lnSpc>
              <a:spcBef>
                <a:spcPts val="0"/>
              </a:spcBef>
              <a:spcAft>
                <a:spcPts val="0"/>
              </a:spcAft>
              <a:buClr>
                <a:srgbClr val="000000"/>
              </a:buClr>
              <a:buSzPts val="2500"/>
              <a:buFont typeface="Arial"/>
              <a:buNone/>
            </a:pPr>
            <a:r>
              <a:rPr b="1" i="0" lang="en" sz="2500" u="none" cap="none" strike="noStrike">
                <a:solidFill>
                  <a:schemeClr val="lt1"/>
                </a:solidFill>
                <a:latin typeface="Poppins"/>
                <a:ea typeface="Poppins"/>
                <a:cs typeface="Poppins"/>
                <a:sym typeface="Poppins"/>
              </a:rPr>
              <a:t>AUGUST </a:t>
            </a:r>
            <a:r>
              <a:rPr b="1" i="0" lang="en" sz="2500" u="none" cap="none" strike="noStrike">
                <a:solidFill>
                  <a:srgbClr val="30DDC1"/>
                </a:solidFill>
                <a:latin typeface="Poppins"/>
                <a:ea typeface="Poppins"/>
                <a:cs typeface="Poppins"/>
                <a:sym typeface="Poppins"/>
              </a:rPr>
              <a:t>4</a:t>
            </a:r>
            <a:r>
              <a:rPr b="1" lang="en" sz="2500">
                <a:solidFill>
                  <a:srgbClr val="30DDC1"/>
                </a:solidFill>
                <a:latin typeface="Poppins"/>
                <a:ea typeface="Poppins"/>
                <a:cs typeface="Poppins"/>
                <a:sym typeface="Poppins"/>
              </a:rPr>
              <a:t>-6</a:t>
            </a:r>
            <a:r>
              <a:rPr b="1" i="0" lang="en" sz="2500" u="none" cap="none" strike="noStrike">
                <a:solidFill>
                  <a:srgbClr val="30DDC1"/>
                </a:solidFill>
                <a:latin typeface="Poppins"/>
                <a:ea typeface="Poppins"/>
                <a:cs typeface="Poppins"/>
                <a:sym typeface="Poppins"/>
              </a:rPr>
              <a:t>,</a:t>
            </a:r>
            <a:r>
              <a:rPr b="1" lang="en" sz="2500">
                <a:solidFill>
                  <a:srgbClr val="30DDC1"/>
                </a:solidFill>
                <a:latin typeface="Poppins"/>
                <a:ea typeface="Poppins"/>
                <a:cs typeface="Poppins"/>
                <a:sym typeface="Poppins"/>
              </a:rPr>
              <a:t> </a:t>
            </a:r>
            <a:r>
              <a:rPr b="1" i="0" lang="en" sz="2500" u="none" cap="none" strike="noStrike">
                <a:solidFill>
                  <a:srgbClr val="30DDC1"/>
                </a:solidFill>
                <a:latin typeface="Poppins"/>
                <a:ea typeface="Poppins"/>
                <a:cs typeface="Poppins"/>
                <a:sym typeface="Poppins"/>
              </a:rPr>
              <a:t>2026</a:t>
            </a:r>
            <a:endParaRPr b="1" i="0" sz="2500" u="none" cap="none" strike="noStrike">
              <a:solidFill>
                <a:srgbClr val="30DDC1"/>
              </a:solidFill>
              <a:latin typeface="Poppins"/>
              <a:ea typeface="Poppins"/>
              <a:cs typeface="Poppins"/>
              <a:sym typeface="Poppins"/>
            </a:endParaRPr>
          </a:p>
        </p:txBody>
      </p:sp>
      <p:sp>
        <p:nvSpPr>
          <p:cNvPr id="142" name="Google Shape;142;p31"/>
          <p:cNvSpPr txBox="1"/>
          <p:nvPr>
            <p:ph idx="4294967295" type="subTitle"/>
          </p:nvPr>
        </p:nvSpPr>
        <p:spPr>
          <a:xfrm>
            <a:off x="575100" y="3373500"/>
            <a:ext cx="4294800" cy="323100"/>
          </a:xfrm>
          <a:prstGeom prst="rect">
            <a:avLst/>
          </a:prstGeom>
        </p:spPr>
        <p:txBody>
          <a:bodyPr anchorCtr="0" anchor="t" bIns="0" lIns="0" spcFirstLastPara="1" rIns="0" wrap="square" tIns="0">
            <a:spAutoFit/>
          </a:bodyPr>
          <a:lstStyle/>
          <a:p>
            <a:pPr indent="0" lvl="0" marL="0" rtl="0" algn="l">
              <a:spcBef>
                <a:spcPts val="0"/>
              </a:spcBef>
              <a:spcAft>
                <a:spcPts val="0"/>
              </a:spcAft>
              <a:buNone/>
            </a:pPr>
            <a:r>
              <a:rPr lang="en" sz="2100"/>
              <a:t>By: Avi Thaker and Daniel Sonner</a:t>
            </a:r>
            <a:endParaRPr sz="21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147" name="Shape 147"/>
        <p:cNvGrpSpPr/>
        <p:nvPr/>
      </p:nvGrpSpPr>
      <p:grpSpPr>
        <a:xfrm>
          <a:off x="0" y="0"/>
          <a:ext cx="0" cy="0"/>
          <a:chOff x="0" y="0"/>
          <a:chExt cx="0" cy="0"/>
        </a:xfrm>
      </p:grpSpPr>
      <p:sp>
        <p:nvSpPr>
          <p:cNvPr id="148" name="Google Shape;148;p32"/>
          <p:cNvSpPr txBox="1"/>
          <p:nvPr/>
        </p:nvSpPr>
        <p:spPr>
          <a:xfrm>
            <a:off x="340225" y="533350"/>
            <a:ext cx="3798900" cy="12483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000"/>
              <a:buFont typeface="Arial"/>
              <a:buNone/>
            </a:pPr>
            <a:r>
              <a:rPr b="1" lang="en" sz="4000">
                <a:solidFill>
                  <a:schemeClr val="lt1"/>
                </a:solidFill>
                <a:latin typeface="Poppins"/>
                <a:ea typeface="Poppins"/>
                <a:cs typeface="Poppins"/>
                <a:sym typeface="Poppins"/>
              </a:rPr>
              <a:t>Team</a:t>
            </a:r>
            <a:endParaRPr b="1" i="0" sz="4000" u="none" cap="none" strike="noStrike">
              <a:solidFill>
                <a:srgbClr val="73F1BC"/>
              </a:solidFill>
              <a:latin typeface="Poppins"/>
              <a:ea typeface="Poppins"/>
              <a:cs typeface="Poppins"/>
              <a:sym typeface="Poppins"/>
            </a:endParaRPr>
          </a:p>
        </p:txBody>
      </p:sp>
      <p:sp>
        <p:nvSpPr>
          <p:cNvPr id="149" name="Google Shape;149;p32"/>
          <p:cNvSpPr txBox="1"/>
          <p:nvPr/>
        </p:nvSpPr>
        <p:spPr>
          <a:xfrm>
            <a:off x="1632263" y="2798850"/>
            <a:ext cx="2683500" cy="1080000"/>
          </a:xfrm>
          <a:prstGeom prst="rect">
            <a:avLst/>
          </a:prstGeom>
          <a:noFill/>
          <a:ln>
            <a:noFill/>
          </a:ln>
        </p:spPr>
        <p:txBody>
          <a:bodyPr anchorCtr="0" anchor="t" bIns="91425" lIns="91425" spcFirstLastPara="1" rIns="91425" wrap="square" tIns="91425">
            <a:noAutofit/>
          </a:bodyPr>
          <a:lstStyle/>
          <a:p>
            <a:pPr indent="-120650" lvl="0" marL="114300" rtl="0" algn="l">
              <a:spcBef>
                <a:spcPts val="0"/>
              </a:spcBef>
              <a:spcAft>
                <a:spcPts val="0"/>
              </a:spcAft>
              <a:buClr>
                <a:schemeClr val="lt1"/>
              </a:buClr>
              <a:buSzPts val="1100"/>
              <a:buChar char="•"/>
            </a:pPr>
            <a:r>
              <a:rPr lang="en" sz="1100">
                <a:solidFill>
                  <a:schemeClr val="lt1"/>
                </a:solidFill>
              </a:rPr>
              <a:t>7 years consulting for hedge funds</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5 Machine Learning Patents Granted, 2 Pending</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Built document understanding tools utilized by many top banks</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Harvey Mudd, Microsoft, GSK, Goldman Sachs</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Series 65</a:t>
            </a:r>
            <a:endParaRPr sz="1100">
              <a:solidFill>
                <a:schemeClr val="lt1"/>
              </a:solidFill>
              <a:latin typeface="Poppins"/>
              <a:ea typeface="Poppins"/>
              <a:cs typeface="Poppins"/>
              <a:sym typeface="Poppins"/>
            </a:endParaRPr>
          </a:p>
        </p:txBody>
      </p:sp>
      <p:pic>
        <p:nvPicPr>
          <p:cNvPr descr="aug_2022.jpg" id="150" name="Google Shape;150;p32"/>
          <p:cNvPicPr preferRelativeResize="0"/>
          <p:nvPr/>
        </p:nvPicPr>
        <p:blipFill rotWithShape="1">
          <a:blip r:embed="rId4">
            <a:alphaModFix/>
          </a:blip>
          <a:srcRect b="17960" l="0" r="0" t="13593"/>
          <a:stretch/>
        </p:blipFill>
        <p:spPr>
          <a:xfrm>
            <a:off x="2187230" y="803910"/>
            <a:ext cx="1573560" cy="1436076"/>
          </a:xfrm>
          <a:custGeom>
            <a:rect b="b" l="l" r="r" t="t"/>
            <a:pathLst>
              <a:path extrusionOk="0" h="21600" w="21600">
                <a:moveTo>
                  <a:pt x="0" y="0"/>
                </a:moveTo>
                <a:lnTo>
                  <a:pt x="10799" y="21600"/>
                </a:lnTo>
                <a:lnTo>
                  <a:pt x="21600" y="0"/>
                </a:lnTo>
                <a:lnTo>
                  <a:pt x="0" y="0"/>
                </a:lnTo>
                <a:close/>
              </a:path>
            </a:pathLst>
          </a:custGeom>
          <a:noFill/>
          <a:ln cap="flat" cmpd="sng" w="63500">
            <a:solidFill>
              <a:srgbClr val="AC914D"/>
            </a:solidFill>
            <a:prstDash val="solid"/>
            <a:miter lim="400000"/>
            <a:headEnd len="sm" w="sm" type="none"/>
            <a:tailEnd len="sm" w="sm" type="none"/>
          </a:ln>
        </p:spPr>
      </p:pic>
      <p:grpSp>
        <p:nvGrpSpPr>
          <p:cNvPr id="151" name="Google Shape;151;p32"/>
          <p:cNvGrpSpPr/>
          <p:nvPr/>
        </p:nvGrpSpPr>
        <p:grpSpPr>
          <a:xfrm>
            <a:off x="5472101" y="803909"/>
            <a:ext cx="1573588" cy="1988141"/>
            <a:chOff x="-57" y="-1"/>
            <a:chExt cx="4196235" cy="5301709"/>
          </a:xfrm>
        </p:grpSpPr>
        <p:pic>
          <p:nvPicPr>
            <p:cNvPr descr="aug_2022.jpg" id="152" name="Google Shape;152;p32"/>
            <p:cNvPicPr preferRelativeResize="0"/>
            <p:nvPr/>
          </p:nvPicPr>
          <p:blipFill rotWithShape="1">
            <a:blip r:embed="rId5">
              <a:alphaModFix/>
            </a:blip>
            <a:srcRect b="23063" l="8575" r="8575" t="10777"/>
            <a:stretch/>
          </p:blipFill>
          <p:spPr>
            <a:xfrm>
              <a:off x="0" y="-1"/>
              <a:ext cx="4196178" cy="3829464"/>
            </a:xfrm>
            <a:custGeom>
              <a:rect b="b" l="l" r="r" t="t"/>
              <a:pathLst>
                <a:path extrusionOk="0" h="21600" w="21600">
                  <a:moveTo>
                    <a:pt x="0" y="0"/>
                  </a:moveTo>
                  <a:lnTo>
                    <a:pt x="10799" y="21600"/>
                  </a:lnTo>
                  <a:lnTo>
                    <a:pt x="21600" y="0"/>
                  </a:lnTo>
                  <a:lnTo>
                    <a:pt x="0" y="0"/>
                  </a:lnTo>
                  <a:close/>
                </a:path>
              </a:pathLst>
            </a:custGeom>
            <a:noFill/>
            <a:ln cap="flat" cmpd="sng" w="63500">
              <a:solidFill>
                <a:srgbClr val="AC914D"/>
              </a:solidFill>
              <a:prstDash val="solid"/>
              <a:miter lim="400000"/>
              <a:headEnd len="sm" w="sm" type="none"/>
              <a:tailEnd len="sm" w="sm" type="none"/>
            </a:ln>
          </p:spPr>
        </p:pic>
        <p:sp>
          <p:nvSpPr>
            <p:cNvPr id="153" name="Google Shape;153;p32"/>
            <p:cNvSpPr txBox="1"/>
            <p:nvPr/>
          </p:nvSpPr>
          <p:spPr>
            <a:xfrm>
              <a:off x="-57" y="4090908"/>
              <a:ext cx="4196100" cy="1210800"/>
            </a:xfrm>
            <a:prstGeom prst="rect">
              <a:avLst/>
            </a:prstGeom>
            <a:noFill/>
            <a:ln>
              <a:noFill/>
            </a:ln>
          </p:spPr>
          <p:txBody>
            <a:bodyPr anchorCtr="0" anchor="ctr" bIns="19050" lIns="19050" spcFirstLastPara="1" rIns="19050" wrap="square" tIns="19050">
              <a:spAutoFit/>
            </a:bodyPr>
            <a:lstStyle/>
            <a:p>
              <a:pPr indent="0" lvl="0" marL="0" marR="0" rtl="0" algn="ctr">
                <a:lnSpc>
                  <a:spcPct val="100000"/>
                </a:lnSpc>
                <a:spcBef>
                  <a:spcPts val="0"/>
                </a:spcBef>
                <a:spcAft>
                  <a:spcPts val="0"/>
                </a:spcAft>
                <a:buClr>
                  <a:srgbClr val="C4A045"/>
                </a:buClr>
                <a:buSzPts val="1600"/>
                <a:buFont typeface="Helvetica Neue"/>
                <a:buNone/>
              </a:pPr>
              <a:r>
                <a:rPr b="1" i="0" lang="en" sz="1600" u="none" cap="none" strike="noStrike">
                  <a:solidFill>
                    <a:srgbClr val="C4A045"/>
                  </a:solidFill>
                </a:rPr>
                <a:t>Daniel Sonner</a:t>
              </a:r>
              <a:endParaRPr sz="500"/>
            </a:p>
            <a:p>
              <a:pPr indent="0" lvl="0" marL="0" marR="0" rtl="0" algn="ctr">
                <a:lnSpc>
                  <a:spcPct val="100000"/>
                </a:lnSpc>
                <a:spcBef>
                  <a:spcPts val="0"/>
                </a:spcBef>
                <a:spcAft>
                  <a:spcPts val="0"/>
                </a:spcAft>
                <a:buClr>
                  <a:srgbClr val="204586"/>
                </a:buClr>
                <a:buSzPts val="1100"/>
                <a:buFont typeface="Helvetica Neue Light"/>
                <a:buNone/>
              </a:pPr>
              <a:r>
                <a:rPr i="0" lang="en" sz="1100" u="none" cap="none" strike="noStrike">
                  <a:solidFill>
                    <a:srgbClr val="204586"/>
                  </a:solidFill>
                </a:rPr>
                <a:t>Co-Founder</a:t>
              </a:r>
              <a:endParaRPr sz="500"/>
            </a:p>
          </p:txBody>
        </p:sp>
      </p:grpSp>
      <p:sp>
        <p:nvSpPr>
          <p:cNvPr id="154" name="Google Shape;154;p32"/>
          <p:cNvSpPr txBox="1"/>
          <p:nvPr/>
        </p:nvSpPr>
        <p:spPr>
          <a:xfrm>
            <a:off x="2280125" y="2344643"/>
            <a:ext cx="1387800" cy="454200"/>
          </a:xfrm>
          <a:prstGeom prst="rect">
            <a:avLst/>
          </a:prstGeom>
          <a:noFill/>
          <a:ln>
            <a:noFill/>
          </a:ln>
        </p:spPr>
        <p:txBody>
          <a:bodyPr anchorCtr="0" anchor="ctr" bIns="19050" lIns="19050" spcFirstLastPara="1" rIns="19050" wrap="square" tIns="19050">
            <a:spAutoFit/>
          </a:bodyPr>
          <a:lstStyle/>
          <a:p>
            <a:pPr indent="0" lvl="0" marL="0" marR="0" rtl="0" algn="ctr">
              <a:lnSpc>
                <a:spcPct val="100000"/>
              </a:lnSpc>
              <a:spcBef>
                <a:spcPts val="0"/>
              </a:spcBef>
              <a:spcAft>
                <a:spcPts val="0"/>
              </a:spcAft>
              <a:buClr>
                <a:srgbClr val="C4A045"/>
              </a:buClr>
              <a:buSzPts val="1600"/>
              <a:buFont typeface="Helvetica Neue"/>
              <a:buNone/>
            </a:pPr>
            <a:r>
              <a:rPr b="1" lang="en" sz="1600">
                <a:solidFill>
                  <a:srgbClr val="C4A045"/>
                </a:solidFill>
              </a:rPr>
              <a:t>Avi Thaker</a:t>
            </a:r>
            <a:endParaRPr sz="500"/>
          </a:p>
          <a:p>
            <a:pPr indent="0" lvl="0" marL="0" marR="0" rtl="0" algn="ctr">
              <a:lnSpc>
                <a:spcPct val="100000"/>
              </a:lnSpc>
              <a:spcBef>
                <a:spcPts val="0"/>
              </a:spcBef>
              <a:spcAft>
                <a:spcPts val="0"/>
              </a:spcAft>
              <a:buClr>
                <a:srgbClr val="204586"/>
              </a:buClr>
              <a:buSzPts val="1100"/>
              <a:buFont typeface="Helvetica Neue Light"/>
              <a:buNone/>
            </a:pPr>
            <a:r>
              <a:rPr i="0" lang="en" sz="1100" u="none" cap="none" strike="noStrike">
                <a:solidFill>
                  <a:srgbClr val="204586"/>
                </a:solidFill>
              </a:rPr>
              <a:t>Co-Founder</a:t>
            </a:r>
            <a:endParaRPr sz="500"/>
          </a:p>
        </p:txBody>
      </p:sp>
      <p:sp>
        <p:nvSpPr>
          <p:cNvPr id="155" name="Google Shape;155;p32"/>
          <p:cNvSpPr txBox="1"/>
          <p:nvPr/>
        </p:nvSpPr>
        <p:spPr>
          <a:xfrm>
            <a:off x="4758900" y="2798850"/>
            <a:ext cx="3000000" cy="1457100"/>
          </a:xfrm>
          <a:prstGeom prst="rect">
            <a:avLst/>
          </a:prstGeom>
          <a:noFill/>
          <a:ln>
            <a:noFill/>
          </a:ln>
        </p:spPr>
        <p:txBody>
          <a:bodyPr anchorCtr="0" anchor="t" bIns="91425" lIns="91425" spcFirstLastPara="1" rIns="91425" wrap="square" tIns="91425">
            <a:spAutoFit/>
          </a:bodyPr>
          <a:lstStyle/>
          <a:p>
            <a:pPr indent="-120650" lvl="0" marL="114300" rtl="0" algn="l">
              <a:spcBef>
                <a:spcPts val="0"/>
              </a:spcBef>
              <a:spcAft>
                <a:spcPts val="0"/>
              </a:spcAft>
              <a:buClr>
                <a:schemeClr val="lt1"/>
              </a:buClr>
              <a:buSzPts val="1100"/>
              <a:buChar char="•"/>
            </a:pPr>
            <a:r>
              <a:rPr lang="en" sz="1100">
                <a:solidFill>
                  <a:schemeClr val="lt1"/>
                </a:solidFill>
              </a:rPr>
              <a:t>4+ Years Systems engineering at Pure Storage</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1 Patent</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Computer Science, Harvey Mudd</a:t>
            </a:r>
            <a:endParaRPr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World Champion Bridge Player</a:t>
            </a:r>
            <a:r>
              <a:rPr baseline="30000" lang="en" sz="1100">
                <a:solidFill>
                  <a:schemeClr val="lt1"/>
                </a:solidFill>
              </a:rPr>
              <a:t>1</a:t>
            </a:r>
            <a:endParaRPr baseline="30000" sz="1100">
              <a:solidFill>
                <a:schemeClr val="lt1"/>
              </a:solidFill>
            </a:endParaRPr>
          </a:p>
          <a:p>
            <a:pPr indent="-120650" lvl="0" marL="114300" rtl="0" algn="l">
              <a:spcBef>
                <a:spcPts val="500"/>
              </a:spcBef>
              <a:spcAft>
                <a:spcPts val="0"/>
              </a:spcAft>
              <a:buClr>
                <a:schemeClr val="lt1"/>
              </a:buClr>
              <a:buSzPts val="1100"/>
              <a:buChar char="•"/>
            </a:pPr>
            <a:r>
              <a:rPr lang="en" sz="1100">
                <a:solidFill>
                  <a:schemeClr val="lt1"/>
                </a:solidFill>
              </a:rPr>
              <a:t>Series 3, Series 65</a:t>
            </a:r>
            <a:endParaRPr sz="1100">
              <a:solidFill>
                <a:schemeClr val="lt1"/>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 name="Shape 160"/>
        <p:cNvGrpSpPr/>
        <p:nvPr/>
      </p:nvGrpSpPr>
      <p:grpSpPr>
        <a:xfrm>
          <a:off x="0" y="0"/>
          <a:ext cx="0" cy="0"/>
          <a:chOff x="0" y="0"/>
          <a:chExt cx="0" cy="0"/>
        </a:xfrm>
      </p:grpSpPr>
      <p:sp>
        <p:nvSpPr>
          <p:cNvPr id="161" name="Google Shape;161;p33"/>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Participate in the Winnings</a:t>
            </a:r>
            <a:endParaRPr b="1" i="0" sz="4000" u="none" cap="none" strike="noStrike">
              <a:solidFill>
                <a:srgbClr val="6D3BF5"/>
              </a:solidFill>
              <a:latin typeface="Poppins"/>
              <a:ea typeface="Poppins"/>
              <a:cs typeface="Poppins"/>
              <a:sym typeface="Poppins"/>
            </a:endParaRPr>
          </a:p>
        </p:txBody>
      </p:sp>
      <p:sp>
        <p:nvSpPr>
          <p:cNvPr id="162" name="Google Shape;162;p33"/>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800">
                <a:solidFill>
                  <a:srgbClr val="595959"/>
                </a:solidFill>
              </a:rPr>
              <a:t>Fill out this form and you will receive </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b="1" i="1" lang="en" sz="1800">
                <a:solidFill>
                  <a:srgbClr val="595959"/>
                </a:solidFill>
              </a:rPr>
              <a:t>f(P)=max($20,0.50×P)</a:t>
            </a:r>
            <a:endParaRPr b="1" i="1" sz="1800">
              <a:solidFill>
                <a:srgbClr val="595959"/>
              </a:solidFill>
            </a:endParaRPr>
          </a:p>
          <a:p>
            <a:pPr indent="-342900" lvl="0" marL="457200" rtl="0" algn="l">
              <a:lnSpc>
                <a:spcPct val="115000"/>
              </a:lnSpc>
              <a:spcBef>
                <a:spcPts val="1200"/>
              </a:spcBef>
              <a:spcAft>
                <a:spcPts val="0"/>
              </a:spcAft>
              <a:buClr>
                <a:srgbClr val="595959"/>
              </a:buClr>
              <a:buSzPts val="1800"/>
              <a:buChar char="●"/>
            </a:pPr>
            <a:r>
              <a:rPr lang="en" sz="1800">
                <a:solidFill>
                  <a:srgbClr val="595959"/>
                </a:solidFill>
              </a:rPr>
              <a:t>f(P) is the final amount.</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$20 is the fixed dollar amount.</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0.50×P represents 50% of the profits.</a:t>
            </a:r>
            <a:endParaRPr sz="1800">
              <a:solidFill>
                <a:srgbClr val="595959"/>
              </a:solidFill>
            </a:endParaRPr>
          </a:p>
          <a:p>
            <a:pPr indent="0" lvl="0" marL="0" marR="0" rtl="0" algn="l">
              <a:lnSpc>
                <a:spcPct val="115000"/>
              </a:lnSpc>
              <a:spcBef>
                <a:spcPts val="1200"/>
              </a:spcBef>
              <a:spcAft>
                <a:spcPts val="0"/>
              </a:spcAft>
              <a:buClr>
                <a:schemeClr val="dk1"/>
              </a:buClr>
              <a:buSzPts val="1100"/>
              <a:buFont typeface="Arial"/>
              <a:buNone/>
            </a:pPr>
            <a:r>
              <a:t/>
            </a:r>
            <a:endParaRPr sz="1100">
              <a:solidFill>
                <a:schemeClr val="dk1"/>
              </a:solidFill>
              <a:latin typeface="Poppins"/>
              <a:ea typeface="Poppins"/>
              <a:cs typeface="Poppins"/>
              <a:sym typeface="Poppins"/>
            </a:endParaRPr>
          </a:p>
        </p:txBody>
      </p:sp>
      <p:pic>
        <p:nvPicPr>
          <p:cNvPr id="163" name="Google Shape;163;p33"/>
          <p:cNvPicPr preferRelativeResize="0"/>
          <p:nvPr/>
        </p:nvPicPr>
        <p:blipFill>
          <a:blip r:embed="rId3">
            <a:alphaModFix/>
          </a:blip>
          <a:stretch>
            <a:fillRect/>
          </a:stretch>
        </p:blipFill>
        <p:spPr>
          <a:xfrm>
            <a:off x="4894100" y="1037750"/>
            <a:ext cx="3820977" cy="3820977"/>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What is an AI Agent</a:t>
            </a:r>
            <a:endParaRPr b="1" i="0" sz="4000" u="none" cap="none" strike="noStrik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0"/>
              </a:spcBef>
              <a:spcAft>
                <a:spcPts val="0"/>
              </a:spcAft>
              <a:buClr>
                <a:srgbClr val="595959"/>
              </a:buClr>
              <a:buSzPts val="1800"/>
              <a:buChar char="●"/>
            </a:pPr>
            <a:r>
              <a:rPr lang="en" sz="1800">
                <a:solidFill>
                  <a:srgbClr val="595959"/>
                </a:solidFill>
              </a:rPr>
              <a:t>Autonomous - can operate and make decisions on their own to complete a task</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Planning and Execution -  develop its own plan to achieve its goals and execute upon those actions</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Tool Use - interact with various tools, APIs, web browsers, etc.</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sz="1800">
                <a:solidFill>
                  <a:srgbClr val="595959"/>
                </a:solidFill>
              </a:rPr>
              <a:t>There are varying levels of complexity of agents. We will start simple and provide you the framework to build your own agents.</a:t>
            </a:r>
            <a:endParaRPr sz="1800">
              <a:solidFill>
                <a:srgbClr val="595959"/>
              </a:solidFill>
            </a:endParaRPr>
          </a:p>
          <a:p>
            <a:pPr indent="0" lvl="0" marL="0" rtl="0" algn="l">
              <a:lnSpc>
                <a:spcPct val="115000"/>
              </a:lnSpc>
              <a:spcBef>
                <a:spcPts val="1200"/>
              </a:spcBef>
              <a:spcAft>
                <a:spcPts val="1200"/>
              </a:spcAft>
              <a:buClr>
                <a:schemeClr val="dk1"/>
              </a:buClr>
              <a:buSzPts val="1100"/>
              <a:buFont typeface="Arial"/>
              <a:buNone/>
            </a:pPr>
            <a:r>
              <a:rPr lang="en" sz="1800">
                <a:solidFill>
                  <a:srgbClr val="595959"/>
                </a:solidFill>
              </a:rPr>
              <a:t>Agents can have narrow or broad scopes (domain expert / generalist). </a:t>
            </a:r>
            <a:endParaRPr sz="1800">
              <a:solidFill>
                <a:srgbClr val="595959"/>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35"/>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How does an Agent Learn?</a:t>
            </a:r>
            <a:endParaRPr b="1" i="0" sz="4000" u="none" cap="none" strike="noStrike">
              <a:solidFill>
                <a:srgbClr val="6D3BF5"/>
              </a:solidFill>
              <a:latin typeface="Poppins"/>
              <a:ea typeface="Poppins"/>
              <a:cs typeface="Poppins"/>
              <a:sym typeface="Poppins"/>
            </a:endParaRPr>
          </a:p>
        </p:txBody>
      </p:sp>
      <p:sp>
        <p:nvSpPr>
          <p:cNvPr id="177" name="Google Shape;177;p35"/>
          <p:cNvSpPr txBox="1"/>
          <p:nvPr/>
        </p:nvSpPr>
        <p:spPr>
          <a:xfrm>
            <a:off x="332225" y="932000"/>
            <a:ext cx="4392300" cy="693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a:solidFill>
                  <a:srgbClr val="595959"/>
                </a:solidFill>
              </a:rPr>
              <a:t>An agent is an actor in an environment, who gets a reward/penalty based upon actions taken. </a:t>
            </a:r>
            <a:br>
              <a:rPr lang="en">
                <a:solidFill>
                  <a:srgbClr val="595959"/>
                </a:solidFill>
              </a:rPr>
            </a:br>
            <a:r>
              <a:rPr lang="en">
                <a:solidFill>
                  <a:srgbClr val="595959"/>
                </a:solidFill>
              </a:rPr>
              <a:t>The agent plays many games and “learns” each time.</a:t>
            </a:r>
            <a:br>
              <a:rPr lang="en">
                <a:solidFill>
                  <a:srgbClr val="595959"/>
                </a:solidFill>
              </a:rPr>
            </a:br>
            <a:r>
              <a:rPr lang="en">
                <a:solidFill>
                  <a:srgbClr val="595959"/>
                </a:solidFill>
              </a:rPr>
              <a:t>The agent learns to maximize its reward.</a:t>
            </a:r>
            <a:endParaRPr>
              <a:solidFill>
                <a:srgbClr val="595959"/>
              </a:solidFill>
            </a:endParaRPr>
          </a:p>
          <a:p>
            <a:pPr indent="0" lvl="0" marL="0" rtl="0" algn="l">
              <a:lnSpc>
                <a:spcPct val="115000"/>
              </a:lnSpc>
              <a:spcBef>
                <a:spcPts val="1200"/>
              </a:spcBef>
              <a:spcAft>
                <a:spcPts val="1200"/>
              </a:spcAft>
              <a:buClr>
                <a:schemeClr val="dk1"/>
              </a:buClr>
              <a:buSzPts val="1100"/>
              <a:buFont typeface="Arial"/>
              <a:buNone/>
            </a:pPr>
            <a:r>
              <a:t/>
            </a:r>
            <a:endParaRPr>
              <a:solidFill>
                <a:srgbClr val="595959"/>
              </a:solidFill>
            </a:endParaRPr>
          </a:p>
        </p:txBody>
      </p:sp>
      <p:pic>
        <p:nvPicPr>
          <p:cNvPr id="178" name="Google Shape;178;p35"/>
          <p:cNvPicPr preferRelativeResize="0"/>
          <p:nvPr/>
        </p:nvPicPr>
        <p:blipFill>
          <a:blip r:embed="rId3">
            <a:alphaModFix/>
          </a:blip>
          <a:stretch>
            <a:fillRect/>
          </a:stretch>
        </p:blipFill>
        <p:spPr>
          <a:xfrm>
            <a:off x="807850" y="2181175"/>
            <a:ext cx="2734300" cy="2214927"/>
          </a:xfrm>
          <a:prstGeom prst="rect">
            <a:avLst/>
          </a:prstGeom>
          <a:noFill/>
          <a:ln>
            <a:noFill/>
          </a:ln>
        </p:spPr>
      </p:pic>
      <p:pic>
        <p:nvPicPr>
          <p:cNvPr id="179" name="Google Shape;179;p35"/>
          <p:cNvPicPr preferRelativeResize="0"/>
          <p:nvPr/>
        </p:nvPicPr>
        <p:blipFill>
          <a:blip r:embed="rId4">
            <a:alphaModFix/>
          </a:blip>
          <a:stretch>
            <a:fillRect/>
          </a:stretch>
        </p:blipFill>
        <p:spPr>
          <a:xfrm>
            <a:off x="4724400" y="1170125"/>
            <a:ext cx="4267200" cy="2667000"/>
          </a:xfrm>
          <a:prstGeom prst="rect">
            <a:avLst/>
          </a:prstGeom>
          <a:noFill/>
          <a:ln>
            <a:noFill/>
          </a:ln>
        </p:spPr>
      </p:pic>
      <p:sp>
        <p:nvSpPr>
          <p:cNvPr id="180" name="Google Shape;180;p35"/>
          <p:cNvSpPr txBox="1"/>
          <p:nvPr/>
        </p:nvSpPr>
        <p:spPr>
          <a:xfrm>
            <a:off x="5046900" y="3837125"/>
            <a:ext cx="3785400" cy="675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500">
                <a:solidFill>
                  <a:schemeClr val="dk2"/>
                </a:solidFill>
              </a:rPr>
              <a:t>Video games were the first agents to be trained, and a great way to frame thinking about them! (as early as 1948 in NIM).</a:t>
            </a:r>
            <a:endParaRPr sz="1500">
              <a:solidFill>
                <a:schemeClr val="dk2"/>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36"/>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Our Agent</a:t>
            </a:r>
            <a:endParaRPr b="1" i="0" sz="4000" u="none" cap="none" strike="noStrike">
              <a:solidFill>
                <a:srgbClr val="6D3BF5"/>
              </a:solidFill>
              <a:latin typeface="Poppins"/>
              <a:ea typeface="Poppins"/>
              <a:cs typeface="Poppins"/>
              <a:sym typeface="Poppins"/>
            </a:endParaRPr>
          </a:p>
        </p:txBody>
      </p:sp>
      <p:sp>
        <p:nvSpPr>
          <p:cNvPr id="187" name="Google Shape;187;p36"/>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b="1" lang="en">
                <a:solidFill>
                  <a:srgbClr val="595959"/>
                </a:solidFill>
              </a:rPr>
              <a:t>Environment:</a:t>
            </a:r>
            <a:endParaRPr b="1">
              <a:solidFill>
                <a:srgbClr val="595959"/>
              </a:solidFill>
            </a:endParaRPr>
          </a:p>
          <a:p>
            <a:pPr indent="-317500" lvl="0" marL="457200" rtl="0" algn="l">
              <a:lnSpc>
                <a:spcPct val="115000"/>
              </a:lnSpc>
              <a:spcBef>
                <a:spcPts val="1200"/>
              </a:spcBef>
              <a:spcAft>
                <a:spcPts val="0"/>
              </a:spcAft>
              <a:buClr>
                <a:srgbClr val="595959"/>
              </a:buClr>
              <a:buSzPts val="1400"/>
              <a:buChar char="-"/>
            </a:pPr>
            <a:r>
              <a:rPr lang="en">
                <a:solidFill>
                  <a:srgbClr val="595959"/>
                </a:solidFill>
              </a:rPr>
              <a:t>A Kalshi order book (state: best YES bid/ask, book depth, our inventory - sampled each second)</a:t>
            </a:r>
            <a:endParaRPr>
              <a:solidFill>
                <a:srgbClr val="595959"/>
              </a:solidFill>
            </a:endParaRPr>
          </a:p>
          <a:p>
            <a:pPr indent="-317500" lvl="0" marL="457200" rtl="0" algn="l">
              <a:lnSpc>
                <a:spcPct val="115000"/>
              </a:lnSpc>
              <a:spcBef>
                <a:spcPts val="0"/>
              </a:spcBef>
              <a:spcAft>
                <a:spcPts val="0"/>
              </a:spcAft>
              <a:buClr>
                <a:srgbClr val="595959"/>
              </a:buClr>
              <a:buSzPts val="1400"/>
              <a:buChar char="-"/>
            </a:pPr>
            <a:r>
              <a:rPr lang="en">
                <a:solidFill>
                  <a:srgbClr val="595959"/>
                </a:solidFill>
              </a:rPr>
              <a:t>Market: CONTROLH-2026 - which party controls the House after the midterms</a:t>
            </a:r>
            <a:endParaRPr>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b="1" lang="en">
                <a:solidFill>
                  <a:srgbClr val="595959"/>
                </a:solidFill>
              </a:rPr>
              <a:t>Actions:</a:t>
            </a:r>
            <a:endParaRPr b="1">
              <a:solidFill>
                <a:srgbClr val="595959"/>
              </a:solidFill>
            </a:endParaRPr>
          </a:p>
          <a:p>
            <a:pPr indent="-317500" lvl="0" marL="457200" rtl="0" algn="l">
              <a:lnSpc>
                <a:spcPct val="115000"/>
              </a:lnSpc>
              <a:spcBef>
                <a:spcPts val="1200"/>
              </a:spcBef>
              <a:spcAft>
                <a:spcPts val="0"/>
              </a:spcAft>
              <a:buClr>
                <a:srgbClr val="595959"/>
              </a:buClr>
              <a:buSzPts val="1400"/>
              <a:buChar char="-"/>
            </a:pPr>
            <a:r>
              <a:rPr lang="en">
                <a:solidFill>
                  <a:srgbClr val="595959"/>
                </a:solidFill>
              </a:rPr>
              <a:t>Post a passive YES bid one tick inside the best bid</a:t>
            </a:r>
            <a:endParaRPr>
              <a:solidFill>
                <a:srgbClr val="595959"/>
              </a:solidFill>
            </a:endParaRPr>
          </a:p>
          <a:p>
            <a:pPr indent="-317500" lvl="0" marL="457200" rtl="0" algn="l">
              <a:lnSpc>
                <a:spcPct val="115000"/>
              </a:lnSpc>
              <a:spcBef>
                <a:spcPts val="0"/>
              </a:spcBef>
              <a:spcAft>
                <a:spcPts val="0"/>
              </a:spcAft>
              <a:buClr>
                <a:srgbClr val="595959"/>
              </a:buClr>
              <a:buSzPts val="1400"/>
              <a:buChar char="-"/>
            </a:pPr>
            <a:r>
              <a:rPr lang="en">
                <a:solidFill>
                  <a:srgbClr val="595959"/>
                </a:solidFill>
              </a:rPr>
              <a:t>Post a passive YES ask one tick inside the best ask (inventory capped, flattened at cycle end)</a:t>
            </a:r>
            <a:endParaRPr>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b="1" lang="en">
                <a:solidFill>
                  <a:srgbClr val="595959"/>
                </a:solidFill>
              </a:rPr>
              <a:t>Reward:</a:t>
            </a:r>
            <a:endParaRPr b="1">
              <a:solidFill>
                <a:srgbClr val="595959"/>
              </a:solidFill>
            </a:endParaRPr>
          </a:p>
          <a:p>
            <a:pPr indent="-317500" lvl="0" marL="457200" rtl="0" algn="l">
              <a:lnSpc>
                <a:spcPct val="115000"/>
              </a:lnSpc>
              <a:spcBef>
                <a:spcPts val="1200"/>
              </a:spcBef>
              <a:spcAft>
                <a:spcPts val="0"/>
              </a:spcAft>
              <a:buClr>
                <a:srgbClr val="595959"/>
              </a:buClr>
              <a:buSzPts val="1400"/>
              <a:buChar char="-"/>
            </a:pPr>
            <a:r>
              <a:rPr lang="en">
                <a:solidFill>
                  <a:srgbClr val="595959"/>
                </a:solidFill>
              </a:rPr>
              <a:t>Spread captured minus adverse selection, subject to inventory risk (holding through news is painful).</a:t>
            </a:r>
            <a:endParaRPr>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a:solidFill>
                  <a:srgbClr val="595959"/>
                </a:solidFill>
              </a:rPr>
              <a:t>Try it yourself: </a:t>
            </a:r>
            <a:r>
              <a:rPr lang="en" u="sng">
                <a:solidFill>
                  <a:srgbClr val="0097A7"/>
                </a:solidFill>
                <a:hlinkClick r:id="rId3">
                  <a:extLst>
                    <a:ext uri="{A12FA001-AC4F-418D-AE19-62706E023703}">
                      <ahyp:hlinkClr val="tx"/>
                    </a:ext>
                  </a:extLst>
                </a:hlinkClick>
              </a:rPr>
              <a:t>https://github.com/athaker/econ_136/blob/master/kalshi-market-making-demo.py</a:t>
            </a:r>
            <a:endParaRPr>
              <a:solidFill>
                <a:srgbClr val="595959"/>
              </a:solidFill>
            </a:endParaRPr>
          </a:p>
          <a:p>
            <a:pPr indent="0" lvl="0" marL="0" rtl="0" algn="l">
              <a:lnSpc>
                <a:spcPct val="115000"/>
              </a:lnSpc>
              <a:spcBef>
                <a:spcPts val="1200"/>
              </a:spcBef>
              <a:spcAft>
                <a:spcPts val="1200"/>
              </a:spcAft>
              <a:buClr>
                <a:schemeClr val="dk1"/>
              </a:buClr>
              <a:buSzPts val="1100"/>
              <a:buFont typeface="Arial"/>
              <a:buNone/>
            </a:pPr>
            <a:r>
              <a:t/>
            </a:r>
            <a:endParaRPr>
              <a:solidFill>
                <a:srgbClr val="595959"/>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37"/>
          <p:cNvSpPr txBox="1"/>
          <p:nvPr/>
        </p:nvSpPr>
        <p:spPr>
          <a:xfrm>
            <a:off x="484175" y="1693800"/>
            <a:ext cx="7331700" cy="14016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5000">
                <a:solidFill>
                  <a:srgbClr val="FFFFFF"/>
                </a:solidFill>
                <a:latin typeface="Poppins"/>
                <a:ea typeface="Poppins"/>
                <a:cs typeface="Poppins"/>
                <a:sym typeface="Poppins"/>
              </a:rPr>
              <a:t>Let’s try it with real money!</a:t>
            </a:r>
            <a:endParaRPr b="1" i="0" sz="5000" u="none" cap="none" strike="noStrike">
              <a:solidFill>
                <a:srgbClr val="FFFFFF"/>
              </a:solidFill>
              <a:latin typeface="Poppins"/>
              <a:ea typeface="Poppins"/>
              <a:cs typeface="Poppins"/>
              <a:sym typeface="Poppins"/>
            </a:endParaRPr>
          </a:p>
        </p:txBody>
      </p:sp>
      <p:sp>
        <p:nvSpPr>
          <p:cNvPr id="194" name="Google Shape;194;p37"/>
          <p:cNvSpPr txBox="1"/>
          <p:nvPr/>
        </p:nvSpPr>
        <p:spPr>
          <a:xfrm>
            <a:off x="497875" y="3325850"/>
            <a:ext cx="8180400" cy="502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 sz="1600">
                <a:solidFill>
                  <a:srgbClr val="595959"/>
                </a:solidFill>
              </a:rPr>
              <a:t>Please don’t try this at home. This is a demo only. This is not financial advice.</a:t>
            </a:r>
            <a:endParaRPr b="1" sz="1600">
              <a:solidFill>
                <a:srgbClr val="595959"/>
              </a:solidFill>
            </a:endParaRPr>
          </a:p>
          <a:p>
            <a:pPr indent="0" lvl="0" marL="0" marR="0" rtl="0" algn="l">
              <a:lnSpc>
                <a:spcPct val="100000"/>
              </a:lnSpc>
              <a:spcBef>
                <a:spcPts val="1200"/>
              </a:spcBef>
              <a:spcAft>
                <a:spcPts val="0"/>
              </a:spcAft>
              <a:buClr>
                <a:srgbClr val="000000"/>
              </a:buClr>
              <a:buSzPts val="1100"/>
              <a:buFont typeface="Arial"/>
              <a:buNone/>
            </a:pPr>
            <a:r>
              <a:t/>
            </a:r>
            <a:endParaRPr sz="2000">
              <a:solidFill>
                <a:srgbClr val="FFFFFF"/>
              </a:solidFill>
              <a:latin typeface="Poppins"/>
              <a:ea typeface="Poppins"/>
              <a:cs typeface="Poppins"/>
              <a:sym typeface="Poppins"/>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3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t/>
            </a:r>
            <a:endParaRPr sz="2000"/>
          </a:p>
          <a:p>
            <a:pPr indent="0" lvl="0" marL="0" rtl="0" algn="l">
              <a:spcBef>
                <a:spcPts val="1200"/>
              </a:spcBef>
              <a:spcAft>
                <a:spcPts val="0"/>
              </a:spcAft>
              <a:buNone/>
            </a:pPr>
            <a:r>
              <a:t/>
            </a:r>
            <a:endParaRPr sz="2000"/>
          </a:p>
          <a:p>
            <a:pPr indent="0" lvl="0" marL="0" rtl="0" algn="l">
              <a:spcBef>
                <a:spcPts val="1200"/>
              </a:spcBef>
              <a:spcAft>
                <a:spcPts val="1200"/>
              </a:spcAft>
              <a:buNone/>
            </a:pPr>
            <a:r>
              <a:rPr lang="en" sz="2000"/>
              <a:t>The Code</a:t>
            </a:r>
            <a:r>
              <a:rPr lang="en" sz="2000"/>
              <a:t>: </a:t>
            </a:r>
            <a:r>
              <a:rPr lang="en" sz="2000" u="sng">
                <a:solidFill>
                  <a:schemeClr val="accent5"/>
                </a:solidFill>
                <a:hlinkClick r:id="rId3">
                  <a:extLst>
                    <a:ext uri="{A12FA001-AC4F-418D-AE19-62706E023703}">
                      <ahyp:hlinkClr val="tx"/>
                    </a:ext>
                  </a:extLst>
                </a:hlinkClick>
              </a:rPr>
              <a:t>https://github.com/athaker/econ_136/blob/master/kalshi-market-making-demo.py</a:t>
            </a:r>
            <a:endParaRPr sz="2400"/>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9"/>
          <p:cNvSpPr txBox="1"/>
          <p:nvPr/>
        </p:nvSpPr>
        <p:spPr>
          <a:xfrm>
            <a:off x="484175" y="1693800"/>
            <a:ext cx="7331700" cy="14016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5000">
                <a:solidFill>
                  <a:srgbClr val="FFFFFF"/>
                </a:solidFill>
                <a:latin typeface="Poppins"/>
                <a:ea typeface="Poppins"/>
                <a:cs typeface="Poppins"/>
                <a:sym typeface="Poppins"/>
              </a:rPr>
              <a:t>But why does this matter?</a:t>
            </a:r>
            <a:endParaRPr b="1" i="0" sz="5000" u="none" cap="none" strike="noStrike">
              <a:solidFill>
                <a:srgbClr val="FFFFFF"/>
              </a:solidFill>
              <a:latin typeface="Poppins"/>
              <a:ea typeface="Poppins"/>
              <a:cs typeface="Poppins"/>
              <a:sym typeface="Poppins"/>
            </a:endParaRPr>
          </a:p>
        </p:txBody>
      </p:sp>
      <p:sp>
        <p:nvSpPr>
          <p:cNvPr id="206" name="Google Shape;206;p39"/>
          <p:cNvSpPr txBox="1"/>
          <p:nvPr/>
        </p:nvSpPr>
        <p:spPr>
          <a:xfrm>
            <a:off x="497875" y="3325850"/>
            <a:ext cx="8180400" cy="502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Clr>
                <a:schemeClr val="dk1"/>
              </a:buClr>
              <a:buSzPts val="1100"/>
              <a:buFont typeface="Arial"/>
              <a:buNone/>
            </a:pPr>
            <a:r>
              <a:rPr lang="en" sz="1800">
                <a:solidFill>
                  <a:srgbClr val="595959"/>
                </a:solidFill>
              </a:rPr>
              <a:t>Agents/AI have been around for forever, and applied to finance for decades. Institutional flows are showing that uncorrelated assets are paramount for long term growth. </a:t>
            </a:r>
            <a:endParaRPr sz="1800">
              <a:solidFill>
                <a:srgbClr val="595959"/>
              </a:solidFill>
            </a:endParaRPr>
          </a:p>
          <a:p>
            <a:pPr indent="0" lvl="0" marL="0" rtl="0" algn="ctr">
              <a:lnSpc>
                <a:spcPct val="115000"/>
              </a:lnSpc>
              <a:spcBef>
                <a:spcPts val="1200"/>
              </a:spcBef>
              <a:spcAft>
                <a:spcPts val="0"/>
              </a:spcAft>
              <a:buClr>
                <a:schemeClr val="dk1"/>
              </a:buClr>
              <a:buSzPts val="1100"/>
              <a:buFont typeface="Arial"/>
              <a:buNone/>
            </a:pPr>
            <a:r>
              <a:t/>
            </a:r>
            <a:endParaRPr b="1" sz="1600">
              <a:solidFill>
                <a:srgbClr val="595959"/>
              </a:solidFill>
            </a:endParaRPr>
          </a:p>
          <a:p>
            <a:pPr indent="0" lvl="0" marL="0" marR="0" rtl="0" algn="l">
              <a:lnSpc>
                <a:spcPct val="100000"/>
              </a:lnSpc>
              <a:spcBef>
                <a:spcPts val="1200"/>
              </a:spcBef>
              <a:spcAft>
                <a:spcPts val="0"/>
              </a:spcAft>
              <a:buClr>
                <a:srgbClr val="000000"/>
              </a:buClr>
              <a:buSzPts val="1100"/>
              <a:buFont typeface="Arial"/>
              <a:buNone/>
            </a:pPr>
            <a:r>
              <a:t/>
            </a:r>
            <a:endParaRPr sz="2000">
              <a:solidFill>
                <a:srgbClr val="FFFFFF"/>
              </a:solidFill>
              <a:latin typeface="Poppins"/>
              <a:ea typeface="Poppins"/>
              <a:cs typeface="Poppins"/>
              <a:sym typeface="Poppins"/>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 name="Shape 211"/>
        <p:cNvGrpSpPr/>
        <p:nvPr/>
      </p:nvGrpSpPr>
      <p:grpSpPr>
        <a:xfrm>
          <a:off x="0" y="0"/>
          <a:ext cx="0" cy="0"/>
          <a:chOff x="0" y="0"/>
          <a:chExt cx="0" cy="0"/>
        </a:xfrm>
      </p:grpSpPr>
      <p:sp>
        <p:nvSpPr>
          <p:cNvPr id="212" name="Google Shape;212;p40"/>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Institutions</a:t>
            </a:r>
            <a:r>
              <a:rPr b="1" lang="en" sz="4000">
                <a:solidFill>
                  <a:srgbClr val="6D3BF5"/>
                </a:solidFill>
                <a:latin typeface="Poppins"/>
                <a:ea typeface="Poppins"/>
                <a:cs typeface="Poppins"/>
                <a:sym typeface="Poppins"/>
              </a:rPr>
              <a:t> are Moving to Alts</a:t>
            </a:r>
            <a:endParaRPr b="1" i="0" sz="4000" u="none" cap="none" strike="noStrike">
              <a:solidFill>
                <a:srgbClr val="6D3BF5"/>
              </a:solidFill>
              <a:latin typeface="Poppins"/>
              <a:ea typeface="Poppins"/>
              <a:cs typeface="Poppins"/>
              <a:sym typeface="Poppins"/>
            </a:endParaRPr>
          </a:p>
        </p:txBody>
      </p:sp>
      <p:pic>
        <p:nvPicPr>
          <p:cNvPr id="213" name="Google Shape;213;p40" title="Chart"/>
          <p:cNvPicPr preferRelativeResize="0"/>
          <p:nvPr/>
        </p:nvPicPr>
        <p:blipFill>
          <a:blip r:embed="rId3">
            <a:alphaModFix/>
          </a:blip>
          <a:stretch>
            <a:fillRect/>
          </a:stretch>
        </p:blipFill>
        <p:spPr>
          <a:xfrm>
            <a:off x="670375" y="1017725"/>
            <a:ext cx="5572676" cy="3438275"/>
          </a:xfrm>
          <a:prstGeom prst="rect">
            <a:avLst/>
          </a:prstGeom>
          <a:noFill/>
          <a:ln>
            <a:noFill/>
          </a:ln>
        </p:spPr>
      </p:pic>
      <p:sp>
        <p:nvSpPr>
          <p:cNvPr id="214" name="Google Shape;214;p40"/>
          <p:cNvSpPr txBox="1"/>
          <p:nvPr/>
        </p:nvSpPr>
        <p:spPr>
          <a:xfrm>
            <a:off x="6862925" y="2036700"/>
            <a:ext cx="1800600" cy="1070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800">
                <a:solidFill>
                  <a:schemeClr val="dk2"/>
                </a:solidFill>
              </a:rPr>
              <a:t>About 50% of alts are AI powered!</a:t>
            </a:r>
            <a:endParaRPr sz="1800">
              <a:solidFill>
                <a:schemeClr val="dk2"/>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41"/>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Yale Leads the Pack</a:t>
            </a:r>
            <a:endParaRPr b="1" i="0" sz="4000" u="none" cap="none" strike="noStrike">
              <a:solidFill>
                <a:srgbClr val="6D3BF5"/>
              </a:solidFill>
              <a:latin typeface="Poppins"/>
              <a:ea typeface="Poppins"/>
              <a:cs typeface="Poppins"/>
              <a:sym typeface="Poppins"/>
            </a:endParaRPr>
          </a:p>
        </p:txBody>
      </p:sp>
      <p:pic>
        <p:nvPicPr>
          <p:cNvPr id="221" name="Google Shape;221;p41" title="Chart"/>
          <p:cNvPicPr preferRelativeResize="0"/>
          <p:nvPr/>
        </p:nvPicPr>
        <p:blipFill>
          <a:blip r:embed="rId3">
            <a:alphaModFix/>
          </a:blip>
          <a:stretch>
            <a:fillRect/>
          </a:stretch>
        </p:blipFill>
        <p:spPr>
          <a:xfrm>
            <a:off x="1659987" y="897550"/>
            <a:ext cx="5824026" cy="36011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42"/>
          <p:cNvSpPr txBox="1"/>
          <p:nvPr/>
        </p:nvSpPr>
        <p:spPr>
          <a:xfrm>
            <a:off x="484175" y="1693800"/>
            <a:ext cx="7331700" cy="14016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5000">
                <a:solidFill>
                  <a:srgbClr val="FFFFFF"/>
                </a:solidFill>
                <a:latin typeface="Poppins"/>
                <a:ea typeface="Poppins"/>
                <a:cs typeface="Poppins"/>
                <a:sym typeface="Poppins"/>
              </a:rPr>
              <a:t>How does this affect me?</a:t>
            </a:r>
            <a:endParaRPr b="1" i="0" sz="5000" u="none" cap="none" strike="noStrike">
              <a:solidFill>
                <a:srgbClr val="FFFFFF"/>
              </a:solidFill>
              <a:latin typeface="Poppins"/>
              <a:ea typeface="Poppins"/>
              <a:cs typeface="Poppins"/>
              <a:sym typeface="Poppins"/>
            </a:endParaRPr>
          </a:p>
        </p:txBody>
      </p:sp>
      <p:sp>
        <p:nvSpPr>
          <p:cNvPr id="228" name="Google Shape;228;p42"/>
          <p:cNvSpPr txBox="1"/>
          <p:nvPr/>
        </p:nvSpPr>
        <p:spPr>
          <a:xfrm>
            <a:off x="497875" y="3325850"/>
            <a:ext cx="8180400" cy="502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t/>
            </a:r>
            <a:endParaRPr b="1" sz="1600">
              <a:solidFill>
                <a:srgbClr val="595959"/>
              </a:solidFill>
            </a:endParaRPr>
          </a:p>
          <a:p>
            <a:pPr indent="0" lvl="0" marL="0" marR="0" rtl="0" algn="l">
              <a:lnSpc>
                <a:spcPct val="100000"/>
              </a:lnSpc>
              <a:spcBef>
                <a:spcPts val="1200"/>
              </a:spcBef>
              <a:spcAft>
                <a:spcPts val="0"/>
              </a:spcAft>
              <a:buClr>
                <a:srgbClr val="000000"/>
              </a:buClr>
              <a:buSzPts val="1100"/>
              <a:buFont typeface="Arial"/>
              <a:buNone/>
            </a:pPr>
            <a:r>
              <a:t/>
            </a:r>
            <a:endParaRPr sz="2000">
              <a:solidFill>
                <a:srgbClr val="FFFFFF"/>
              </a:solidFill>
              <a:latin typeface="Poppins"/>
              <a:ea typeface="Poppins"/>
              <a:cs typeface="Poppins"/>
              <a:sym typeface="Poppins"/>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3" name="Shape 233"/>
        <p:cNvGrpSpPr/>
        <p:nvPr/>
      </p:nvGrpSpPr>
      <p:grpSpPr>
        <a:xfrm>
          <a:off x="0" y="0"/>
          <a:ext cx="0" cy="0"/>
          <a:chOff x="0" y="0"/>
          <a:chExt cx="0" cy="0"/>
        </a:xfrm>
      </p:grpSpPr>
      <p:sp>
        <p:nvSpPr>
          <p:cNvPr id="234" name="Google Shape;234;p43"/>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Drawdowns are Painful</a:t>
            </a:r>
            <a:endParaRPr b="1" i="0" sz="4000" u="none" cap="none" strike="noStrike">
              <a:solidFill>
                <a:srgbClr val="6D3BF5"/>
              </a:solidFill>
              <a:latin typeface="Poppins"/>
              <a:ea typeface="Poppins"/>
              <a:cs typeface="Poppins"/>
              <a:sym typeface="Poppins"/>
            </a:endParaRPr>
          </a:p>
        </p:txBody>
      </p:sp>
      <p:graphicFrame>
        <p:nvGraphicFramePr>
          <p:cNvPr id="235" name="Google Shape;235;p43"/>
          <p:cNvGraphicFramePr/>
          <p:nvPr/>
        </p:nvGraphicFramePr>
        <p:xfrm>
          <a:off x="1600200" y="2011363"/>
          <a:ext cx="3000000" cy="3000000"/>
        </p:xfrm>
        <a:graphic>
          <a:graphicData uri="http://schemas.openxmlformats.org/drawingml/2006/table">
            <a:tbl>
              <a:tblPr>
                <a:noFill/>
                <a:tableStyleId>{C2C82F5D-7F28-4AD3-9396-DA1E2200D94E}</a:tableStyleId>
              </a:tblPr>
              <a:tblGrid>
                <a:gridCol w="742950"/>
                <a:gridCol w="742950"/>
                <a:gridCol w="742950"/>
                <a:gridCol w="742950"/>
                <a:gridCol w="742950"/>
                <a:gridCol w="742950"/>
                <a:gridCol w="742950"/>
                <a:gridCol w="742950"/>
              </a:tblGrid>
              <a:tr h="200025">
                <a:tc rowSpan="2">
                  <a:txBody>
                    <a:bodyPr/>
                    <a:lstStyle/>
                    <a:p>
                      <a:pPr indent="0" lvl="0" marL="0" rtl="0" algn="l">
                        <a:lnSpc>
                          <a:spcPct val="115000"/>
                        </a:lnSpc>
                        <a:spcBef>
                          <a:spcPts val="0"/>
                        </a:spcBef>
                        <a:spcAft>
                          <a:spcPts val="0"/>
                        </a:spcAft>
                        <a:buNone/>
                      </a:pPr>
                      <a:r>
                        <a:t/>
                      </a:r>
                      <a:endParaRPr b="1" sz="1000"/>
                    </a:p>
                    <a:p>
                      <a:pPr indent="0" lvl="0" marL="0" rtl="0" algn="l">
                        <a:lnSpc>
                          <a:spcPct val="115000"/>
                        </a:lnSpc>
                        <a:spcBef>
                          <a:spcPts val="0"/>
                        </a:spcBef>
                        <a:spcAft>
                          <a:spcPts val="0"/>
                        </a:spcAft>
                        <a:buNone/>
                      </a:pPr>
                      <a:r>
                        <a:rPr b="1" lang="en" sz="1000"/>
                        <a:t>Portfolio Loss</a:t>
                      </a:r>
                      <a:endParaRPr b="1"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rowSpan="2">
                  <a:txBody>
                    <a:bodyPr/>
                    <a:lstStyle/>
                    <a:p>
                      <a:pPr indent="0" lvl="0" marL="0" rtl="0" algn="l">
                        <a:lnSpc>
                          <a:spcPct val="115000"/>
                        </a:lnSpc>
                        <a:spcBef>
                          <a:spcPts val="0"/>
                        </a:spcBef>
                        <a:spcAft>
                          <a:spcPts val="0"/>
                        </a:spcAft>
                        <a:buNone/>
                      </a:pPr>
                      <a:r>
                        <a:rPr b="1" lang="en" sz="1000"/>
                        <a:t>Gain to Restore Loss</a:t>
                      </a:r>
                      <a:endParaRPr b="1"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gridSpan="6">
                  <a:txBody>
                    <a:bodyPr/>
                    <a:lstStyle/>
                    <a:p>
                      <a:pPr indent="0" lvl="0" marL="0" rtl="0" algn="l">
                        <a:lnSpc>
                          <a:spcPct val="115000"/>
                        </a:lnSpc>
                        <a:spcBef>
                          <a:spcPts val="0"/>
                        </a:spcBef>
                        <a:spcAft>
                          <a:spcPts val="0"/>
                        </a:spcAft>
                        <a:buNone/>
                      </a:pPr>
                      <a:r>
                        <a:rPr b="1" lang="en" sz="1000"/>
                        <a:t>Percentage Change of recovery from loss within N years</a:t>
                      </a:r>
                      <a:endParaRPr b="1" sz="1000"/>
                    </a:p>
                  </a:txBody>
                  <a:tcPr marT="25400" marB="25400" marR="0" marL="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hMerge="1"/>
                <a:tc hMerge="1"/>
                <a:tc hMerge="1"/>
                <a:tc hMerge="1"/>
                <a:tc hMerge="1"/>
              </a:tr>
              <a:tr h="342900">
                <a:tc vMerge="1"/>
                <a:tc vMerge="1"/>
                <a:tc>
                  <a:txBody>
                    <a:bodyPr/>
                    <a:lstStyle/>
                    <a:p>
                      <a:pPr indent="0" lvl="0" marL="0" rtl="0" algn="r">
                        <a:lnSpc>
                          <a:spcPct val="115000"/>
                        </a:lnSpc>
                        <a:spcBef>
                          <a:spcPts val="0"/>
                        </a:spcBef>
                        <a:spcAft>
                          <a:spcPts val="0"/>
                        </a:spcAft>
                        <a:buNone/>
                      </a:pPr>
                      <a:r>
                        <a:rPr lang="en" sz="1000"/>
                        <a:t>1</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2</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3</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4</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r">
                        <a:lnSpc>
                          <a:spcPct val="115000"/>
                        </a:lnSpc>
                        <a:spcBef>
                          <a:spcPts val="0"/>
                        </a:spcBef>
                        <a:spcAft>
                          <a:spcPts val="0"/>
                        </a:spcAft>
                        <a:buNone/>
                      </a:pPr>
                      <a:r>
                        <a:rPr lang="en" sz="1000"/>
                        <a:t>-10.00%</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11.11%</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52.50%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74.40%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86.10%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78.40%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77.80%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93.50%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r">
                        <a:lnSpc>
                          <a:spcPct val="115000"/>
                        </a:lnSpc>
                        <a:spcBef>
                          <a:spcPts val="0"/>
                        </a:spcBef>
                        <a:spcAft>
                          <a:spcPts val="0"/>
                        </a:spcAft>
                        <a:buNone/>
                      </a:pPr>
                      <a:r>
                        <a:rPr lang="en" sz="1000"/>
                        <a:t>-20.00%</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25.00%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25.00%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48.70%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68.40%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67.60%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72.20%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93.50%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r">
                        <a:lnSpc>
                          <a:spcPct val="115000"/>
                        </a:lnSpc>
                        <a:spcBef>
                          <a:spcPts val="0"/>
                        </a:spcBef>
                        <a:spcAft>
                          <a:spcPts val="0"/>
                        </a:spcAft>
                        <a:buNone/>
                      </a:pPr>
                      <a:r>
                        <a:rPr lang="en" sz="1000"/>
                        <a:t>-35.00%</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53.85%</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17.90%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34.20%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56.80%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61.10%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93.50%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r">
                        <a:lnSpc>
                          <a:spcPct val="115000"/>
                        </a:lnSpc>
                        <a:spcBef>
                          <a:spcPts val="0"/>
                        </a:spcBef>
                        <a:spcAft>
                          <a:spcPts val="0"/>
                        </a:spcAft>
                        <a:buNone/>
                      </a:pPr>
                      <a:r>
                        <a:rPr lang="en" sz="1000"/>
                        <a:t>-50.00%</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100.00%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7.90%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13.50%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36.10%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80.60%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r">
                        <a:lnSpc>
                          <a:spcPct val="115000"/>
                        </a:lnSpc>
                        <a:spcBef>
                          <a:spcPts val="0"/>
                        </a:spcBef>
                        <a:spcAft>
                          <a:spcPts val="0"/>
                        </a:spcAft>
                        <a:buNone/>
                      </a:pPr>
                      <a:r>
                        <a:rPr lang="en" sz="1000"/>
                        <a:t>-65.00%</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185.71%</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0.00%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2.70%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5.60%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61.30%</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4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Portfolio Construction can Reduce Pain</a:t>
            </a:r>
            <a:endParaRPr b="1" i="0" sz="4000" u="none" cap="none" strike="noStrike">
              <a:solidFill>
                <a:srgbClr val="6D3BF5"/>
              </a:solidFill>
              <a:latin typeface="Poppins"/>
              <a:ea typeface="Poppins"/>
              <a:cs typeface="Poppins"/>
              <a:sym typeface="Poppins"/>
            </a:endParaRPr>
          </a:p>
        </p:txBody>
      </p:sp>
      <p:pic>
        <p:nvPicPr>
          <p:cNvPr id="242" name="Google Shape;242;p44" title="Chart"/>
          <p:cNvPicPr preferRelativeResize="0"/>
          <p:nvPr/>
        </p:nvPicPr>
        <p:blipFill>
          <a:blip r:embed="rId3">
            <a:alphaModFix/>
          </a:blip>
          <a:stretch>
            <a:fillRect/>
          </a:stretch>
        </p:blipFill>
        <p:spPr>
          <a:xfrm>
            <a:off x="86024" y="1477650"/>
            <a:ext cx="4603200" cy="2846301"/>
          </a:xfrm>
          <a:prstGeom prst="rect">
            <a:avLst/>
          </a:prstGeom>
          <a:noFill/>
          <a:ln>
            <a:noFill/>
          </a:ln>
        </p:spPr>
      </p:pic>
      <p:graphicFrame>
        <p:nvGraphicFramePr>
          <p:cNvPr id="243" name="Google Shape;243;p44"/>
          <p:cNvGraphicFramePr/>
          <p:nvPr/>
        </p:nvGraphicFramePr>
        <p:xfrm>
          <a:off x="4794925" y="951000"/>
          <a:ext cx="3000000" cy="3000000"/>
        </p:xfrm>
        <a:graphic>
          <a:graphicData uri="http://schemas.openxmlformats.org/drawingml/2006/table">
            <a:tbl>
              <a:tblPr>
                <a:noFill/>
                <a:tableStyleId>{C2C82F5D-7F28-4AD3-9396-DA1E2200D94E}</a:tableStyleId>
              </a:tblPr>
              <a:tblGrid>
                <a:gridCol w="846225"/>
                <a:gridCol w="846225"/>
                <a:gridCol w="846225"/>
                <a:gridCol w="846225"/>
                <a:gridCol w="846225"/>
              </a:tblGrid>
              <a:tr h="209550">
                <a:tc>
                  <a:txBody>
                    <a:bodyPr/>
                    <a:lstStyle/>
                    <a:p>
                      <a:pPr indent="0" lvl="0" marL="0" rtl="0" algn="l">
                        <a:lnSpc>
                          <a:spcPct val="115000"/>
                        </a:lnSpc>
                        <a:spcBef>
                          <a:spcPts val="0"/>
                        </a:spcBef>
                        <a:spcAft>
                          <a:spcPts val="0"/>
                        </a:spcAft>
                        <a:buNone/>
                      </a:pPr>
                      <a:r>
                        <a:rPr b="1" lang="en" sz="1000"/>
                        <a:t>Metric</a:t>
                      </a:r>
                      <a:endParaRPr b="1"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1000"/>
                        <a:t>S&amp;P500</a:t>
                      </a:r>
                      <a:endParaRPr b="1"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1000"/>
                        <a:t>Uncorrelated</a:t>
                      </a:r>
                      <a:endParaRPr b="1"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1000"/>
                        <a:t>Blended</a:t>
                      </a:r>
                      <a:endParaRPr b="1"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1000"/>
                        <a:t>Rebalanced</a:t>
                      </a:r>
                      <a:endParaRPr b="1"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 sz="1000"/>
                        <a:t>Average</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6.47%</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5.79%</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5.19%</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6.13%</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 sz="1000"/>
                        <a:t>STD</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17.78%</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15.73%</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9.18%</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4.51%</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CCCCCC"/>
                      </a:solidFill>
                      <a:prstDash val="solid"/>
                      <a:round/>
                      <a:headEnd len="sm" w="sm" type="none"/>
                      <a:tailEnd len="sm" w="sm" type="none"/>
                    </a:lnB>
                  </a:tcPr>
                </a:tc>
              </a:tr>
              <a:tr h="200025">
                <a:tc>
                  <a:txBody>
                    <a:bodyPr/>
                    <a:lstStyle/>
                    <a:p>
                      <a:pPr indent="0" lvl="0" marL="0" rtl="0" algn="l">
                        <a:lnSpc>
                          <a:spcPct val="115000"/>
                        </a:lnSpc>
                        <a:spcBef>
                          <a:spcPts val="0"/>
                        </a:spcBef>
                        <a:spcAft>
                          <a:spcPts val="0"/>
                        </a:spcAft>
                        <a:buNone/>
                      </a:pPr>
                      <a:r>
                        <a:rPr lang="en" sz="1000"/>
                        <a:t>Sharpe</a:t>
                      </a:r>
                      <a:endParaRPr sz="1000"/>
                    </a:p>
                  </a:txBody>
                  <a:tcPr marT="25400" marB="25400" marR="25400" marL="25400" anchor="b">
                    <a:lnL cap="flat" cmpd="sng" w="9525">
                      <a:solidFill>
                        <a:srgbClr val="000000"/>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0.36</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0.37</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0.56</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CCCCCC"/>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000"/>
                        <a:t>1.36</a:t>
                      </a:r>
                      <a:endParaRPr sz="1000"/>
                    </a:p>
                  </a:txBody>
                  <a:tcPr marT="25400" marB="25400" marR="25400" marL="25400" anchor="b">
                    <a:lnL cap="flat" cmpd="sng" w="9525">
                      <a:solidFill>
                        <a:srgbClr val="CCCCCC"/>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CCCCCC"/>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pic>
        <p:nvPicPr>
          <p:cNvPr id="244" name="Google Shape;244;p44"/>
          <p:cNvPicPr preferRelativeResize="0"/>
          <p:nvPr/>
        </p:nvPicPr>
        <p:blipFill>
          <a:blip r:embed="rId4">
            <a:alphaModFix/>
          </a:blip>
          <a:stretch>
            <a:fillRect/>
          </a:stretch>
        </p:blipFill>
        <p:spPr>
          <a:xfrm>
            <a:off x="4894850" y="1943325"/>
            <a:ext cx="3810000" cy="2419350"/>
          </a:xfrm>
          <a:prstGeom prst="rect">
            <a:avLst/>
          </a:prstGeom>
          <a:noFill/>
          <a:ln>
            <a:noFill/>
          </a:ln>
        </p:spPr>
      </p:pic>
      <p:sp>
        <p:nvSpPr>
          <p:cNvPr id="245" name="Google Shape;245;p44"/>
          <p:cNvSpPr txBox="1"/>
          <p:nvPr/>
        </p:nvSpPr>
        <p:spPr>
          <a:xfrm>
            <a:off x="5113975" y="4423050"/>
            <a:ext cx="3527400" cy="273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200">
                <a:solidFill>
                  <a:schemeClr val="dk1"/>
                </a:solidFill>
              </a:rPr>
              <a:t>Seek truly diversified </a:t>
            </a:r>
            <a:r>
              <a:rPr lang="en" sz="1200">
                <a:solidFill>
                  <a:schemeClr val="dk1"/>
                </a:solidFill>
              </a:rPr>
              <a:t>investments</a:t>
            </a:r>
            <a:r>
              <a:rPr lang="en" sz="1200">
                <a:solidFill>
                  <a:schemeClr val="dk1"/>
                </a:solidFill>
              </a:rPr>
              <a:t> that exhibit long term uncorrelation. Bonds (AGG) often are very </a:t>
            </a:r>
            <a:r>
              <a:rPr lang="en" sz="1200">
                <a:solidFill>
                  <a:schemeClr val="dk1"/>
                </a:solidFill>
              </a:rPr>
              <a:t>correlated.</a:t>
            </a:r>
            <a:endParaRPr sz="1200">
              <a:solidFill>
                <a:schemeClr val="dk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45"/>
          <p:cNvSpPr txBox="1"/>
          <p:nvPr/>
        </p:nvSpPr>
        <p:spPr>
          <a:xfrm>
            <a:off x="484175" y="1693800"/>
            <a:ext cx="7331700" cy="14016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5000">
                <a:solidFill>
                  <a:srgbClr val="FFFFFF"/>
                </a:solidFill>
                <a:latin typeface="Poppins"/>
                <a:ea typeface="Poppins"/>
                <a:cs typeface="Poppins"/>
                <a:sym typeface="Poppins"/>
              </a:rPr>
              <a:t>Getting started!</a:t>
            </a:r>
            <a:endParaRPr b="1" i="0" sz="5000" u="none" cap="none" strike="noStrike">
              <a:solidFill>
                <a:srgbClr val="FFFFFF"/>
              </a:solidFill>
              <a:latin typeface="Poppins"/>
              <a:ea typeface="Poppins"/>
              <a:cs typeface="Poppins"/>
              <a:sym typeface="Poppins"/>
            </a:endParaRPr>
          </a:p>
        </p:txBody>
      </p:sp>
      <p:sp>
        <p:nvSpPr>
          <p:cNvPr id="252" name="Google Shape;252;p45"/>
          <p:cNvSpPr txBox="1"/>
          <p:nvPr/>
        </p:nvSpPr>
        <p:spPr>
          <a:xfrm>
            <a:off x="497875" y="3325850"/>
            <a:ext cx="8180400" cy="502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t/>
            </a:r>
            <a:endParaRPr b="1" sz="1600">
              <a:solidFill>
                <a:srgbClr val="595959"/>
              </a:solidFill>
            </a:endParaRPr>
          </a:p>
          <a:p>
            <a:pPr indent="0" lvl="0" marL="0" marR="0" rtl="0" algn="l">
              <a:lnSpc>
                <a:spcPct val="100000"/>
              </a:lnSpc>
              <a:spcBef>
                <a:spcPts val="1200"/>
              </a:spcBef>
              <a:spcAft>
                <a:spcPts val="0"/>
              </a:spcAft>
              <a:buClr>
                <a:srgbClr val="000000"/>
              </a:buClr>
              <a:buSzPts val="1100"/>
              <a:buFont typeface="Arial"/>
              <a:buNone/>
            </a:pPr>
            <a:r>
              <a:t/>
            </a:r>
            <a:endParaRPr sz="2000">
              <a:solidFill>
                <a:srgbClr val="FFFFFF"/>
              </a:solidFill>
              <a:latin typeface="Poppins"/>
              <a:ea typeface="Poppins"/>
              <a:cs typeface="Poppins"/>
              <a:sym typeface="Poppins"/>
            </a:endParaRPr>
          </a:p>
          <a:p>
            <a:pPr indent="0" lvl="0" marL="0" marR="0" rtl="0" algn="l">
              <a:lnSpc>
                <a:spcPct val="115000"/>
              </a:lnSpc>
              <a:spcBef>
                <a:spcPts val="0"/>
              </a:spcBef>
              <a:spcAft>
                <a:spcPts val="0"/>
              </a:spcAft>
              <a:buClr>
                <a:srgbClr val="000000"/>
              </a:buClr>
              <a:buSzPts val="1100"/>
              <a:buFont typeface="Arial"/>
              <a:buNone/>
            </a:pPr>
            <a:r>
              <a:t/>
            </a:r>
            <a:endParaRPr b="0" i="0" sz="1100" u="none" cap="none" strike="noStrike">
              <a:solidFill>
                <a:srgbClr val="FFFFFF"/>
              </a:solidFill>
              <a:latin typeface="Noto Sans Symbols"/>
              <a:ea typeface="Noto Sans Symbols"/>
              <a:cs typeface="Noto Sans Symbols"/>
              <a:sym typeface="Noto Sans Symbols"/>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6"/>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A Visual Guide</a:t>
            </a:r>
            <a:endParaRPr b="1" i="0" sz="4000" u="none" cap="none" strike="noStrike">
              <a:solidFill>
                <a:srgbClr val="6D3BF5"/>
              </a:solidFill>
              <a:latin typeface="Poppins"/>
              <a:ea typeface="Poppins"/>
              <a:cs typeface="Poppins"/>
              <a:sym typeface="Poppins"/>
            </a:endParaRPr>
          </a:p>
        </p:txBody>
      </p:sp>
      <p:pic>
        <p:nvPicPr>
          <p:cNvPr id="259" name="Google Shape;259;p46"/>
          <p:cNvPicPr preferRelativeResize="0"/>
          <p:nvPr/>
        </p:nvPicPr>
        <p:blipFill>
          <a:blip r:embed="rId3">
            <a:alphaModFix/>
          </a:blip>
          <a:stretch>
            <a:fillRect/>
          </a:stretch>
        </p:blipFill>
        <p:spPr>
          <a:xfrm>
            <a:off x="2067195" y="897550"/>
            <a:ext cx="5009613" cy="3757249"/>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4" name="Shape 264"/>
        <p:cNvGrpSpPr/>
        <p:nvPr/>
      </p:nvGrpSpPr>
      <p:grpSpPr>
        <a:xfrm>
          <a:off x="0" y="0"/>
          <a:ext cx="0" cy="0"/>
          <a:chOff x="0" y="0"/>
          <a:chExt cx="0" cy="0"/>
        </a:xfrm>
      </p:grpSpPr>
      <p:sp>
        <p:nvSpPr>
          <p:cNvPr id="265" name="Google Shape;265;p47"/>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Be Careful of Fees: Robinhood PFOF - September 2024</a:t>
            </a:r>
            <a:endParaRPr b="1" i="0" sz="4000" u="none" cap="none" strike="noStrike">
              <a:solidFill>
                <a:srgbClr val="6D3BF5"/>
              </a:solidFill>
              <a:latin typeface="Poppins"/>
              <a:ea typeface="Poppins"/>
              <a:cs typeface="Poppins"/>
              <a:sym typeface="Poppins"/>
            </a:endParaRPr>
          </a:p>
        </p:txBody>
      </p:sp>
      <p:graphicFrame>
        <p:nvGraphicFramePr>
          <p:cNvPr id="266" name="Google Shape;266;p47"/>
          <p:cNvGraphicFramePr/>
          <p:nvPr/>
        </p:nvGraphicFramePr>
        <p:xfrm>
          <a:off x="285750" y="1623025"/>
          <a:ext cx="3000000" cy="3000000"/>
        </p:xfrm>
        <a:graphic>
          <a:graphicData uri="http://schemas.openxmlformats.org/drawingml/2006/table">
            <a:tbl>
              <a:tblPr>
                <a:noFill/>
                <a:tableStyleId>{8E988DE2-97A2-416A-9140-A02111780125}</a:tableStyleId>
              </a:tblPr>
              <a:tblGrid>
                <a:gridCol w="952500"/>
                <a:gridCol w="1075375"/>
                <a:gridCol w="829625"/>
                <a:gridCol w="1136825"/>
                <a:gridCol w="768175"/>
                <a:gridCol w="1145625"/>
                <a:gridCol w="759375"/>
                <a:gridCol w="1066600"/>
                <a:gridCol w="838400"/>
              </a:tblGrid>
              <a:tr h="100000">
                <a:tc>
                  <a:txBody>
                    <a:bodyPr/>
                    <a:lstStyle/>
                    <a:p>
                      <a:pPr indent="0" lvl="0" marL="0" rtl="0" algn="l">
                        <a:lnSpc>
                          <a:spcPct val="115000"/>
                        </a:lnSpc>
                        <a:spcBef>
                          <a:spcPts val="0"/>
                        </a:spcBef>
                        <a:spcAft>
                          <a:spcPts val="0"/>
                        </a:spcAft>
                        <a:buNone/>
                      </a:pPr>
                      <a:r>
                        <a:rPr b="1" lang="en" sz="1200"/>
                        <a:t>Type</a:t>
                      </a:r>
                      <a:endParaRPr b="1"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Paid/Received for Market Orders (USD)</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Market Orders(cents per hundred shares)</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 Received for Marketable Limit Orders (USD)</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Marketable Limit Orders(cents per hundred shares)</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Non-Marketable Limit Orders(USD)</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Non-Marketable Limit Orders(cents per hundred shares)</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Other Orders(USD)</a:t>
                      </a:r>
                      <a:endParaRPr b="1" sz="7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b="1" lang="en" sz="700"/>
                        <a:t>Net Payment Paid/Received for Other Orders(cents per hundred shares)</a:t>
                      </a:r>
                      <a:endParaRPr b="1" sz="700"/>
                    </a:p>
                  </a:txBody>
                  <a:tcPr marT="19050" marB="19050" marR="91425" marL="9142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37000">
                <a:tc>
                  <a:txBody>
                    <a:bodyPr/>
                    <a:lstStyle/>
                    <a:p>
                      <a:pPr indent="0" lvl="0" marL="0" rtl="0" algn="l">
                        <a:lnSpc>
                          <a:spcPct val="115000"/>
                        </a:lnSpc>
                        <a:spcBef>
                          <a:spcPts val="0"/>
                        </a:spcBef>
                        <a:spcAft>
                          <a:spcPts val="0"/>
                        </a:spcAft>
                        <a:buNone/>
                      </a:pPr>
                      <a:r>
                        <a:rPr lang="en" sz="1200"/>
                        <a:t>S&amp;P500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$476,120.14</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$0.54</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$506,842.39</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$0.45</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$159,669.04</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$0.49</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$406,231.62</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$0.33</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37000">
                <a:tc>
                  <a:txBody>
                    <a:bodyPr/>
                    <a:lstStyle/>
                    <a:p>
                      <a:pPr indent="0" lvl="0" marL="0" rtl="0" algn="l">
                        <a:lnSpc>
                          <a:spcPct val="115000"/>
                        </a:lnSpc>
                        <a:spcBef>
                          <a:spcPts val="0"/>
                        </a:spcBef>
                        <a:spcAft>
                          <a:spcPts val="0"/>
                        </a:spcAft>
                        <a:buNone/>
                      </a:pPr>
                      <a:r>
                        <a:rPr lang="en" sz="1200"/>
                        <a:t>Non S&amp;P500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$2,595,718.32</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$0.17</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$2,764,997.73</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$0.10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$1,214,001.70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$0.10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$746,273.38</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$0.17</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r h="137000">
                <a:tc>
                  <a:txBody>
                    <a:bodyPr/>
                    <a:lstStyle/>
                    <a:p>
                      <a:pPr indent="0" lvl="0" marL="0" rtl="0" algn="l">
                        <a:lnSpc>
                          <a:spcPct val="115000"/>
                        </a:lnSpc>
                        <a:spcBef>
                          <a:spcPts val="0"/>
                        </a:spcBef>
                        <a:spcAft>
                          <a:spcPts val="0"/>
                        </a:spcAft>
                        <a:buNone/>
                      </a:pPr>
                      <a:r>
                        <a:rPr lang="en" sz="1200"/>
                        <a:t>Options</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$267,735.21</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$0.35</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$26,281,705.80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$0.36</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$21,002,467.90</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$0.47</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$4,900,789.94</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1200"/>
                        <a:t>$0.41</a:t>
                      </a:r>
                      <a:endParaRPr sz="1200"/>
                    </a:p>
                  </a:txBody>
                  <a:tcPr marT="19050" marB="19050" marR="28575" marL="28575" anchor="b">
                    <a:lnL cap="flat" cmpd="sng" w="9525">
                      <a:solidFill>
                        <a:srgbClr val="000000"/>
                      </a:solidFill>
                      <a:prstDash val="solid"/>
                      <a:round/>
                      <a:headEnd len="sm" w="sm" type="none"/>
                      <a:tailEnd len="sm" w="sm" type="none"/>
                    </a:lnL>
                    <a:lnR cap="flat" cmpd="sng" w="9525">
                      <a:solidFill>
                        <a:srgbClr val="000000"/>
                      </a:solidFill>
                      <a:prstDash val="solid"/>
                      <a:round/>
                      <a:headEnd len="sm" w="sm" type="none"/>
                      <a:tailEnd len="sm" w="sm" type="none"/>
                    </a:lnR>
                    <a:lnT cap="flat" cmpd="sng" w="9525">
                      <a:solidFill>
                        <a:srgbClr val="000000"/>
                      </a:solidFill>
                      <a:prstDash val="solid"/>
                      <a:round/>
                      <a:headEnd len="sm" w="sm" type="none"/>
                      <a:tailEnd len="sm" w="sm" type="none"/>
                    </a:lnT>
                    <a:lnB cap="flat" cmpd="sng" w="9525">
                      <a:solidFill>
                        <a:srgbClr val="000000"/>
                      </a:solidFill>
                      <a:prstDash val="solid"/>
                      <a:round/>
                      <a:headEnd len="sm" w="sm" type="none"/>
                      <a:tailEnd len="sm" w="sm" type="none"/>
                    </a:lnB>
                  </a:tcPr>
                </a:tc>
              </a:tr>
            </a:tbl>
          </a:graphicData>
        </a:graphic>
      </p:graphicFrame>
      <p:sp>
        <p:nvSpPr>
          <p:cNvPr id="267" name="Google Shape;267;p47"/>
          <p:cNvSpPr txBox="1"/>
          <p:nvPr/>
        </p:nvSpPr>
        <p:spPr>
          <a:xfrm>
            <a:off x="1071250" y="3977025"/>
            <a:ext cx="7118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u="sng">
                <a:solidFill>
                  <a:srgbClr val="0097A7"/>
                </a:solidFill>
                <a:hlinkClick r:id="rId3">
                  <a:extLst>
                    <a:ext uri="{A12FA001-AC4F-418D-AE19-62706E023703}">
                      <ahyp:hlinkClr val="tx"/>
                    </a:ext>
                  </a:extLst>
                </a:hlinkClick>
              </a:rPr>
              <a:t>Robinhood Financial LLC - Held NMS Stocks and Options Order Routing Public Report</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8"/>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The Efficient Market</a:t>
            </a:r>
            <a:endParaRPr b="1" i="0" sz="4000" u="none" cap="none" strike="noStrike">
              <a:solidFill>
                <a:srgbClr val="6D3BF5"/>
              </a:solidFill>
              <a:latin typeface="Poppins"/>
              <a:ea typeface="Poppins"/>
              <a:cs typeface="Poppins"/>
              <a:sym typeface="Poppins"/>
            </a:endParaRPr>
          </a:p>
        </p:txBody>
      </p:sp>
      <p:sp>
        <p:nvSpPr>
          <p:cNvPr id="274" name="Google Shape;274;p48"/>
          <p:cNvSpPr txBox="1"/>
          <p:nvPr/>
        </p:nvSpPr>
        <p:spPr>
          <a:xfrm>
            <a:off x="12825" y="932000"/>
            <a:ext cx="5055900" cy="693900"/>
          </a:xfrm>
          <a:prstGeom prst="rect">
            <a:avLst/>
          </a:prstGeom>
          <a:noFill/>
          <a:ln>
            <a:noFill/>
          </a:ln>
        </p:spPr>
        <p:txBody>
          <a:bodyPr anchorCtr="0" anchor="t" bIns="91425" lIns="91425" spcFirstLastPara="1" rIns="91425" wrap="square" tIns="91425">
            <a:noAutofit/>
          </a:bodyPr>
          <a:lstStyle/>
          <a:p>
            <a:pPr indent="-311150" lvl="0" marL="457200" rtl="0" algn="l">
              <a:lnSpc>
                <a:spcPct val="115000"/>
              </a:lnSpc>
              <a:spcBef>
                <a:spcPts val="0"/>
              </a:spcBef>
              <a:spcAft>
                <a:spcPts val="0"/>
              </a:spcAft>
              <a:buClr>
                <a:srgbClr val="595959"/>
              </a:buClr>
              <a:buSzPts val="1300"/>
              <a:buChar char="●"/>
            </a:pPr>
            <a:r>
              <a:rPr lang="en" sz="1300">
                <a:solidFill>
                  <a:srgbClr val="595959"/>
                </a:solidFill>
              </a:rPr>
              <a:t>Impossible to “beat the market” </a:t>
            </a:r>
            <a:endParaRPr sz="1300">
              <a:solidFill>
                <a:srgbClr val="595959"/>
              </a:solidFill>
            </a:endParaRPr>
          </a:p>
          <a:p>
            <a:pPr indent="-311150" lvl="1" marL="914400" rtl="0" algn="l">
              <a:lnSpc>
                <a:spcPct val="115000"/>
              </a:lnSpc>
              <a:spcBef>
                <a:spcPts val="0"/>
              </a:spcBef>
              <a:spcAft>
                <a:spcPts val="0"/>
              </a:spcAft>
              <a:buClr>
                <a:srgbClr val="595959"/>
              </a:buClr>
              <a:buSzPts val="1300"/>
              <a:buChar char="○"/>
            </a:pPr>
            <a:r>
              <a:rPr lang="en" sz="1300">
                <a:solidFill>
                  <a:srgbClr val="595959"/>
                </a:solidFill>
              </a:rPr>
              <a:t>Market efficiency causes prices to incorporate and reflect all relevant information</a:t>
            </a:r>
            <a:endParaRPr sz="1300">
              <a:solidFill>
                <a:srgbClr val="595959"/>
              </a:solidFill>
            </a:endParaRPr>
          </a:p>
          <a:p>
            <a:pPr indent="-311150" lvl="2" marL="1371600" rtl="0" algn="l">
              <a:lnSpc>
                <a:spcPct val="115000"/>
              </a:lnSpc>
              <a:spcBef>
                <a:spcPts val="0"/>
              </a:spcBef>
              <a:spcAft>
                <a:spcPts val="0"/>
              </a:spcAft>
              <a:buClr>
                <a:srgbClr val="595959"/>
              </a:buClr>
              <a:buSzPts val="1300"/>
              <a:buChar char="■"/>
            </a:pPr>
            <a:r>
              <a:rPr lang="en" sz="1300">
                <a:solidFill>
                  <a:srgbClr val="595959"/>
                </a:solidFill>
              </a:rPr>
              <a:t>Prices adjust quickly to new information</a:t>
            </a:r>
            <a:endParaRPr sz="1300">
              <a:solidFill>
                <a:srgbClr val="595959"/>
              </a:solidFill>
            </a:endParaRPr>
          </a:p>
          <a:p>
            <a:pPr indent="-311150" lvl="2" marL="1371600" rtl="0" algn="l">
              <a:lnSpc>
                <a:spcPct val="115000"/>
              </a:lnSpc>
              <a:spcBef>
                <a:spcPts val="0"/>
              </a:spcBef>
              <a:spcAft>
                <a:spcPts val="0"/>
              </a:spcAft>
              <a:buClr>
                <a:srgbClr val="595959"/>
              </a:buClr>
              <a:buSzPts val="1300"/>
              <a:buChar char="■"/>
            </a:pPr>
            <a:r>
              <a:rPr lang="en" sz="1300">
                <a:solidFill>
                  <a:srgbClr val="595959"/>
                </a:solidFill>
              </a:rPr>
              <a:t>Prices should reflect all available information</a:t>
            </a:r>
            <a:endParaRPr sz="1300">
              <a:solidFill>
                <a:srgbClr val="595959"/>
              </a:solidFill>
            </a:endParaRPr>
          </a:p>
          <a:p>
            <a:pPr indent="-311150" lvl="1" marL="914400" rtl="0" algn="l">
              <a:lnSpc>
                <a:spcPct val="115000"/>
              </a:lnSpc>
              <a:spcBef>
                <a:spcPts val="0"/>
              </a:spcBef>
              <a:spcAft>
                <a:spcPts val="0"/>
              </a:spcAft>
              <a:buClr>
                <a:srgbClr val="595959"/>
              </a:buClr>
              <a:buSzPts val="1300"/>
              <a:buChar char="○"/>
            </a:pPr>
            <a:r>
              <a:rPr lang="en" sz="1300">
                <a:solidFill>
                  <a:srgbClr val="595959"/>
                </a:solidFill>
              </a:rPr>
              <a:t>Securities always trade at their fair value </a:t>
            </a:r>
            <a:endParaRPr sz="1300">
              <a:solidFill>
                <a:srgbClr val="595959"/>
              </a:solidFill>
            </a:endParaRPr>
          </a:p>
          <a:p>
            <a:pPr indent="-311150" lvl="1" marL="914400" rtl="0" algn="l">
              <a:lnSpc>
                <a:spcPct val="115000"/>
              </a:lnSpc>
              <a:spcBef>
                <a:spcPts val="0"/>
              </a:spcBef>
              <a:spcAft>
                <a:spcPts val="0"/>
              </a:spcAft>
              <a:buClr>
                <a:srgbClr val="595959"/>
              </a:buClr>
              <a:buSzPts val="1300"/>
              <a:buChar char="○"/>
            </a:pPr>
            <a:r>
              <a:rPr lang="en" sz="1300">
                <a:solidFill>
                  <a:srgbClr val="595959"/>
                </a:solidFill>
              </a:rPr>
              <a:t>The only way to obtain higher returns is to purchase riskier investments</a:t>
            </a:r>
            <a:endParaRPr sz="1300">
              <a:solidFill>
                <a:srgbClr val="595959"/>
              </a:solidFill>
            </a:endParaRPr>
          </a:p>
          <a:p>
            <a:pPr indent="-311150" lvl="1" marL="914400" rtl="0" algn="l">
              <a:lnSpc>
                <a:spcPct val="115000"/>
              </a:lnSpc>
              <a:spcBef>
                <a:spcPts val="0"/>
              </a:spcBef>
              <a:spcAft>
                <a:spcPts val="0"/>
              </a:spcAft>
              <a:buClr>
                <a:srgbClr val="595959"/>
              </a:buClr>
              <a:buSzPts val="1300"/>
              <a:buChar char="○"/>
            </a:pPr>
            <a:r>
              <a:rPr lang="en" sz="1300">
                <a:solidFill>
                  <a:srgbClr val="595959"/>
                </a:solidFill>
              </a:rPr>
              <a:t>Cannot predict trends, history does not indicate future</a:t>
            </a:r>
            <a:endParaRPr sz="1300">
              <a:solidFill>
                <a:srgbClr val="595959"/>
              </a:solidFill>
            </a:endParaRPr>
          </a:p>
          <a:p>
            <a:pPr indent="-311150" lvl="0" marL="457200" rtl="0" algn="l">
              <a:lnSpc>
                <a:spcPct val="115000"/>
              </a:lnSpc>
              <a:spcBef>
                <a:spcPts val="0"/>
              </a:spcBef>
              <a:spcAft>
                <a:spcPts val="0"/>
              </a:spcAft>
              <a:buClr>
                <a:srgbClr val="595959"/>
              </a:buClr>
              <a:buSzPts val="1300"/>
              <a:buChar char="●"/>
            </a:pPr>
            <a:r>
              <a:rPr lang="en" sz="1300">
                <a:solidFill>
                  <a:srgbClr val="595959"/>
                </a:solidFill>
              </a:rPr>
              <a:t>The market is becoming increasingly more efficient</a:t>
            </a:r>
            <a:endParaRPr sz="1300">
              <a:solidFill>
                <a:srgbClr val="595959"/>
              </a:solidFill>
            </a:endParaRPr>
          </a:p>
          <a:p>
            <a:pPr indent="-311150" lvl="0" marL="457200" rtl="0" algn="l">
              <a:lnSpc>
                <a:spcPct val="115000"/>
              </a:lnSpc>
              <a:spcBef>
                <a:spcPts val="0"/>
              </a:spcBef>
              <a:spcAft>
                <a:spcPts val="0"/>
              </a:spcAft>
              <a:buClr>
                <a:srgbClr val="595959"/>
              </a:buClr>
              <a:buSzPts val="1300"/>
              <a:buChar char="●"/>
            </a:pPr>
            <a:r>
              <a:rPr lang="en" sz="1300">
                <a:solidFill>
                  <a:srgbClr val="595959"/>
                </a:solidFill>
              </a:rPr>
              <a:t>Warren Buffett? Citadel? Virtu?</a:t>
            </a:r>
            <a:endParaRPr sz="1300">
              <a:solidFill>
                <a:srgbClr val="595959"/>
              </a:solidFill>
            </a:endParaRPr>
          </a:p>
          <a:p>
            <a:pPr indent="-311150" lvl="1" marL="914400" rtl="0" algn="l">
              <a:lnSpc>
                <a:spcPct val="115000"/>
              </a:lnSpc>
              <a:spcBef>
                <a:spcPts val="0"/>
              </a:spcBef>
              <a:spcAft>
                <a:spcPts val="0"/>
              </a:spcAft>
              <a:buClr>
                <a:srgbClr val="595959"/>
              </a:buClr>
              <a:buSzPts val="1300"/>
              <a:buChar char="○"/>
            </a:pPr>
            <a:r>
              <a:rPr lang="en" sz="1300">
                <a:solidFill>
                  <a:srgbClr val="595959"/>
                </a:solidFill>
              </a:rPr>
              <a:t>When filing for its IPO in March 2014, it was disclosed that during five years Virtu Financial made profit 1,277 out of 1,278 days, losing money just one day.</a:t>
            </a:r>
            <a:endParaRPr sz="1300">
              <a:solidFill>
                <a:srgbClr val="595959"/>
              </a:solidFill>
            </a:endParaRPr>
          </a:p>
        </p:txBody>
      </p:sp>
      <p:pic>
        <p:nvPicPr>
          <p:cNvPr id="275" name="Google Shape;275;p48"/>
          <p:cNvPicPr preferRelativeResize="0"/>
          <p:nvPr/>
        </p:nvPicPr>
        <p:blipFill>
          <a:blip r:embed="rId3">
            <a:alphaModFix/>
          </a:blip>
          <a:stretch>
            <a:fillRect/>
          </a:stretch>
        </p:blipFill>
        <p:spPr>
          <a:xfrm>
            <a:off x="5258525" y="1538663"/>
            <a:ext cx="3885475" cy="2066173"/>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0" name="Shape 280"/>
        <p:cNvGrpSpPr/>
        <p:nvPr/>
      </p:nvGrpSpPr>
      <p:grpSpPr>
        <a:xfrm>
          <a:off x="0" y="0"/>
          <a:ext cx="0" cy="0"/>
          <a:chOff x="0" y="0"/>
          <a:chExt cx="0" cy="0"/>
        </a:xfrm>
      </p:grpSpPr>
      <p:sp>
        <p:nvSpPr>
          <p:cNvPr id="281" name="Google Shape;281;p49"/>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Statistical Sampling</a:t>
            </a:r>
            <a:endParaRPr b="1" i="0" sz="4000" u="none" cap="none" strike="noStrike">
              <a:solidFill>
                <a:srgbClr val="6D3BF5"/>
              </a:solidFill>
              <a:latin typeface="Poppins"/>
              <a:ea typeface="Poppins"/>
              <a:cs typeface="Poppins"/>
              <a:sym typeface="Poppins"/>
            </a:endParaRPr>
          </a:p>
        </p:txBody>
      </p:sp>
      <p:sp>
        <p:nvSpPr>
          <p:cNvPr id="282" name="Google Shape;282;p49"/>
          <p:cNvSpPr txBox="1"/>
          <p:nvPr/>
        </p:nvSpPr>
        <p:spPr>
          <a:xfrm>
            <a:off x="0" y="2224800"/>
            <a:ext cx="5055900" cy="693900"/>
          </a:xfrm>
          <a:prstGeom prst="rect">
            <a:avLst/>
          </a:prstGeom>
          <a:noFill/>
          <a:ln>
            <a:noFill/>
          </a:ln>
        </p:spPr>
        <p:txBody>
          <a:bodyPr anchorCtr="0" anchor="t" bIns="91425" lIns="91425" spcFirstLastPara="1" rIns="91425" wrap="square" tIns="91425">
            <a:noAutofit/>
          </a:bodyPr>
          <a:lstStyle/>
          <a:p>
            <a:pPr indent="-311150" lvl="0" marL="457200" rtl="0" algn="l">
              <a:lnSpc>
                <a:spcPct val="115000"/>
              </a:lnSpc>
              <a:spcBef>
                <a:spcPts val="0"/>
              </a:spcBef>
              <a:spcAft>
                <a:spcPts val="0"/>
              </a:spcAft>
              <a:buClr>
                <a:srgbClr val="595959"/>
              </a:buClr>
              <a:buSzPts val="1300"/>
              <a:buChar char="●"/>
            </a:pPr>
            <a:r>
              <a:rPr lang="en" sz="1300">
                <a:solidFill>
                  <a:srgbClr val="595959"/>
                </a:solidFill>
              </a:rPr>
              <a:t>Some investors are simply lucky</a:t>
            </a:r>
            <a:endParaRPr sz="1300">
              <a:solidFill>
                <a:srgbClr val="595959"/>
              </a:solidFill>
            </a:endParaRPr>
          </a:p>
          <a:p>
            <a:pPr indent="-311150" lvl="0" marL="457200" rtl="0" algn="l">
              <a:lnSpc>
                <a:spcPct val="115000"/>
              </a:lnSpc>
              <a:spcBef>
                <a:spcPts val="0"/>
              </a:spcBef>
              <a:spcAft>
                <a:spcPts val="0"/>
              </a:spcAft>
              <a:buClr>
                <a:srgbClr val="595959"/>
              </a:buClr>
              <a:buSzPts val="1300"/>
              <a:buChar char="●"/>
            </a:pPr>
            <a:r>
              <a:rPr lang="en" sz="1300">
                <a:solidFill>
                  <a:srgbClr val="595959"/>
                </a:solidFill>
              </a:rPr>
              <a:t>If you were to have a bunch of monkeys throw darts at a wall and use that to pick stocks you will have some major outperformers. </a:t>
            </a:r>
            <a:endParaRPr sz="1300">
              <a:solidFill>
                <a:srgbClr val="595959"/>
              </a:solidFill>
            </a:endParaRPr>
          </a:p>
        </p:txBody>
      </p:sp>
      <p:pic>
        <p:nvPicPr>
          <p:cNvPr id="283" name="Google Shape;283;p49"/>
          <p:cNvPicPr preferRelativeResize="0"/>
          <p:nvPr/>
        </p:nvPicPr>
        <p:blipFill>
          <a:blip r:embed="rId3">
            <a:alphaModFix/>
          </a:blip>
          <a:stretch>
            <a:fillRect/>
          </a:stretch>
        </p:blipFill>
        <p:spPr>
          <a:xfrm>
            <a:off x="5131325" y="1456925"/>
            <a:ext cx="3933300" cy="2077974"/>
          </a:xfrm>
          <a:prstGeom prst="rect">
            <a:avLst/>
          </a:prstGeom>
          <a:noFill/>
          <a:ln>
            <a:noFill/>
          </a:ln>
        </p:spPr>
      </p:pic>
      <p:sp>
        <p:nvSpPr>
          <p:cNvPr id="284" name="Google Shape;284;p49"/>
          <p:cNvSpPr txBox="1"/>
          <p:nvPr/>
        </p:nvSpPr>
        <p:spPr>
          <a:xfrm>
            <a:off x="2118000" y="3607925"/>
            <a:ext cx="4908000" cy="8697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1000">
                <a:solidFill>
                  <a:schemeClr val="dk1"/>
                </a:solidFill>
                <a:latin typeface="Calibri"/>
                <a:ea typeface="Calibri"/>
                <a:cs typeface="Calibri"/>
                <a:sym typeface="Calibri"/>
              </a:rPr>
              <a:t>“</a:t>
            </a:r>
            <a:r>
              <a:rPr i="1" lang="en" sz="1000">
                <a:solidFill>
                  <a:schemeClr val="dk1"/>
                </a:solidFill>
                <a:latin typeface="Calibri"/>
                <a:ea typeface="Calibri"/>
                <a:cs typeface="Calibri"/>
                <a:sym typeface="Calibri"/>
              </a:rPr>
              <a:t>In statistical terms, I figure I have traded about 2 million contracts, with an average profit of $70 per contract (after slippage of perhaps $20). This average is approximately 700 standard deviations away from randomness.”</a:t>
            </a:r>
            <a:endParaRPr i="1" sz="100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1000">
                <a:solidFill>
                  <a:schemeClr val="dk1"/>
                </a:solidFill>
                <a:latin typeface="Calibri"/>
                <a:ea typeface="Calibri"/>
                <a:cs typeface="Calibri"/>
                <a:sym typeface="Calibri"/>
              </a:rPr>
              <a:t>    ~ </a:t>
            </a:r>
            <a:r>
              <a:rPr i="1" lang="en" sz="1000">
                <a:solidFill>
                  <a:schemeClr val="dk1"/>
                </a:solidFill>
                <a:latin typeface="Calibri"/>
                <a:ea typeface="Calibri"/>
                <a:cs typeface="Calibri"/>
                <a:sym typeface="Calibri"/>
              </a:rPr>
              <a:t>The Education of a Speculator</a:t>
            </a:r>
            <a:endParaRPr i="1" sz="10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9" name="Shape 289"/>
        <p:cNvGrpSpPr/>
        <p:nvPr/>
      </p:nvGrpSpPr>
      <p:grpSpPr>
        <a:xfrm>
          <a:off x="0" y="0"/>
          <a:ext cx="0" cy="0"/>
          <a:chOff x="0" y="0"/>
          <a:chExt cx="0" cy="0"/>
        </a:xfrm>
      </p:grpSpPr>
      <p:sp>
        <p:nvSpPr>
          <p:cNvPr id="290" name="Google Shape;290;p50"/>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AI/ML is only One Part</a:t>
            </a:r>
            <a:endParaRPr b="1" i="0" sz="4000" u="none" cap="none" strike="noStrike">
              <a:solidFill>
                <a:srgbClr val="6D3BF5"/>
              </a:solidFill>
              <a:latin typeface="Poppins"/>
              <a:ea typeface="Poppins"/>
              <a:cs typeface="Poppins"/>
              <a:sym typeface="Poppins"/>
            </a:endParaRPr>
          </a:p>
        </p:txBody>
      </p:sp>
      <p:sp>
        <p:nvSpPr>
          <p:cNvPr id="291" name="Google Shape;291;p50"/>
          <p:cNvSpPr txBox="1"/>
          <p:nvPr/>
        </p:nvSpPr>
        <p:spPr>
          <a:xfrm>
            <a:off x="0" y="1139350"/>
            <a:ext cx="4325700" cy="3052800"/>
          </a:xfrm>
          <a:prstGeom prst="rect">
            <a:avLst/>
          </a:prstGeom>
          <a:noFill/>
          <a:ln>
            <a:noFill/>
          </a:ln>
        </p:spPr>
        <p:txBody>
          <a:bodyPr anchorCtr="0" anchor="t" bIns="91425" lIns="91425" spcFirstLastPara="1" rIns="91425" wrap="square" tIns="91425">
            <a:noAutofit/>
          </a:bodyPr>
          <a:lstStyle/>
          <a:p>
            <a:pPr indent="-349250" lvl="0" marL="457200" rtl="0" algn="l">
              <a:lnSpc>
                <a:spcPct val="115000"/>
              </a:lnSpc>
              <a:spcBef>
                <a:spcPts val="0"/>
              </a:spcBef>
              <a:spcAft>
                <a:spcPts val="0"/>
              </a:spcAft>
              <a:buClr>
                <a:srgbClr val="595959"/>
              </a:buClr>
              <a:buSzPts val="1900"/>
              <a:buChar char="●"/>
            </a:pPr>
            <a:r>
              <a:rPr lang="en" sz="1900">
                <a:solidFill>
                  <a:srgbClr val="595959"/>
                </a:solidFill>
              </a:rPr>
              <a:t>Arguably the most important thing in Deep Learning / AI</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High quality data drives model </a:t>
            </a:r>
            <a:r>
              <a:rPr lang="en" sz="1900">
                <a:solidFill>
                  <a:srgbClr val="595959"/>
                </a:solidFill>
              </a:rPr>
              <a:t>performance</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Models today are often trained on the whole internet</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Identify what </a:t>
            </a:r>
            <a:r>
              <a:rPr lang="en" sz="1900">
                <a:solidFill>
                  <a:srgbClr val="595959"/>
                </a:solidFill>
              </a:rPr>
              <a:t>you are good at and that will drive performance</a:t>
            </a:r>
            <a:endParaRPr sz="1900">
              <a:solidFill>
                <a:srgbClr val="595959"/>
              </a:solidFill>
            </a:endParaRPr>
          </a:p>
        </p:txBody>
      </p:sp>
      <p:pic>
        <p:nvPicPr>
          <p:cNvPr id="292" name="Google Shape;292;p50"/>
          <p:cNvPicPr preferRelativeResize="0"/>
          <p:nvPr/>
        </p:nvPicPr>
        <p:blipFill rotWithShape="1">
          <a:blip r:embed="rId3">
            <a:alphaModFix/>
          </a:blip>
          <a:srcRect b="0" l="0" r="0" t="0"/>
          <a:stretch/>
        </p:blipFill>
        <p:spPr>
          <a:xfrm>
            <a:off x="4325638" y="1101119"/>
            <a:ext cx="4562475" cy="2990850"/>
          </a:xfrm>
          <a:prstGeom prst="rect">
            <a:avLst/>
          </a:prstGeom>
          <a:noFill/>
          <a:ln>
            <a:noFill/>
          </a:ln>
        </p:spPr>
      </p:pic>
      <p:sp>
        <p:nvSpPr>
          <p:cNvPr id="293" name="Google Shape;293;p50"/>
          <p:cNvSpPr/>
          <p:nvPr/>
        </p:nvSpPr>
        <p:spPr>
          <a:xfrm>
            <a:off x="4671888" y="3909650"/>
            <a:ext cx="3870000" cy="6771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u="sng">
                <a:solidFill>
                  <a:schemeClr val="dk1"/>
                </a:solidFill>
                <a:latin typeface="Calibri"/>
                <a:ea typeface="Calibri"/>
                <a:cs typeface="Calibri"/>
                <a:sym typeface="Calibri"/>
                <a:hlinkClick r:id="rId4">
                  <a:extLst>
                    <a:ext uri="{A12FA001-AC4F-418D-AE19-62706E023703}">
                      <ahyp:hlinkClr val="tx"/>
                    </a:ext>
                  </a:extLst>
                </a:hlinkClick>
              </a:rPr>
              <a:t>https://developers.google.com/machine-learning/crash-course</a:t>
            </a:r>
            <a:r>
              <a:rPr lang="en" sz="1100">
                <a:solidFill>
                  <a:schemeClr val="dk1"/>
                </a:solidFill>
                <a:latin typeface="Calibri"/>
                <a:ea typeface="Calibri"/>
                <a:cs typeface="Calibri"/>
                <a:sym typeface="Calibri"/>
              </a:rPr>
              <a:t> </a:t>
            </a:r>
            <a:endParaRPr sz="1100">
              <a:solidFill>
                <a:schemeClr val="dk1"/>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51"/>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Backtesting a Strategy</a:t>
            </a:r>
            <a:endParaRPr b="1" i="0" sz="4000" u="none" cap="none" strike="noStrike">
              <a:solidFill>
                <a:srgbClr val="6D3BF5"/>
              </a:solidFill>
              <a:latin typeface="Poppins"/>
              <a:ea typeface="Poppins"/>
              <a:cs typeface="Poppins"/>
              <a:sym typeface="Poppins"/>
            </a:endParaRPr>
          </a:p>
        </p:txBody>
      </p:sp>
      <p:sp>
        <p:nvSpPr>
          <p:cNvPr id="300" name="Google Shape;300;p51"/>
          <p:cNvSpPr txBox="1"/>
          <p:nvPr/>
        </p:nvSpPr>
        <p:spPr>
          <a:xfrm>
            <a:off x="0" y="1139350"/>
            <a:ext cx="4325700" cy="3052800"/>
          </a:xfrm>
          <a:prstGeom prst="rect">
            <a:avLst/>
          </a:prstGeom>
          <a:noFill/>
          <a:ln>
            <a:noFill/>
          </a:ln>
        </p:spPr>
        <p:txBody>
          <a:bodyPr anchorCtr="0" anchor="t" bIns="91425" lIns="91425" spcFirstLastPara="1" rIns="91425" wrap="square" tIns="91425">
            <a:noAutofit/>
          </a:bodyPr>
          <a:lstStyle/>
          <a:p>
            <a:pPr indent="-349250" lvl="0" marL="457200" rtl="0" algn="l">
              <a:lnSpc>
                <a:spcPct val="115000"/>
              </a:lnSpc>
              <a:spcBef>
                <a:spcPts val="0"/>
              </a:spcBef>
              <a:spcAft>
                <a:spcPts val="0"/>
              </a:spcAft>
              <a:buClr>
                <a:srgbClr val="595959"/>
              </a:buClr>
              <a:buSzPts val="1900"/>
              <a:buChar char="●"/>
            </a:pPr>
            <a:r>
              <a:rPr lang="en" sz="1900">
                <a:solidFill>
                  <a:srgbClr val="595959"/>
                </a:solidFill>
              </a:rPr>
              <a:t>Does the strategy work across many assets?</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How many years does it work for?</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Risk Tolerance?</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Maximum Drawdown?</a:t>
            </a:r>
            <a:endParaRPr sz="1900">
              <a:solidFill>
                <a:srgbClr val="595959"/>
              </a:solidFill>
            </a:endParaRPr>
          </a:p>
          <a:p>
            <a:pPr indent="-349250" lvl="0" marL="457200" rtl="0" algn="l">
              <a:lnSpc>
                <a:spcPct val="115000"/>
              </a:lnSpc>
              <a:spcBef>
                <a:spcPts val="0"/>
              </a:spcBef>
              <a:spcAft>
                <a:spcPts val="0"/>
              </a:spcAft>
              <a:buClr>
                <a:srgbClr val="595959"/>
              </a:buClr>
              <a:buSzPts val="1900"/>
              <a:buChar char="●"/>
            </a:pPr>
            <a:r>
              <a:rPr lang="en" sz="1900">
                <a:solidFill>
                  <a:srgbClr val="595959"/>
                </a:solidFill>
              </a:rPr>
              <a:t>Fees? Trading frequency?</a:t>
            </a:r>
            <a:endParaRPr sz="1900">
              <a:solidFill>
                <a:srgbClr val="595959"/>
              </a:solidFill>
            </a:endParaRPr>
          </a:p>
        </p:txBody>
      </p:sp>
      <p:pic>
        <p:nvPicPr>
          <p:cNvPr id="301" name="Google Shape;301;p51"/>
          <p:cNvPicPr preferRelativeResize="0"/>
          <p:nvPr/>
        </p:nvPicPr>
        <p:blipFill>
          <a:blip r:embed="rId3">
            <a:alphaModFix/>
          </a:blip>
          <a:stretch>
            <a:fillRect/>
          </a:stretch>
        </p:blipFill>
        <p:spPr>
          <a:xfrm>
            <a:off x="5302350" y="1149798"/>
            <a:ext cx="3747849" cy="3308025"/>
          </a:xfrm>
          <a:prstGeom prst="rect">
            <a:avLst/>
          </a:prstGeom>
          <a:noFill/>
          <a:ln>
            <a:noFill/>
          </a:ln>
        </p:spPr>
      </p:pic>
      <p:pic>
        <p:nvPicPr>
          <p:cNvPr id="302" name="Google Shape;302;p51"/>
          <p:cNvPicPr preferRelativeResize="0"/>
          <p:nvPr/>
        </p:nvPicPr>
        <p:blipFill>
          <a:blip r:embed="rId4">
            <a:alphaModFix/>
          </a:blip>
          <a:stretch>
            <a:fillRect/>
          </a:stretch>
        </p:blipFill>
        <p:spPr>
          <a:xfrm>
            <a:off x="3407088" y="3665175"/>
            <a:ext cx="1857375" cy="1478325"/>
          </a:xfrm>
          <a:prstGeom prst="rect">
            <a:avLst/>
          </a:prstGeom>
          <a:noFill/>
          <a:ln>
            <a:noFill/>
          </a:ln>
        </p:spPr>
      </p:pic>
      <p:sp>
        <p:nvSpPr>
          <p:cNvPr id="303" name="Google Shape;303;p51"/>
          <p:cNvSpPr txBox="1"/>
          <p:nvPr/>
        </p:nvSpPr>
        <p:spPr>
          <a:xfrm>
            <a:off x="4455150" y="4287288"/>
            <a:ext cx="1066200" cy="7449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650">
                <a:solidFill>
                  <a:schemeClr val="dk1"/>
                </a:solidFill>
                <a:latin typeface="Calibri"/>
                <a:ea typeface="Calibri"/>
                <a:cs typeface="Calibri"/>
                <a:sym typeface="Calibri"/>
              </a:rPr>
              <a:t>Sharpe:1.299</a:t>
            </a:r>
            <a:endParaRPr sz="65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650">
                <a:solidFill>
                  <a:schemeClr val="dk1"/>
                </a:solidFill>
                <a:latin typeface="Calibri"/>
                <a:ea typeface="Calibri"/>
                <a:cs typeface="Calibri"/>
                <a:sym typeface="Calibri"/>
              </a:rPr>
              <a:t>PPC:0.338</a:t>
            </a:r>
            <a:endParaRPr sz="65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650">
                <a:solidFill>
                  <a:schemeClr val="dk1"/>
                </a:solidFill>
                <a:latin typeface="Calibri"/>
                <a:ea typeface="Calibri"/>
                <a:cs typeface="Calibri"/>
                <a:sym typeface="Calibri"/>
              </a:rPr>
              <a:t>Wins:255</a:t>
            </a:r>
            <a:endParaRPr sz="65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650">
                <a:solidFill>
                  <a:schemeClr val="dk1"/>
                </a:solidFill>
                <a:latin typeface="Calibri"/>
                <a:ea typeface="Calibri"/>
                <a:cs typeface="Calibri"/>
                <a:sym typeface="Calibri"/>
              </a:rPr>
              <a:t>Losses:202</a:t>
            </a:r>
            <a:endParaRPr sz="65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650">
                <a:solidFill>
                  <a:schemeClr val="dk1"/>
                </a:solidFill>
                <a:latin typeface="Calibri"/>
                <a:ea typeface="Calibri"/>
                <a:cs typeface="Calibri"/>
                <a:sym typeface="Calibri"/>
              </a:rPr>
              <a:t>Trades:463.0</a:t>
            </a:r>
            <a:endParaRPr sz="650">
              <a:solidFill>
                <a:schemeClr val="dk1"/>
              </a:solidFill>
              <a:latin typeface="Calibri"/>
              <a:ea typeface="Calibri"/>
              <a:cs typeface="Calibri"/>
              <a:sym typeface="Calibri"/>
            </a:endParaRPr>
          </a:p>
        </p:txBody>
      </p:sp>
      <p:sp>
        <p:nvSpPr>
          <p:cNvPr id="304" name="Google Shape;304;p51"/>
          <p:cNvSpPr txBox="1"/>
          <p:nvPr/>
        </p:nvSpPr>
        <p:spPr>
          <a:xfrm>
            <a:off x="5769800" y="4259238"/>
            <a:ext cx="3000000" cy="801000"/>
          </a:xfrm>
          <a:prstGeom prst="rect">
            <a:avLst/>
          </a:prstGeom>
          <a:noFill/>
          <a:ln>
            <a:noFill/>
          </a:ln>
        </p:spPr>
        <p:txBody>
          <a:bodyPr anchorCtr="0" anchor="t" bIns="91425" lIns="91425" spcFirstLastPara="1" rIns="91425" wrap="square" tIns="91425">
            <a:spAutoFit/>
          </a:bodyPr>
          <a:lstStyle/>
          <a:p>
            <a:pPr indent="0" lvl="0" marL="0" rtl="0" algn="l">
              <a:lnSpc>
                <a:spcPct val="115000"/>
              </a:lnSpc>
              <a:spcBef>
                <a:spcPts val="0"/>
              </a:spcBef>
              <a:spcAft>
                <a:spcPts val="0"/>
              </a:spcAft>
              <a:buNone/>
            </a:pPr>
            <a:r>
              <a:rPr lang="en" sz="900">
                <a:solidFill>
                  <a:schemeClr val="dk1"/>
                </a:solidFill>
                <a:latin typeface="Calibri"/>
                <a:ea typeface="Calibri"/>
                <a:cs typeface="Calibri"/>
                <a:sym typeface="Calibri"/>
              </a:rPr>
              <a:t>In Sample: SPY 2004-2010</a:t>
            </a:r>
            <a:endParaRPr sz="90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900">
                <a:solidFill>
                  <a:schemeClr val="dk1"/>
                </a:solidFill>
                <a:latin typeface="Calibri"/>
                <a:ea typeface="Calibri"/>
                <a:cs typeface="Calibri"/>
                <a:sym typeface="Calibri"/>
              </a:rPr>
              <a:t>Out of Sample: Assets Randomly Selected:</a:t>
            </a:r>
            <a:endParaRPr sz="90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900">
                <a:solidFill>
                  <a:schemeClr val="dk1"/>
                </a:solidFill>
                <a:latin typeface="Calibri"/>
                <a:ea typeface="Calibri"/>
                <a:cs typeface="Calibri"/>
                <a:sym typeface="Calibri"/>
              </a:rPr>
              <a:t>ADBE XLNX BBBY CFN EMC ADP AFL DE T SPLS DG ADS</a:t>
            </a:r>
            <a:endParaRPr sz="900">
              <a:solidFill>
                <a:schemeClr val="dk1"/>
              </a:solidFill>
              <a:latin typeface="Calibri"/>
              <a:ea typeface="Calibri"/>
              <a:cs typeface="Calibri"/>
              <a:sym typeface="Calibri"/>
            </a:endParaRPr>
          </a:p>
          <a:p>
            <a:pPr indent="0" lvl="0" marL="0" rtl="0" algn="l">
              <a:lnSpc>
                <a:spcPct val="115000"/>
              </a:lnSpc>
              <a:spcBef>
                <a:spcPts val="0"/>
              </a:spcBef>
              <a:spcAft>
                <a:spcPts val="0"/>
              </a:spcAft>
              <a:buNone/>
            </a:pPr>
            <a:r>
              <a:rPr lang="en" sz="900">
                <a:solidFill>
                  <a:schemeClr val="dk1"/>
                </a:solidFill>
                <a:latin typeface="Calibri"/>
                <a:ea typeface="Calibri"/>
                <a:cs typeface="Calibri"/>
                <a:sym typeface="Calibri"/>
              </a:rPr>
              <a:t>ALL MET CL PX WYN</a:t>
            </a:r>
            <a:endParaRPr sz="9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52"/>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Technical Indicators</a:t>
            </a:r>
            <a:endParaRPr b="1" i="0" sz="4000" u="none" cap="none" strike="noStrike">
              <a:solidFill>
                <a:srgbClr val="6D3BF5"/>
              </a:solidFill>
              <a:latin typeface="Poppins"/>
              <a:ea typeface="Poppins"/>
              <a:cs typeface="Poppins"/>
              <a:sym typeface="Poppins"/>
            </a:endParaRPr>
          </a:p>
        </p:txBody>
      </p:sp>
      <p:sp>
        <p:nvSpPr>
          <p:cNvPr id="311" name="Google Shape;311;p52"/>
          <p:cNvSpPr txBox="1"/>
          <p:nvPr/>
        </p:nvSpPr>
        <p:spPr>
          <a:xfrm>
            <a:off x="340225" y="1749975"/>
            <a:ext cx="5481300" cy="1989300"/>
          </a:xfrm>
          <a:prstGeom prst="rect">
            <a:avLst/>
          </a:prstGeom>
          <a:noFill/>
          <a:ln>
            <a:noFill/>
          </a:ln>
        </p:spPr>
        <p:txBody>
          <a:bodyPr anchorCtr="0" anchor="t" bIns="91425" lIns="91425" spcFirstLastPara="1" rIns="91425" wrap="square" tIns="91425">
            <a:noAutofit/>
          </a:bodyPr>
          <a:lstStyle/>
          <a:p>
            <a:pPr indent="-355600" lvl="0" marL="457200" rtl="0" algn="l">
              <a:lnSpc>
                <a:spcPct val="90000"/>
              </a:lnSpc>
              <a:spcBef>
                <a:spcPts val="1000"/>
              </a:spcBef>
              <a:spcAft>
                <a:spcPts val="0"/>
              </a:spcAft>
              <a:buClr>
                <a:srgbClr val="404040"/>
              </a:buClr>
              <a:buSzPts val="2000"/>
              <a:buChar char="●"/>
            </a:pPr>
            <a:r>
              <a:rPr lang="en" sz="2000">
                <a:solidFill>
                  <a:srgbClr val="404040"/>
                </a:solidFill>
              </a:rPr>
              <a:t>Technical indicators are mostly </a:t>
            </a:r>
            <a:r>
              <a:rPr b="1" lang="en" sz="2000">
                <a:solidFill>
                  <a:srgbClr val="404040"/>
                </a:solidFill>
              </a:rPr>
              <a:t>useless</a:t>
            </a:r>
            <a:r>
              <a:rPr lang="en" sz="2000">
                <a:solidFill>
                  <a:srgbClr val="404040"/>
                </a:solidFill>
              </a:rPr>
              <a:t> on their own</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Must identify a market phenomenon and statistically validate it</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Simplicity and understandability usually are better</a:t>
            </a:r>
            <a:endParaRPr sz="2000">
              <a:solidFill>
                <a:srgbClr val="595959"/>
              </a:solidFill>
            </a:endParaRPr>
          </a:p>
        </p:txBody>
      </p:sp>
      <p:sp>
        <p:nvSpPr>
          <p:cNvPr id="312" name="Google Shape;312;p52"/>
          <p:cNvSpPr txBox="1"/>
          <p:nvPr/>
        </p:nvSpPr>
        <p:spPr>
          <a:xfrm>
            <a:off x="6061900" y="193650"/>
            <a:ext cx="3000000" cy="4756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100"/>
              <a:t>Accumulation/Distribution (AD)</a:t>
            </a:r>
            <a:endParaRPr sz="1100"/>
          </a:p>
          <a:p>
            <a:pPr indent="0" lvl="0" marL="0" rtl="0" algn="l">
              <a:spcBef>
                <a:spcPts val="0"/>
              </a:spcBef>
              <a:spcAft>
                <a:spcPts val="0"/>
              </a:spcAft>
              <a:buNone/>
            </a:pPr>
            <a:r>
              <a:rPr lang="en" sz="1100"/>
              <a:t>Average Directional Movement (ADX)</a:t>
            </a:r>
            <a:endParaRPr sz="1100"/>
          </a:p>
          <a:p>
            <a:pPr indent="0" lvl="0" marL="0" rtl="0" algn="l">
              <a:spcBef>
                <a:spcPts val="0"/>
              </a:spcBef>
              <a:spcAft>
                <a:spcPts val="0"/>
              </a:spcAft>
              <a:buNone/>
            </a:pPr>
            <a:r>
              <a:rPr lang="en" sz="1100"/>
              <a:t>Absolute Price Oscillator (APO)</a:t>
            </a:r>
            <a:endParaRPr sz="1100"/>
          </a:p>
          <a:p>
            <a:pPr indent="0" lvl="0" marL="0" rtl="0" algn="l">
              <a:spcBef>
                <a:spcPts val="0"/>
              </a:spcBef>
              <a:spcAft>
                <a:spcPts val="0"/>
              </a:spcAft>
              <a:buNone/>
            </a:pPr>
            <a:r>
              <a:rPr lang="en" sz="1100"/>
              <a:t>Aroon Oscillator (ARO)</a:t>
            </a:r>
            <a:endParaRPr sz="1100"/>
          </a:p>
          <a:p>
            <a:pPr indent="0" lvl="0" marL="0" rtl="0" algn="l">
              <a:spcBef>
                <a:spcPts val="0"/>
              </a:spcBef>
              <a:spcAft>
                <a:spcPts val="0"/>
              </a:spcAft>
              <a:buNone/>
            </a:pPr>
            <a:r>
              <a:rPr lang="en" sz="1100"/>
              <a:t>Average True Range (ATR)</a:t>
            </a:r>
            <a:endParaRPr sz="1100"/>
          </a:p>
          <a:p>
            <a:pPr indent="0" lvl="0" marL="0" rtl="0" algn="l">
              <a:spcBef>
                <a:spcPts val="0"/>
              </a:spcBef>
              <a:spcAft>
                <a:spcPts val="0"/>
              </a:spcAft>
              <a:buNone/>
            </a:pPr>
            <a:r>
              <a:rPr lang="en" sz="1100"/>
              <a:t>Bollinger Band (BBANDS)</a:t>
            </a:r>
            <a:endParaRPr sz="1100"/>
          </a:p>
          <a:p>
            <a:pPr indent="0" lvl="0" marL="0" rtl="0" algn="l">
              <a:spcBef>
                <a:spcPts val="0"/>
              </a:spcBef>
              <a:spcAft>
                <a:spcPts val="0"/>
              </a:spcAft>
              <a:buNone/>
            </a:pPr>
            <a:r>
              <a:rPr lang="en" sz="1100"/>
              <a:t>Directional Movement Indicators (DMI)</a:t>
            </a:r>
            <a:endParaRPr sz="1100"/>
          </a:p>
          <a:p>
            <a:pPr indent="0" lvl="0" marL="0" rtl="0" algn="l">
              <a:spcBef>
                <a:spcPts val="0"/>
              </a:spcBef>
              <a:spcAft>
                <a:spcPts val="0"/>
              </a:spcAft>
              <a:buNone/>
            </a:pPr>
            <a:r>
              <a:rPr lang="en" sz="1100"/>
              <a:t>Exponential (EMA)</a:t>
            </a:r>
            <a:endParaRPr sz="1100"/>
          </a:p>
          <a:p>
            <a:pPr indent="0" lvl="0" marL="0" rtl="0" algn="l">
              <a:spcBef>
                <a:spcPts val="0"/>
              </a:spcBef>
              <a:spcAft>
                <a:spcPts val="0"/>
              </a:spcAft>
              <a:buNone/>
            </a:pPr>
            <a:r>
              <a:rPr lang="en" sz="1100"/>
              <a:t>Fill Indicator (FILL)</a:t>
            </a:r>
            <a:endParaRPr sz="1100"/>
          </a:p>
          <a:p>
            <a:pPr indent="0" lvl="0" marL="0" rtl="0" algn="l">
              <a:spcBef>
                <a:spcPts val="0"/>
              </a:spcBef>
              <a:spcAft>
                <a:spcPts val="0"/>
              </a:spcAft>
              <a:buNone/>
            </a:pPr>
            <a:r>
              <a:rPr lang="en" sz="1100"/>
              <a:t>Ichimoku (ICH)</a:t>
            </a:r>
            <a:endParaRPr sz="1100"/>
          </a:p>
          <a:p>
            <a:pPr indent="0" lvl="0" marL="0" rtl="0" algn="l">
              <a:spcBef>
                <a:spcPts val="0"/>
              </a:spcBef>
              <a:spcAft>
                <a:spcPts val="0"/>
              </a:spcAft>
              <a:buNone/>
            </a:pPr>
            <a:r>
              <a:rPr lang="en" sz="1100"/>
              <a:t>Keltner Channel (KC)</a:t>
            </a:r>
            <a:endParaRPr sz="1100"/>
          </a:p>
          <a:p>
            <a:pPr indent="0" lvl="0" marL="0" rtl="0" algn="l">
              <a:spcBef>
                <a:spcPts val="0"/>
              </a:spcBef>
              <a:spcAft>
                <a:spcPts val="0"/>
              </a:spcAft>
              <a:buNone/>
            </a:pPr>
            <a:r>
              <a:rPr lang="en" sz="1100"/>
              <a:t>Linear Regression (LR)</a:t>
            </a:r>
            <a:endParaRPr sz="1100"/>
          </a:p>
          <a:p>
            <a:pPr indent="0" lvl="0" marL="0" rtl="0" algn="l">
              <a:spcBef>
                <a:spcPts val="0"/>
              </a:spcBef>
              <a:spcAft>
                <a:spcPts val="0"/>
              </a:spcAft>
              <a:buNone/>
            </a:pPr>
            <a:r>
              <a:rPr lang="en" sz="1100"/>
              <a:t>Moving Average Convergence Divergence (MACD)</a:t>
            </a:r>
            <a:endParaRPr sz="1100"/>
          </a:p>
          <a:p>
            <a:pPr indent="0" lvl="0" marL="0" rtl="0" algn="l">
              <a:spcBef>
                <a:spcPts val="0"/>
              </a:spcBef>
              <a:spcAft>
                <a:spcPts val="0"/>
              </a:spcAft>
              <a:buNone/>
            </a:pPr>
            <a:r>
              <a:rPr lang="en" sz="1100"/>
              <a:t>On Balance Volume (OBV)</a:t>
            </a:r>
            <a:endParaRPr sz="1100"/>
          </a:p>
          <a:p>
            <a:pPr indent="0" lvl="0" marL="0" rtl="0" algn="l">
              <a:spcBef>
                <a:spcPts val="0"/>
              </a:spcBef>
              <a:spcAft>
                <a:spcPts val="0"/>
              </a:spcAft>
              <a:buNone/>
            </a:pPr>
            <a:r>
              <a:rPr lang="en" sz="1100"/>
              <a:t>Relative Strength Indicator (RSI)</a:t>
            </a:r>
            <a:endParaRPr sz="1100"/>
          </a:p>
          <a:p>
            <a:pPr indent="0" lvl="0" marL="0" rtl="0" algn="l">
              <a:spcBef>
                <a:spcPts val="0"/>
              </a:spcBef>
              <a:spcAft>
                <a:spcPts val="0"/>
              </a:spcAft>
              <a:buNone/>
            </a:pPr>
            <a:r>
              <a:rPr lang="en" sz="1100"/>
              <a:t>Parabolic Sar (SAR)</a:t>
            </a:r>
            <a:endParaRPr sz="1100"/>
          </a:p>
          <a:p>
            <a:pPr indent="0" lvl="0" marL="0" rtl="0" algn="l">
              <a:spcBef>
                <a:spcPts val="0"/>
              </a:spcBef>
              <a:spcAft>
                <a:spcPts val="0"/>
              </a:spcAft>
              <a:buNone/>
            </a:pPr>
            <a:r>
              <a:rPr lang="en" sz="1100"/>
              <a:t>Simple Moving Average (SMA)</a:t>
            </a:r>
            <a:endParaRPr sz="1100"/>
          </a:p>
          <a:p>
            <a:pPr indent="0" lvl="0" marL="0" rtl="0" algn="l">
              <a:spcBef>
                <a:spcPts val="0"/>
              </a:spcBef>
              <a:spcAft>
                <a:spcPts val="0"/>
              </a:spcAft>
              <a:buNone/>
            </a:pPr>
            <a:r>
              <a:rPr lang="en" sz="1100"/>
              <a:t>Triple Exponential Moving Average (TEMA)</a:t>
            </a:r>
            <a:endParaRPr sz="1100"/>
          </a:p>
          <a:p>
            <a:pPr indent="0" lvl="0" marL="0" rtl="0" algn="l">
              <a:spcBef>
                <a:spcPts val="0"/>
              </a:spcBef>
              <a:spcAft>
                <a:spcPts val="0"/>
              </a:spcAft>
              <a:buNone/>
            </a:pPr>
            <a:r>
              <a:rPr lang="en" sz="1100"/>
              <a:t>Triangular Moving Average (TRIMA)</a:t>
            </a:r>
            <a:endParaRPr sz="1100"/>
          </a:p>
          <a:p>
            <a:pPr indent="0" lvl="0" marL="0" rtl="0" algn="l">
              <a:spcBef>
                <a:spcPts val="0"/>
              </a:spcBef>
              <a:spcAft>
                <a:spcPts val="0"/>
              </a:spcAft>
              <a:buNone/>
            </a:pPr>
            <a:r>
              <a:rPr lang="en" sz="1100"/>
              <a:t>Triple Exponential Moving Average Oscillator (TRIX)</a:t>
            </a:r>
            <a:endParaRPr sz="1100"/>
          </a:p>
          <a:p>
            <a:pPr indent="0" lvl="0" marL="0" rtl="0" algn="l">
              <a:spcBef>
                <a:spcPts val="0"/>
              </a:spcBef>
              <a:spcAft>
                <a:spcPts val="0"/>
              </a:spcAft>
              <a:buNone/>
            </a:pPr>
            <a:r>
              <a:rPr lang="en" sz="1100"/>
              <a:t>Time Series Forecast (TSF)</a:t>
            </a:r>
            <a:endParaRPr sz="1100"/>
          </a:p>
          <a:p>
            <a:pPr indent="0" lvl="0" marL="0" rtl="0" algn="l">
              <a:spcBef>
                <a:spcPts val="0"/>
              </a:spcBef>
              <a:spcAft>
                <a:spcPts val="0"/>
              </a:spcAft>
              <a:buNone/>
            </a:pPr>
            <a:r>
              <a:rPr lang="en" sz="1100"/>
              <a:t>TT Cumulative Vol Delta (TT CVD)</a:t>
            </a:r>
            <a:endParaRPr sz="1100"/>
          </a:p>
          <a:p>
            <a:pPr indent="0" lvl="0" marL="0" rtl="0" algn="l">
              <a:spcBef>
                <a:spcPts val="0"/>
              </a:spcBef>
              <a:spcAft>
                <a:spcPts val="0"/>
              </a:spcAft>
              <a:buNone/>
            </a:pPr>
            <a:r>
              <a:rPr lang="en" sz="1100"/>
              <a:t>Ultimate Oscillator (ULTOSC)</a:t>
            </a:r>
            <a:endParaRPr sz="1100"/>
          </a:p>
          <a:p>
            <a:pPr indent="0" lvl="0" marL="0" rtl="0" algn="l">
              <a:spcBef>
                <a:spcPts val="0"/>
              </a:spcBef>
              <a:spcAft>
                <a:spcPts val="0"/>
              </a:spcAft>
              <a:buNone/>
            </a:pPr>
            <a:r>
              <a:rPr lang="en" sz="1100"/>
              <a:t>Volume Delta (Vol ∆)</a:t>
            </a:r>
            <a:endParaRPr sz="1100"/>
          </a:p>
          <a:p>
            <a:pPr indent="0" lvl="0" marL="0" rtl="0" algn="l">
              <a:spcBef>
                <a:spcPts val="0"/>
              </a:spcBef>
              <a:spcAft>
                <a:spcPts val="0"/>
              </a:spcAft>
              <a:buNone/>
            </a:pPr>
            <a:r>
              <a:rPr lang="en" sz="1100"/>
              <a:t>Volume Weighted Average Price (VWAP)</a:t>
            </a:r>
            <a:endParaRPr sz="11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17" name="Shape 317"/>
        <p:cNvGrpSpPr/>
        <p:nvPr/>
      </p:nvGrpSpPr>
      <p:grpSpPr>
        <a:xfrm>
          <a:off x="0" y="0"/>
          <a:ext cx="0" cy="0"/>
          <a:chOff x="0" y="0"/>
          <a:chExt cx="0" cy="0"/>
        </a:xfrm>
      </p:grpSpPr>
      <p:pic>
        <p:nvPicPr>
          <p:cNvPr id="318" name="Google Shape;318;p53"/>
          <p:cNvPicPr preferRelativeResize="0"/>
          <p:nvPr/>
        </p:nvPicPr>
        <p:blipFill rotWithShape="1">
          <a:blip r:embed="rId4">
            <a:alphaModFix/>
          </a:blip>
          <a:srcRect b="0" l="0" r="0" t="0"/>
          <a:stretch/>
        </p:blipFill>
        <p:spPr>
          <a:xfrm>
            <a:off x="408425" y="458000"/>
            <a:ext cx="1018725" cy="99575"/>
          </a:xfrm>
          <a:prstGeom prst="rect">
            <a:avLst/>
          </a:prstGeom>
          <a:noFill/>
          <a:ln>
            <a:noFill/>
          </a:ln>
        </p:spPr>
      </p:pic>
      <p:sp>
        <p:nvSpPr>
          <p:cNvPr id="319" name="Google Shape;319;p53"/>
          <p:cNvSpPr txBox="1"/>
          <p:nvPr/>
        </p:nvSpPr>
        <p:spPr>
          <a:xfrm>
            <a:off x="340225" y="609550"/>
            <a:ext cx="4533600" cy="1228800"/>
          </a:xfrm>
          <a:prstGeom prst="rect">
            <a:avLst/>
          </a:prstGeom>
          <a:noFill/>
          <a:ln>
            <a:noFill/>
          </a:ln>
        </p:spPr>
        <p:txBody>
          <a:bodyPr anchorCtr="0" anchor="t" bIns="91425" lIns="91425" spcFirstLastPara="1" rIns="91425" wrap="square" tIns="91425">
            <a:noAutofit/>
          </a:bodyPr>
          <a:lstStyle/>
          <a:p>
            <a:pPr indent="0" lvl="0" marL="0" marR="0" rtl="0" algn="l">
              <a:lnSpc>
                <a:spcPct val="90000"/>
              </a:lnSpc>
              <a:spcBef>
                <a:spcPts val="0"/>
              </a:spcBef>
              <a:spcAft>
                <a:spcPts val="0"/>
              </a:spcAft>
              <a:buClr>
                <a:srgbClr val="000000"/>
              </a:buClr>
              <a:buSzPts val="4200"/>
              <a:buFont typeface="Arial"/>
              <a:buNone/>
            </a:pPr>
            <a:r>
              <a:rPr b="1" lang="en" sz="4200">
                <a:solidFill>
                  <a:schemeClr val="lt1"/>
                </a:solidFill>
                <a:latin typeface="Poppins"/>
                <a:ea typeface="Poppins"/>
                <a:cs typeface="Poppins"/>
                <a:sym typeface="Poppins"/>
              </a:rPr>
              <a:t>Domain Specific Agents</a:t>
            </a:r>
            <a:endParaRPr b="1" i="0" sz="4200" u="none" cap="none" strike="noStrike">
              <a:solidFill>
                <a:schemeClr val="lt1"/>
              </a:solidFill>
              <a:latin typeface="Poppins"/>
              <a:ea typeface="Poppins"/>
              <a:cs typeface="Poppins"/>
              <a:sym typeface="Poppins"/>
            </a:endParaRPr>
          </a:p>
        </p:txBody>
      </p:sp>
      <p:sp>
        <p:nvSpPr>
          <p:cNvPr id="320" name="Google Shape;320;p53"/>
          <p:cNvSpPr txBox="1"/>
          <p:nvPr/>
        </p:nvSpPr>
        <p:spPr>
          <a:xfrm>
            <a:off x="340225" y="2086000"/>
            <a:ext cx="7688700" cy="19242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1200"/>
              </a:spcBef>
              <a:spcAft>
                <a:spcPts val="0"/>
              </a:spcAft>
              <a:buClr>
                <a:srgbClr val="000000"/>
              </a:buClr>
              <a:buSzPts val="1200"/>
              <a:buFont typeface="Arial"/>
              <a:buNone/>
            </a:pPr>
            <a:r>
              <a:rPr lang="en" sz="1600">
                <a:solidFill>
                  <a:schemeClr val="lt1"/>
                </a:solidFill>
                <a:latin typeface="Poppins"/>
                <a:ea typeface="Poppins"/>
                <a:cs typeface="Poppins"/>
                <a:sym typeface="Poppins"/>
              </a:rPr>
              <a:t>There are so many, you can make money if you understand a field well.</a:t>
            </a:r>
            <a:endParaRPr b="0" i="0" sz="1200" u="none" cap="none" strike="noStrike">
              <a:solidFill>
                <a:schemeClr val="lt1"/>
              </a:solidFill>
              <a:latin typeface="Noto Sans Symbols"/>
              <a:ea typeface="Noto Sans Symbols"/>
              <a:cs typeface="Noto Sans Symbols"/>
              <a:sym typeface="Noto Sans Symbols"/>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5" name="Shape 325"/>
        <p:cNvGrpSpPr/>
        <p:nvPr/>
      </p:nvGrpSpPr>
      <p:grpSpPr>
        <a:xfrm>
          <a:off x="0" y="0"/>
          <a:ext cx="0" cy="0"/>
          <a:chOff x="0" y="0"/>
          <a:chExt cx="0" cy="0"/>
        </a:xfrm>
      </p:grpSpPr>
      <p:sp>
        <p:nvSpPr>
          <p:cNvPr id="326" name="Google Shape;326;p5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Arbitrage</a:t>
            </a:r>
            <a:endParaRPr b="1" i="0" sz="4000" u="none" cap="none" strike="noStrike">
              <a:solidFill>
                <a:srgbClr val="6D3BF5"/>
              </a:solidFill>
              <a:latin typeface="Poppins"/>
              <a:ea typeface="Poppins"/>
              <a:cs typeface="Poppins"/>
              <a:sym typeface="Poppins"/>
            </a:endParaRPr>
          </a:p>
        </p:txBody>
      </p:sp>
      <p:pic>
        <p:nvPicPr>
          <p:cNvPr id="327" name="Google Shape;327;p54"/>
          <p:cNvPicPr preferRelativeResize="0"/>
          <p:nvPr/>
        </p:nvPicPr>
        <p:blipFill>
          <a:blip r:embed="rId3">
            <a:alphaModFix/>
          </a:blip>
          <a:stretch>
            <a:fillRect/>
          </a:stretch>
        </p:blipFill>
        <p:spPr>
          <a:xfrm>
            <a:off x="568825" y="897550"/>
            <a:ext cx="8621266" cy="39411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5"/>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Market Making</a:t>
            </a:r>
            <a:endParaRPr b="1" i="0" sz="4000" u="none" cap="none" strike="noStrike">
              <a:solidFill>
                <a:srgbClr val="6D3BF5"/>
              </a:solidFill>
              <a:latin typeface="Poppins"/>
              <a:ea typeface="Poppins"/>
              <a:cs typeface="Poppins"/>
              <a:sym typeface="Poppins"/>
            </a:endParaRPr>
          </a:p>
        </p:txBody>
      </p:sp>
      <p:sp>
        <p:nvSpPr>
          <p:cNvPr id="334" name="Google Shape;334;p55"/>
          <p:cNvSpPr txBox="1"/>
          <p:nvPr/>
        </p:nvSpPr>
        <p:spPr>
          <a:xfrm>
            <a:off x="5214700" y="1207975"/>
            <a:ext cx="3732900" cy="3057300"/>
          </a:xfrm>
          <a:prstGeom prst="rect">
            <a:avLst/>
          </a:prstGeom>
          <a:noFill/>
          <a:ln>
            <a:noFill/>
          </a:ln>
        </p:spPr>
        <p:txBody>
          <a:bodyPr anchorCtr="0" anchor="t" bIns="91425" lIns="91425" spcFirstLastPara="1" rIns="91425" wrap="square" tIns="91425">
            <a:noAutofit/>
          </a:bodyPr>
          <a:lstStyle/>
          <a:p>
            <a:pPr indent="0" lvl="0" marL="0" rtl="0" algn="l">
              <a:lnSpc>
                <a:spcPct val="90000"/>
              </a:lnSpc>
              <a:spcBef>
                <a:spcPts val="1000"/>
              </a:spcBef>
              <a:spcAft>
                <a:spcPts val="0"/>
              </a:spcAft>
              <a:buNone/>
            </a:pPr>
            <a:r>
              <a:t/>
            </a:r>
            <a:endParaRPr sz="1600">
              <a:solidFill>
                <a:srgbClr val="404040"/>
              </a:solidFill>
            </a:endParaRPr>
          </a:p>
          <a:p>
            <a:pPr indent="0" lvl="0" marL="457200" rtl="0" algn="l">
              <a:lnSpc>
                <a:spcPct val="90000"/>
              </a:lnSpc>
              <a:spcBef>
                <a:spcPts val="1000"/>
              </a:spcBef>
              <a:spcAft>
                <a:spcPts val="0"/>
              </a:spcAft>
              <a:buNone/>
            </a:pPr>
            <a:r>
              <a:t/>
            </a:r>
            <a:endParaRPr sz="1600">
              <a:solidFill>
                <a:srgbClr val="404040"/>
              </a:solidFill>
            </a:endParaRPr>
          </a:p>
          <a:p>
            <a:pPr indent="-330200" lvl="0" marL="457200" rtl="0" algn="l">
              <a:lnSpc>
                <a:spcPct val="90000"/>
              </a:lnSpc>
              <a:spcBef>
                <a:spcPts val="1000"/>
              </a:spcBef>
              <a:spcAft>
                <a:spcPts val="0"/>
              </a:spcAft>
              <a:buClr>
                <a:srgbClr val="404040"/>
              </a:buClr>
              <a:buSzPts val="1600"/>
              <a:buChar char="●"/>
            </a:pPr>
            <a:r>
              <a:rPr lang="en" sz="1600">
                <a:solidFill>
                  <a:srgbClr val="404040"/>
                </a:solidFill>
              </a:rPr>
              <a:t>Increase liquidity – rewarded with the spread</a:t>
            </a:r>
            <a:endParaRPr sz="1600">
              <a:solidFill>
                <a:srgbClr val="404040"/>
              </a:solidFill>
            </a:endParaRPr>
          </a:p>
          <a:p>
            <a:pPr indent="-330200" lvl="0" marL="457200" rtl="0" algn="l">
              <a:lnSpc>
                <a:spcPct val="90000"/>
              </a:lnSpc>
              <a:spcBef>
                <a:spcPts val="0"/>
              </a:spcBef>
              <a:spcAft>
                <a:spcPts val="0"/>
              </a:spcAft>
              <a:buClr>
                <a:srgbClr val="404040"/>
              </a:buClr>
              <a:buSzPts val="1600"/>
              <a:buChar char="●"/>
            </a:pPr>
            <a:r>
              <a:rPr lang="en" sz="1600">
                <a:solidFill>
                  <a:srgbClr val="404040"/>
                </a:solidFill>
              </a:rPr>
              <a:t>Be on both sides of the book</a:t>
            </a:r>
            <a:endParaRPr sz="1600">
              <a:solidFill>
                <a:srgbClr val="404040"/>
              </a:solidFill>
            </a:endParaRPr>
          </a:p>
          <a:p>
            <a:pPr indent="-330200" lvl="0" marL="457200" rtl="0" algn="l">
              <a:lnSpc>
                <a:spcPct val="90000"/>
              </a:lnSpc>
              <a:spcBef>
                <a:spcPts val="0"/>
              </a:spcBef>
              <a:spcAft>
                <a:spcPts val="0"/>
              </a:spcAft>
              <a:buClr>
                <a:srgbClr val="404040"/>
              </a:buClr>
              <a:buSzPts val="1600"/>
              <a:buChar char="●"/>
            </a:pPr>
            <a:r>
              <a:rPr lang="en" sz="1600">
                <a:solidFill>
                  <a:srgbClr val="404040"/>
                </a:solidFill>
              </a:rPr>
              <a:t>Can be dangerous in times of volatility — on event contracts the mid IS a probability, and it jumps on news</a:t>
            </a:r>
            <a:endParaRPr sz="1600">
              <a:solidFill>
                <a:srgbClr val="404040"/>
              </a:solidFill>
            </a:endParaRPr>
          </a:p>
        </p:txBody>
      </p:sp>
      <p:graphicFrame>
        <p:nvGraphicFramePr>
          <p:cNvPr id="335" name="Google Shape;335;p55"/>
          <p:cNvGraphicFramePr/>
          <p:nvPr/>
        </p:nvGraphicFramePr>
        <p:xfrm>
          <a:off x="663625" y="1384813"/>
          <a:ext cx="3000000" cy="3000000"/>
        </p:xfrm>
        <a:graphic>
          <a:graphicData uri="http://schemas.openxmlformats.org/drawingml/2006/table">
            <a:tbl>
              <a:tblPr>
                <a:noFill/>
                <a:tableStyleId>{8E988DE2-97A2-416A-9140-A02111780125}</a:tableStyleId>
              </a:tblPr>
              <a:tblGrid>
                <a:gridCol w="1292500"/>
                <a:gridCol w="1275125"/>
                <a:gridCol w="1269325"/>
              </a:tblGrid>
              <a:tr h="210200">
                <a:tc>
                  <a:txBody>
                    <a:bodyPr/>
                    <a:lstStyle/>
                    <a:p>
                      <a:pPr indent="0" lvl="0" marL="0" rtl="0" algn="ctr">
                        <a:lnSpc>
                          <a:spcPct val="115000"/>
                        </a:lnSpc>
                        <a:spcBef>
                          <a:spcPts val="0"/>
                        </a:spcBef>
                        <a:spcAft>
                          <a:spcPts val="0"/>
                        </a:spcAft>
                        <a:buNone/>
                      </a:pPr>
                      <a:r>
                        <a:rPr b="1" lang="en" sz="1300">
                          <a:solidFill>
                            <a:srgbClr val="FFFFFF"/>
                          </a:solidFill>
                        </a:rPr>
                        <a:t>Bids</a:t>
                      </a:r>
                      <a:endParaRPr b="1" sz="1300">
                        <a:solidFill>
                          <a:srgbClr val="FFFFFF"/>
                        </a:solidFill>
                      </a:endParaRPr>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D34817"/>
                    </a:solidFill>
                  </a:tcPr>
                </a:tc>
                <a:tc>
                  <a:txBody>
                    <a:bodyPr/>
                    <a:lstStyle/>
                    <a:p>
                      <a:pPr indent="0" lvl="0" marL="0" rtl="0" algn="ctr">
                        <a:lnSpc>
                          <a:spcPct val="115000"/>
                        </a:lnSpc>
                        <a:spcBef>
                          <a:spcPts val="0"/>
                        </a:spcBef>
                        <a:spcAft>
                          <a:spcPts val="0"/>
                        </a:spcAft>
                        <a:buNone/>
                      </a:pPr>
                      <a:r>
                        <a:rPr b="1" lang="en" sz="1300">
                          <a:solidFill>
                            <a:srgbClr val="FFFFFF"/>
                          </a:solidFill>
                        </a:rPr>
                        <a:t>Price</a:t>
                      </a:r>
                      <a:endParaRPr b="1" sz="1300">
                        <a:solidFill>
                          <a:srgbClr val="FFFFFF"/>
                        </a:solidFill>
                      </a:endParaRPr>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D34817"/>
                    </a:solidFill>
                  </a:tcPr>
                </a:tc>
                <a:tc>
                  <a:txBody>
                    <a:bodyPr/>
                    <a:lstStyle/>
                    <a:p>
                      <a:pPr indent="0" lvl="0" marL="0" rtl="0" algn="ctr">
                        <a:lnSpc>
                          <a:spcPct val="115000"/>
                        </a:lnSpc>
                        <a:spcBef>
                          <a:spcPts val="0"/>
                        </a:spcBef>
                        <a:spcAft>
                          <a:spcPts val="0"/>
                        </a:spcAft>
                        <a:buNone/>
                      </a:pPr>
                      <a:r>
                        <a:rPr b="1" lang="en" sz="1300">
                          <a:solidFill>
                            <a:srgbClr val="FFFFFF"/>
                          </a:solidFill>
                        </a:rPr>
                        <a:t>Asks</a:t>
                      </a:r>
                      <a:endParaRPr b="1" sz="1300">
                        <a:solidFill>
                          <a:srgbClr val="FFFFFF"/>
                        </a:solidFill>
                      </a:endParaRPr>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D34817"/>
                    </a:solidFill>
                  </a:tcPr>
                </a:tc>
              </a:tr>
              <a:tr h="210200">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51¢</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2,1</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r>
              <a:tr h="205075">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50¢</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3,</a:t>
                      </a:r>
                      <a:r>
                        <a:rPr lang="en" sz="1300">
                          <a:solidFill>
                            <a:srgbClr val="FF0000"/>
                          </a:solidFill>
                        </a:rPr>
                        <a:t>7</a:t>
                      </a:r>
                      <a:r>
                        <a:rPr lang="en" sz="1300"/>
                        <a:t>,8</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r>
              <a:tr h="205075">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49¢</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5,2,15</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r>
              <a:tr h="205075">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48¢</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1,</a:t>
                      </a:r>
                      <a:r>
                        <a:rPr lang="en" sz="1300">
                          <a:solidFill>
                            <a:srgbClr val="FF0000"/>
                          </a:solidFill>
                        </a:rPr>
                        <a:t>2</a:t>
                      </a:r>
                      <a:r>
                        <a:rPr lang="en" sz="1300"/>
                        <a:t>,5</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r>
              <a:tr h="205075">
                <a:tc>
                  <a:txBody>
                    <a:bodyPr/>
                    <a:lstStyle/>
                    <a:p>
                      <a:pPr indent="0" lvl="0" marL="0" rtl="0" algn="ctr">
                        <a:lnSpc>
                          <a:spcPct val="115000"/>
                        </a:lnSpc>
                        <a:spcBef>
                          <a:spcPts val="0"/>
                        </a:spcBef>
                        <a:spcAft>
                          <a:spcPts val="0"/>
                        </a:spcAft>
                        <a:buNone/>
                      </a:pPr>
                      <a:r>
                        <a:rPr lang="en" sz="1300"/>
                        <a:t>1,</a:t>
                      </a:r>
                      <a:r>
                        <a:rPr lang="en" sz="1300">
                          <a:solidFill>
                            <a:srgbClr val="FF0000"/>
                          </a:solidFill>
                        </a:rPr>
                        <a:t>2</a:t>
                      </a:r>
                      <a:endParaRPr sz="1300">
                        <a:solidFill>
                          <a:srgbClr val="FF0000"/>
                        </a:solidFill>
                      </a:endParaRPr>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47¢</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r>
              <a:tr h="205075">
                <a:tc>
                  <a:txBody>
                    <a:bodyPr/>
                    <a:lstStyle/>
                    <a:p>
                      <a:pPr indent="0" lvl="0" marL="0" rtl="0" algn="ctr">
                        <a:lnSpc>
                          <a:spcPct val="115000"/>
                        </a:lnSpc>
                        <a:spcBef>
                          <a:spcPts val="0"/>
                        </a:spcBef>
                        <a:spcAft>
                          <a:spcPts val="0"/>
                        </a:spcAft>
                        <a:buNone/>
                      </a:pPr>
                      <a:r>
                        <a:rPr lang="en" sz="1300"/>
                        <a:t>2,</a:t>
                      </a:r>
                      <a:r>
                        <a:rPr lang="en" sz="1300">
                          <a:solidFill>
                            <a:srgbClr val="FF0000"/>
                          </a:solidFill>
                        </a:rPr>
                        <a:t>5</a:t>
                      </a:r>
                      <a:r>
                        <a:rPr lang="en" sz="1300"/>
                        <a:t>,8</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46¢</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r>
              <a:tr h="205075">
                <a:tc>
                  <a:txBody>
                    <a:bodyPr/>
                    <a:lstStyle/>
                    <a:p>
                      <a:pPr indent="0" lvl="0" marL="0" rtl="0" algn="ctr">
                        <a:lnSpc>
                          <a:spcPct val="115000"/>
                        </a:lnSpc>
                        <a:spcBef>
                          <a:spcPts val="0"/>
                        </a:spcBef>
                        <a:spcAft>
                          <a:spcPts val="0"/>
                        </a:spcAft>
                        <a:buNone/>
                      </a:pPr>
                      <a:r>
                        <a:rPr lang="en" sz="1300"/>
                        <a:t>3,8,1,5,3</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ctr">
                        <a:lnSpc>
                          <a:spcPct val="115000"/>
                        </a:lnSpc>
                        <a:spcBef>
                          <a:spcPts val="0"/>
                        </a:spcBef>
                        <a:spcAft>
                          <a:spcPts val="0"/>
                        </a:spcAft>
                        <a:buNone/>
                      </a:pPr>
                      <a:r>
                        <a:rPr lang="en" sz="1300"/>
                        <a:t>45¢</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FCFCC"/>
                    </a:solidFill>
                  </a:tcPr>
                </a:tc>
              </a:tr>
              <a:tr h="205075">
                <a:tc>
                  <a:txBody>
                    <a:bodyPr/>
                    <a:lstStyle/>
                    <a:p>
                      <a:pPr indent="0" lvl="0" marL="0" rtl="0" algn="ctr">
                        <a:lnSpc>
                          <a:spcPct val="115000"/>
                        </a:lnSpc>
                        <a:spcBef>
                          <a:spcPts val="0"/>
                        </a:spcBef>
                        <a:spcAft>
                          <a:spcPts val="0"/>
                        </a:spcAft>
                        <a:buNone/>
                      </a:pPr>
                      <a:r>
                        <a:rPr lang="en" sz="1300"/>
                        <a:t>2,3</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ctr">
                        <a:lnSpc>
                          <a:spcPct val="115000"/>
                        </a:lnSpc>
                        <a:spcBef>
                          <a:spcPts val="0"/>
                        </a:spcBef>
                        <a:spcAft>
                          <a:spcPts val="0"/>
                        </a:spcAft>
                        <a:buNone/>
                      </a:pPr>
                      <a:r>
                        <a:rPr lang="en" sz="1300"/>
                        <a:t>42¢</a:t>
                      </a:r>
                      <a:endParaRPr sz="13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c>
                  <a:txBody>
                    <a:bodyPr/>
                    <a:lstStyle/>
                    <a:p>
                      <a:pPr indent="0" lvl="0" marL="0" rtl="0" algn="l">
                        <a:spcBef>
                          <a:spcPts val="0"/>
                        </a:spcBef>
                        <a:spcAft>
                          <a:spcPts val="0"/>
                        </a:spcAft>
                        <a:buNone/>
                      </a:pPr>
                      <a:r>
                        <a:t/>
                      </a:r>
                      <a:endParaRPr sz="900"/>
                    </a:p>
                  </a:txBody>
                  <a:tcPr marT="45725" marB="45725" marR="91450" marL="91450">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F7E9E7"/>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6"/>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Election Prediction</a:t>
            </a:r>
            <a:endParaRPr b="1" i="0" sz="4000" u="none" cap="none" strike="noStrike">
              <a:solidFill>
                <a:srgbClr val="6D3BF5"/>
              </a:solidFill>
              <a:latin typeface="Poppins"/>
              <a:ea typeface="Poppins"/>
              <a:cs typeface="Poppins"/>
              <a:sym typeface="Poppins"/>
            </a:endParaRPr>
          </a:p>
        </p:txBody>
      </p:sp>
      <p:sp>
        <p:nvSpPr>
          <p:cNvPr id="342" name="Google Shape;342;p56"/>
          <p:cNvSpPr txBox="1"/>
          <p:nvPr/>
        </p:nvSpPr>
        <p:spPr>
          <a:xfrm>
            <a:off x="3466125" y="1207982"/>
            <a:ext cx="5481300" cy="3057300"/>
          </a:xfrm>
          <a:prstGeom prst="rect">
            <a:avLst/>
          </a:prstGeom>
          <a:noFill/>
          <a:ln>
            <a:noFill/>
          </a:ln>
        </p:spPr>
        <p:txBody>
          <a:bodyPr anchorCtr="0" anchor="t" bIns="91425" lIns="91425" spcFirstLastPara="1" rIns="91425" wrap="square" tIns="91425">
            <a:noAutofit/>
          </a:bodyPr>
          <a:lstStyle/>
          <a:p>
            <a:pPr indent="-349250" lvl="0" marL="457200" rtl="0" algn="l">
              <a:lnSpc>
                <a:spcPct val="90000"/>
              </a:lnSpc>
              <a:spcBef>
                <a:spcPts val="1000"/>
              </a:spcBef>
              <a:spcAft>
                <a:spcPts val="0"/>
              </a:spcAft>
              <a:buClr>
                <a:srgbClr val="404040"/>
              </a:buClr>
              <a:buSzPts val="1900"/>
              <a:buChar char="●"/>
            </a:pPr>
            <a:r>
              <a:rPr lang="en" sz="1900">
                <a:solidFill>
                  <a:srgbClr val="404040"/>
                </a:solidFill>
              </a:rPr>
              <a:t>2024: we used a DNN + engineered features to predict the election and the expected market reaction</a:t>
            </a:r>
            <a:endParaRPr sz="1900">
              <a:solidFill>
                <a:srgbClr val="404040"/>
              </a:solidFill>
            </a:endParaRPr>
          </a:p>
          <a:p>
            <a:pPr indent="-349250" lvl="0" marL="457200" rtl="0" algn="l">
              <a:lnSpc>
                <a:spcPct val="90000"/>
              </a:lnSpc>
              <a:spcBef>
                <a:spcPts val="0"/>
              </a:spcBef>
              <a:spcAft>
                <a:spcPts val="0"/>
              </a:spcAft>
              <a:buClr>
                <a:srgbClr val="404040"/>
              </a:buClr>
              <a:buSzPts val="1900"/>
              <a:buChar char="●"/>
            </a:pPr>
            <a:r>
              <a:rPr lang="en" sz="1900">
                <a:solidFill>
                  <a:srgbClr val="404040"/>
                </a:solidFill>
              </a:rPr>
              <a:t>Python utilizing Tensorflow</a:t>
            </a:r>
            <a:endParaRPr sz="1900">
              <a:solidFill>
                <a:srgbClr val="404040"/>
              </a:solidFill>
            </a:endParaRPr>
          </a:p>
          <a:p>
            <a:pPr indent="-349250" lvl="0" marL="457200" rtl="0" algn="l">
              <a:lnSpc>
                <a:spcPct val="90000"/>
              </a:lnSpc>
              <a:spcBef>
                <a:spcPts val="0"/>
              </a:spcBef>
              <a:spcAft>
                <a:spcPts val="0"/>
              </a:spcAft>
              <a:buClr>
                <a:srgbClr val="404040"/>
              </a:buClr>
              <a:buSzPts val="1900"/>
              <a:buChar char="●"/>
            </a:pPr>
            <a:r>
              <a:rPr lang="en" sz="1900">
                <a:solidFill>
                  <a:srgbClr val="404040"/>
                </a:solidFill>
              </a:rPr>
              <a:t>Identify the sources of data and the resulting outputs</a:t>
            </a:r>
            <a:endParaRPr sz="1900">
              <a:solidFill>
                <a:srgbClr val="404040"/>
              </a:solidFill>
            </a:endParaRPr>
          </a:p>
          <a:p>
            <a:pPr indent="-349250" lvl="0" marL="457200" rtl="0" algn="l">
              <a:lnSpc>
                <a:spcPct val="90000"/>
              </a:lnSpc>
              <a:spcBef>
                <a:spcPts val="0"/>
              </a:spcBef>
              <a:spcAft>
                <a:spcPts val="0"/>
              </a:spcAft>
              <a:buClr>
                <a:srgbClr val="404040"/>
              </a:buClr>
              <a:buSzPts val="1900"/>
              <a:buChar char="●"/>
            </a:pPr>
            <a:r>
              <a:rPr lang="en" sz="1900">
                <a:solidFill>
                  <a:srgbClr val="404040"/>
                </a:solidFill>
              </a:rPr>
              <a:t>2026: the market IS the forecast — today we quote it live instead of predicting it</a:t>
            </a:r>
            <a:endParaRPr sz="1900">
              <a:solidFill>
                <a:srgbClr val="404040"/>
              </a:solidFill>
            </a:endParaRPr>
          </a:p>
        </p:txBody>
      </p:sp>
      <p:pic>
        <p:nvPicPr>
          <p:cNvPr id="343" name="Google Shape;343;p56"/>
          <p:cNvPicPr preferRelativeResize="0"/>
          <p:nvPr/>
        </p:nvPicPr>
        <p:blipFill>
          <a:blip r:embed="rId3">
            <a:alphaModFix/>
          </a:blip>
          <a:stretch>
            <a:fillRect/>
          </a:stretch>
        </p:blipFill>
        <p:spPr>
          <a:xfrm>
            <a:off x="769974" y="1049950"/>
            <a:ext cx="2374400" cy="3127650"/>
          </a:xfrm>
          <a:prstGeom prst="rect">
            <a:avLst/>
          </a:prstGeom>
          <a:noFill/>
          <a:ln>
            <a:noFill/>
          </a:ln>
        </p:spPr>
      </p:pic>
      <p:sp>
        <p:nvSpPr>
          <p:cNvPr id="344" name="Google Shape;344;p56"/>
          <p:cNvSpPr txBox="1"/>
          <p:nvPr/>
        </p:nvSpPr>
        <p:spPr>
          <a:xfrm>
            <a:off x="3330400" y="4016950"/>
            <a:ext cx="53169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
              <a:t>Our code here:</a:t>
            </a:r>
            <a:br>
              <a:rPr b="1" lang="en"/>
            </a:br>
            <a:r>
              <a:rPr b="1" lang="en"/>
              <a:t>https://github.com/athaker/econ_136/tree/master/2024</a:t>
            </a:r>
            <a:endParaRPr b="1"/>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sp>
        <p:nvSpPr>
          <p:cNvPr id="350" name="Google Shape;350;p57"/>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Aerial Imagery</a:t>
            </a:r>
            <a:endParaRPr b="1" i="0" sz="4000" u="none" cap="none" strike="noStrike">
              <a:solidFill>
                <a:srgbClr val="6D3BF5"/>
              </a:solidFill>
              <a:latin typeface="Poppins"/>
              <a:ea typeface="Poppins"/>
              <a:cs typeface="Poppins"/>
              <a:sym typeface="Poppins"/>
            </a:endParaRPr>
          </a:p>
        </p:txBody>
      </p:sp>
      <p:sp>
        <p:nvSpPr>
          <p:cNvPr id="351" name="Google Shape;351;p57"/>
          <p:cNvSpPr txBox="1"/>
          <p:nvPr/>
        </p:nvSpPr>
        <p:spPr>
          <a:xfrm>
            <a:off x="3466125" y="1207982"/>
            <a:ext cx="5481300" cy="3057300"/>
          </a:xfrm>
          <a:prstGeom prst="rect">
            <a:avLst/>
          </a:prstGeom>
          <a:noFill/>
          <a:ln>
            <a:noFill/>
          </a:ln>
        </p:spPr>
        <p:txBody>
          <a:bodyPr anchorCtr="0" anchor="t" bIns="91425" lIns="91425" spcFirstLastPara="1" rIns="91425" wrap="square" tIns="91425">
            <a:noAutofit/>
          </a:bodyPr>
          <a:lstStyle/>
          <a:p>
            <a:pPr indent="-330200" lvl="0" marL="457200" rtl="0" algn="l">
              <a:lnSpc>
                <a:spcPct val="90000"/>
              </a:lnSpc>
              <a:spcBef>
                <a:spcPts val="1000"/>
              </a:spcBef>
              <a:spcAft>
                <a:spcPts val="0"/>
              </a:spcAft>
              <a:buClr>
                <a:srgbClr val="404040"/>
              </a:buClr>
              <a:buSzPts val="1600"/>
              <a:buChar char="●"/>
            </a:pPr>
            <a:r>
              <a:rPr lang="en" sz="1600">
                <a:solidFill>
                  <a:srgbClr val="404040"/>
                </a:solidFill>
              </a:rPr>
              <a:t>Thesis:</a:t>
            </a:r>
            <a:endParaRPr sz="1600">
              <a:solidFill>
                <a:srgbClr val="404040"/>
              </a:solidFill>
            </a:endParaRPr>
          </a:p>
          <a:p>
            <a:pPr indent="-330200" lvl="1" marL="914400" rtl="0" algn="l">
              <a:lnSpc>
                <a:spcPct val="90000"/>
              </a:lnSpc>
              <a:spcBef>
                <a:spcPts val="0"/>
              </a:spcBef>
              <a:spcAft>
                <a:spcPts val="0"/>
              </a:spcAft>
              <a:buClr>
                <a:srgbClr val="404040"/>
              </a:buClr>
              <a:buSzPts val="1600"/>
              <a:buChar char="○"/>
            </a:pPr>
            <a:r>
              <a:rPr lang="en" sz="1600">
                <a:solidFill>
                  <a:srgbClr val="404040"/>
                </a:solidFill>
              </a:rPr>
              <a:t>Crop health can be influence the spot price of a </a:t>
            </a:r>
            <a:r>
              <a:rPr lang="en" sz="1600">
                <a:solidFill>
                  <a:srgbClr val="404040"/>
                </a:solidFill>
              </a:rPr>
              <a:t>tradable</a:t>
            </a:r>
            <a:r>
              <a:rPr lang="en" sz="1600">
                <a:solidFill>
                  <a:srgbClr val="404040"/>
                </a:solidFill>
              </a:rPr>
              <a:t> good</a:t>
            </a:r>
            <a:endParaRPr sz="1600">
              <a:solidFill>
                <a:srgbClr val="404040"/>
              </a:solidFill>
            </a:endParaRPr>
          </a:p>
          <a:p>
            <a:pPr indent="-330200" lvl="0" marL="457200" rtl="0" algn="l">
              <a:lnSpc>
                <a:spcPct val="90000"/>
              </a:lnSpc>
              <a:spcBef>
                <a:spcPts val="0"/>
              </a:spcBef>
              <a:spcAft>
                <a:spcPts val="0"/>
              </a:spcAft>
              <a:buClr>
                <a:srgbClr val="404040"/>
              </a:buClr>
              <a:buSzPts val="1600"/>
              <a:buChar char="●"/>
            </a:pPr>
            <a:r>
              <a:rPr lang="en" sz="1600">
                <a:solidFill>
                  <a:srgbClr val="404040"/>
                </a:solidFill>
              </a:rPr>
              <a:t>Execution:</a:t>
            </a:r>
            <a:endParaRPr sz="1600">
              <a:solidFill>
                <a:srgbClr val="404040"/>
              </a:solidFill>
            </a:endParaRPr>
          </a:p>
          <a:p>
            <a:pPr indent="-330200" lvl="1" marL="914400" rtl="0" algn="l">
              <a:lnSpc>
                <a:spcPct val="90000"/>
              </a:lnSpc>
              <a:spcBef>
                <a:spcPts val="0"/>
              </a:spcBef>
              <a:spcAft>
                <a:spcPts val="0"/>
              </a:spcAft>
              <a:buClr>
                <a:srgbClr val="404040"/>
              </a:buClr>
              <a:buSzPts val="1600"/>
              <a:buChar char="○"/>
            </a:pPr>
            <a:r>
              <a:rPr lang="en" sz="1600">
                <a:solidFill>
                  <a:srgbClr val="404040"/>
                </a:solidFill>
              </a:rPr>
              <a:t>Take aerial imagery of Hard Red Winter wheat farms, use that as a proxy for health</a:t>
            </a:r>
            <a:endParaRPr sz="1600">
              <a:solidFill>
                <a:srgbClr val="404040"/>
              </a:solidFill>
            </a:endParaRPr>
          </a:p>
          <a:p>
            <a:pPr indent="-330200" lvl="1" marL="914400" rtl="0" algn="l">
              <a:lnSpc>
                <a:spcPct val="90000"/>
              </a:lnSpc>
              <a:spcBef>
                <a:spcPts val="0"/>
              </a:spcBef>
              <a:spcAft>
                <a:spcPts val="0"/>
              </a:spcAft>
              <a:buClr>
                <a:srgbClr val="404040"/>
              </a:buClr>
              <a:buSzPts val="1600"/>
              <a:buChar char="○"/>
            </a:pPr>
            <a:r>
              <a:rPr lang="en" sz="1600">
                <a:solidFill>
                  <a:srgbClr val="404040"/>
                </a:solidFill>
              </a:rPr>
              <a:t>Google Earth gives us free historical imagery over time</a:t>
            </a:r>
            <a:endParaRPr sz="1600">
              <a:solidFill>
                <a:srgbClr val="404040"/>
              </a:solidFill>
            </a:endParaRPr>
          </a:p>
          <a:p>
            <a:pPr indent="-330200" lvl="0" marL="457200" rtl="0" algn="l">
              <a:lnSpc>
                <a:spcPct val="90000"/>
              </a:lnSpc>
              <a:spcBef>
                <a:spcPts val="0"/>
              </a:spcBef>
              <a:spcAft>
                <a:spcPts val="0"/>
              </a:spcAft>
              <a:buClr>
                <a:srgbClr val="404040"/>
              </a:buClr>
              <a:buSzPts val="1600"/>
              <a:buChar char="●"/>
            </a:pPr>
            <a:r>
              <a:rPr lang="en" sz="1600">
                <a:solidFill>
                  <a:srgbClr val="404040"/>
                </a:solidFill>
              </a:rPr>
              <a:t>Machine Learning:</a:t>
            </a:r>
            <a:endParaRPr sz="1600">
              <a:solidFill>
                <a:srgbClr val="404040"/>
              </a:solidFill>
            </a:endParaRPr>
          </a:p>
          <a:p>
            <a:pPr indent="-330200" lvl="1" marL="914400" rtl="0" algn="l">
              <a:lnSpc>
                <a:spcPct val="90000"/>
              </a:lnSpc>
              <a:spcBef>
                <a:spcPts val="0"/>
              </a:spcBef>
              <a:spcAft>
                <a:spcPts val="0"/>
              </a:spcAft>
              <a:buClr>
                <a:srgbClr val="404040"/>
              </a:buClr>
              <a:buSzPts val="1600"/>
              <a:buChar char="○"/>
            </a:pPr>
            <a:r>
              <a:rPr lang="en" sz="1600">
                <a:solidFill>
                  <a:srgbClr val="404040"/>
                </a:solidFill>
              </a:rPr>
              <a:t>ML models can ”learn” the influence of crop health from market prices</a:t>
            </a:r>
            <a:endParaRPr sz="1600">
              <a:solidFill>
                <a:srgbClr val="404040"/>
              </a:solidFill>
            </a:endParaRPr>
          </a:p>
          <a:p>
            <a:pPr indent="-330200" lvl="1" marL="914400" rtl="0" algn="l">
              <a:lnSpc>
                <a:spcPct val="90000"/>
              </a:lnSpc>
              <a:spcBef>
                <a:spcPts val="0"/>
              </a:spcBef>
              <a:spcAft>
                <a:spcPts val="0"/>
              </a:spcAft>
              <a:buClr>
                <a:srgbClr val="404040"/>
              </a:buClr>
              <a:buSzPts val="1600"/>
              <a:buChar char="○"/>
            </a:pPr>
            <a:r>
              <a:rPr lang="en" sz="1600">
                <a:solidFill>
                  <a:srgbClr val="404040"/>
                </a:solidFill>
              </a:rPr>
              <a:t>Use pretrained models that have been trained on large datasets</a:t>
            </a:r>
            <a:endParaRPr sz="1600">
              <a:solidFill>
                <a:srgbClr val="404040"/>
              </a:solidFill>
            </a:endParaRPr>
          </a:p>
          <a:p>
            <a:pPr indent="0" lvl="0" marL="0" rtl="0" algn="l">
              <a:lnSpc>
                <a:spcPct val="90000"/>
              </a:lnSpc>
              <a:spcBef>
                <a:spcPts val="1000"/>
              </a:spcBef>
              <a:spcAft>
                <a:spcPts val="0"/>
              </a:spcAft>
              <a:buNone/>
            </a:pPr>
            <a:r>
              <a:t/>
            </a:r>
            <a:endParaRPr sz="1600">
              <a:solidFill>
                <a:srgbClr val="404040"/>
              </a:solidFill>
            </a:endParaRPr>
          </a:p>
        </p:txBody>
      </p:sp>
      <p:pic>
        <p:nvPicPr>
          <p:cNvPr id="352" name="Google Shape;352;p57"/>
          <p:cNvPicPr preferRelativeResize="0"/>
          <p:nvPr/>
        </p:nvPicPr>
        <p:blipFill>
          <a:blip r:embed="rId3">
            <a:alphaModFix/>
          </a:blip>
          <a:stretch>
            <a:fillRect/>
          </a:stretch>
        </p:blipFill>
        <p:spPr>
          <a:xfrm>
            <a:off x="196200" y="1793975"/>
            <a:ext cx="3161326" cy="1885300"/>
          </a:xfrm>
          <a:prstGeom prst="rect">
            <a:avLst/>
          </a:prstGeom>
          <a:noFill/>
          <a:ln>
            <a:noFill/>
          </a:ln>
        </p:spPr>
      </p:pic>
      <p:sp>
        <p:nvSpPr>
          <p:cNvPr id="353" name="Google Shape;353;p57"/>
          <p:cNvSpPr txBox="1"/>
          <p:nvPr/>
        </p:nvSpPr>
        <p:spPr>
          <a:xfrm>
            <a:off x="2600050" y="4575700"/>
            <a:ext cx="79911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 sz="1200"/>
              <a:t>Our Model Here: </a:t>
            </a:r>
            <a:r>
              <a:rPr lang="en" sz="1200"/>
              <a:t>https://github.com/athaker/econ_136/tree/master/archived_lectures/2019</a:t>
            </a:r>
            <a:endParaRPr sz="1200"/>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358" name="Shape 358"/>
        <p:cNvGrpSpPr/>
        <p:nvPr/>
      </p:nvGrpSpPr>
      <p:grpSpPr>
        <a:xfrm>
          <a:off x="0" y="0"/>
          <a:ext cx="0" cy="0"/>
          <a:chOff x="0" y="0"/>
          <a:chExt cx="0" cy="0"/>
        </a:xfrm>
      </p:grpSpPr>
      <p:pic>
        <p:nvPicPr>
          <p:cNvPr id="359" name="Google Shape;359;p58"/>
          <p:cNvPicPr preferRelativeResize="0"/>
          <p:nvPr/>
        </p:nvPicPr>
        <p:blipFill rotWithShape="1">
          <a:blip r:embed="rId4">
            <a:alphaModFix/>
          </a:blip>
          <a:srcRect b="0" l="0" r="0" t="0"/>
          <a:stretch/>
        </p:blipFill>
        <p:spPr>
          <a:xfrm>
            <a:off x="3306862" y="1024611"/>
            <a:ext cx="2390999" cy="1804855"/>
          </a:xfrm>
          <a:prstGeom prst="rect">
            <a:avLst/>
          </a:prstGeom>
          <a:noFill/>
          <a:ln>
            <a:noFill/>
          </a:ln>
        </p:spPr>
      </p:pic>
      <p:sp>
        <p:nvSpPr>
          <p:cNvPr id="360" name="Google Shape;360;p58"/>
          <p:cNvSpPr txBox="1"/>
          <p:nvPr/>
        </p:nvSpPr>
        <p:spPr>
          <a:xfrm>
            <a:off x="340225" y="2633650"/>
            <a:ext cx="8354400" cy="757800"/>
          </a:xfrm>
          <a:prstGeom prst="rect">
            <a:avLst/>
          </a:prstGeom>
          <a:noFill/>
          <a:ln>
            <a:noFill/>
          </a:ln>
        </p:spPr>
        <p:txBody>
          <a:bodyPr anchorCtr="0" anchor="t" bIns="91425" lIns="91425" spcFirstLastPara="1" rIns="91425" wrap="square" tIns="91425">
            <a:noAutofit/>
          </a:bodyPr>
          <a:lstStyle/>
          <a:p>
            <a:pPr indent="0" lvl="0" marL="0" marR="0" rtl="0" algn="ctr">
              <a:lnSpc>
                <a:spcPct val="90000"/>
              </a:lnSpc>
              <a:spcBef>
                <a:spcPts val="0"/>
              </a:spcBef>
              <a:spcAft>
                <a:spcPts val="0"/>
              </a:spcAft>
              <a:buClr>
                <a:srgbClr val="000000"/>
              </a:buClr>
              <a:buSzPts val="4200"/>
              <a:buFont typeface="Arial"/>
              <a:buNone/>
            </a:pPr>
            <a:r>
              <a:rPr b="1" i="0" lang="en" sz="4200" u="none" cap="none" strike="noStrike">
                <a:solidFill>
                  <a:srgbClr val="73F1BC"/>
                </a:solidFill>
                <a:latin typeface="Poppins"/>
                <a:ea typeface="Poppins"/>
                <a:cs typeface="Poppins"/>
                <a:sym typeface="Poppins"/>
              </a:rPr>
              <a:t>Thank You!</a:t>
            </a:r>
            <a:endParaRPr b="1" i="0" sz="4200" u="none" cap="none" strike="noStrike">
              <a:solidFill>
                <a:srgbClr val="73F1BC"/>
              </a:solidFill>
              <a:latin typeface="Poppins"/>
              <a:ea typeface="Poppins"/>
              <a:cs typeface="Poppins"/>
              <a:sym typeface="Poppi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4" name="Shape 364"/>
        <p:cNvGrpSpPr/>
        <p:nvPr/>
      </p:nvGrpSpPr>
      <p:grpSpPr>
        <a:xfrm>
          <a:off x="0" y="0"/>
          <a:ext cx="0" cy="0"/>
          <a:chOff x="0" y="0"/>
          <a:chExt cx="0" cy="0"/>
        </a:xfrm>
      </p:grpSpPr>
      <p:sp>
        <p:nvSpPr>
          <p:cNvPr id="365" name="Google Shape;365;p59"/>
          <p:cNvSpPr txBox="1"/>
          <p:nvPr>
            <p:ph idx="12" type="sldNum"/>
          </p:nvPr>
        </p:nvSpPr>
        <p:spPr>
          <a:xfrm>
            <a:off x="4484637" y="4905375"/>
            <a:ext cx="170100" cy="177000"/>
          </a:xfrm>
          <a:prstGeom prst="rect">
            <a:avLst/>
          </a:prstGeom>
        </p:spPr>
        <p:txBody>
          <a:bodyPr anchorCtr="0" anchor="ctr" bIns="91425" lIns="91425" spcFirstLastPara="1" rIns="91425" wrap="square" tIns="91425">
            <a:normAutofit fontScale="25000" lnSpcReduction="20000"/>
          </a:bodyPr>
          <a:lstStyle/>
          <a:p>
            <a:pPr indent="0" lvl="0" marL="0" rtl="0" algn="r">
              <a:spcBef>
                <a:spcPts val="0"/>
              </a:spcBef>
              <a:spcAft>
                <a:spcPts val="0"/>
              </a:spcAft>
              <a:buClr>
                <a:srgbClr val="000000"/>
              </a:buClr>
              <a:buSzPct val="180000"/>
              <a:buFont typeface="Helvetica Neue Light"/>
              <a:buNone/>
            </a:pPr>
            <a:fld id="{00000000-1234-1234-1234-123412341234}" type="slidenum">
              <a:rPr lang="en"/>
              <a:t>‹#›</a:t>
            </a:fld>
            <a:endParaRPr sz="500">
              <a:latin typeface="Arial"/>
              <a:ea typeface="Arial"/>
              <a:cs typeface="Arial"/>
              <a:sym typeface="Arial"/>
            </a:endParaRPr>
          </a:p>
        </p:txBody>
      </p:sp>
      <p:sp>
        <p:nvSpPr>
          <p:cNvPr id="366" name="Google Shape;366;p59"/>
          <p:cNvSpPr txBox="1"/>
          <p:nvPr>
            <p:ph type="title"/>
          </p:nvPr>
        </p:nvSpPr>
        <p:spPr>
          <a:xfrm>
            <a:off x="140125" y="124825"/>
            <a:ext cx="3968700" cy="5172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Why The Name Tauroi</a:t>
            </a:r>
            <a:endParaRPr/>
          </a:p>
        </p:txBody>
      </p:sp>
      <p:sp>
        <p:nvSpPr>
          <p:cNvPr id="367" name="Google Shape;367;p59"/>
          <p:cNvSpPr txBox="1"/>
          <p:nvPr/>
        </p:nvSpPr>
        <p:spPr>
          <a:xfrm>
            <a:off x="2931350" y="1695800"/>
            <a:ext cx="3335400" cy="731100"/>
          </a:xfrm>
          <a:prstGeom prst="rect">
            <a:avLst/>
          </a:prstGeom>
          <a:noFill/>
          <a:ln>
            <a:noFill/>
          </a:ln>
        </p:spPr>
        <p:txBody>
          <a:bodyPr anchorCtr="0" anchor="ctr" bIns="19050" lIns="19050" spcFirstLastPara="1" rIns="19050" wrap="square" tIns="19050">
            <a:spAutoFit/>
          </a:bodyPr>
          <a:lstStyle/>
          <a:p>
            <a:pPr indent="0" lvl="0" marL="0" marR="0" rtl="0" algn="ctr">
              <a:lnSpc>
                <a:spcPct val="100000"/>
              </a:lnSpc>
              <a:spcBef>
                <a:spcPts val="0"/>
              </a:spcBef>
              <a:spcAft>
                <a:spcPts val="0"/>
              </a:spcAft>
              <a:buClr>
                <a:srgbClr val="FFFFFF"/>
              </a:buClr>
              <a:buSzPts val="4500"/>
              <a:buFont typeface="Helvetica Neue"/>
              <a:buNone/>
            </a:pPr>
            <a:r>
              <a:rPr b="1" i="0" lang="en" sz="4500" u="none" cap="none" strike="noStrike">
                <a:solidFill>
                  <a:srgbClr val="FFFFFF"/>
                </a:solidFill>
              </a:rPr>
              <a:t>Tau</a:t>
            </a:r>
            <a:r>
              <a:rPr b="1" i="0" lang="en" sz="4500" u="none" cap="none" strike="noStrike">
                <a:solidFill>
                  <a:srgbClr val="AC914D"/>
                </a:solidFill>
              </a:rPr>
              <a:t> + </a:t>
            </a:r>
            <a:r>
              <a:rPr b="1" i="0" lang="en" sz="4500" u="none" cap="none" strike="noStrike">
                <a:solidFill>
                  <a:srgbClr val="FFFFFF"/>
                </a:solidFill>
              </a:rPr>
              <a:t>ROI</a:t>
            </a:r>
            <a:endParaRPr sz="500"/>
          </a:p>
        </p:txBody>
      </p:sp>
      <p:sp>
        <p:nvSpPr>
          <p:cNvPr id="368" name="Google Shape;368;p59"/>
          <p:cNvSpPr txBox="1"/>
          <p:nvPr/>
        </p:nvSpPr>
        <p:spPr>
          <a:xfrm>
            <a:off x="1338900" y="2607275"/>
            <a:ext cx="2885400" cy="598500"/>
          </a:xfrm>
          <a:prstGeom prst="rect">
            <a:avLst/>
          </a:prstGeom>
          <a:noFill/>
          <a:ln>
            <a:noFill/>
          </a:ln>
        </p:spPr>
        <p:txBody>
          <a:bodyPr anchorCtr="0" anchor="ctr" bIns="19050" lIns="19050" spcFirstLastPara="1" rIns="19050" wrap="square" tIns="19050">
            <a:spAutoFit/>
          </a:bodyPr>
          <a:lstStyle/>
          <a:p>
            <a:pPr indent="0" lvl="0" marL="0" marR="0" rtl="0" algn="r">
              <a:lnSpc>
                <a:spcPct val="68656"/>
              </a:lnSpc>
              <a:spcBef>
                <a:spcPts val="0"/>
              </a:spcBef>
              <a:spcAft>
                <a:spcPts val="0"/>
              </a:spcAft>
              <a:buClr>
                <a:srgbClr val="000000"/>
              </a:buClr>
              <a:buSzPts val="1400"/>
              <a:buFont typeface="Helvetica Neue Light"/>
              <a:buNone/>
            </a:pPr>
            <a:r>
              <a:rPr i="0" lang="en" sz="1400" u="none" cap="none" strike="noStrike">
                <a:solidFill>
                  <a:srgbClr val="000000"/>
                </a:solidFill>
              </a:rPr>
              <a:t>Tau = </a:t>
            </a:r>
            <a:r>
              <a:rPr i="0" lang="en" sz="2500" u="none" cap="none" strike="noStrike">
                <a:solidFill>
                  <a:srgbClr val="000000"/>
                </a:solidFill>
              </a:rPr>
              <a:t>𝛕</a:t>
            </a:r>
            <a:r>
              <a:rPr i="0" lang="en" sz="1400" u="none" cap="none" strike="noStrike">
                <a:solidFill>
                  <a:srgbClr val="000000"/>
                </a:solidFill>
              </a:rPr>
              <a:t> Time constant in electrical engineering - properly estimating time can generate systematic profits</a:t>
            </a:r>
            <a:endParaRPr sz="500"/>
          </a:p>
        </p:txBody>
      </p:sp>
      <p:sp>
        <p:nvSpPr>
          <p:cNvPr id="369" name="Google Shape;369;p59"/>
          <p:cNvSpPr txBox="1"/>
          <p:nvPr/>
        </p:nvSpPr>
        <p:spPr>
          <a:xfrm>
            <a:off x="4906967" y="2595372"/>
            <a:ext cx="2825700" cy="254100"/>
          </a:xfrm>
          <a:prstGeom prst="rect">
            <a:avLst/>
          </a:prstGeom>
          <a:noFill/>
          <a:ln>
            <a:noFill/>
          </a:ln>
        </p:spPr>
        <p:txBody>
          <a:bodyPr anchorCtr="0" anchor="ctr" bIns="19050" lIns="19050" spcFirstLastPara="1" rIns="19050" wrap="square" tIns="19050">
            <a:spAutoFit/>
          </a:bodyPr>
          <a:lstStyle/>
          <a:p>
            <a:pPr indent="0" lvl="0" marL="0" marR="0" rtl="0" algn="l">
              <a:lnSpc>
                <a:spcPct val="127777"/>
              </a:lnSpc>
              <a:spcBef>
                <a:spcPts val="0"/>
              </a:spcBef>
              <a:spcAft>
                <a:spcPts val="0"/>
              </a:spcAft>
              <a:buClr>
                <a:srgbClr val="000000"/>
              </a:buClr>
              <a:buSzPts val="1400"/>
              <a:buFont typeface="Helvetica Neue Light"/>
              <a:buNone/>
            </a:pPr>
            <a:r>
              <a:rPr i="0" lang="en" sz="1400" u="none" cap="none" strike="noStrike">
                <a:solidFill>
                  <a:srgbClr val="000000"/>
                </a:solidFill>
              </a:rPr>
              <a:t>ROI = Return on investment</a:t>
            </a:r>
            <a:endParaRPr sz="500"/>
          </a:p>
        </p:txBody>
      </p:sp>
      <p:sp>
        <p:nvSpPr>
          <p:cNvPr id="370" name="Google Shape;370;p59"/>
          <p:cNvSpPr txBox="1"/>
          <p:nvPr/>
        </p:nvSpPr>
        <p:spPr>
          <a:xfrm>
            <a:off x="1556612" y="3736286"/>
            <a:ext cx="6084900" cy="238500"/>
          </a:xfrm>
          <a:prstGeom prst="rect">
            <a:avLst/>
          </a:prstGeom>
          <a:noFill/>
          <a:ln>
            <a:noFill/>
          </a:ln>
        </p:spPr>
        <p:txBody>
          <a:bodyPr anchorCtr="0" anchor="ctr" bIns="19050" lIns="19050" spcFirstLastPara="1" rIns="19050" wrap="square" tIns="19050">
            <a:spAutoFit/>
          </a:bodyPr>
          <a:lstStyle/>
          <a:p>
            <a:pPr indent="0" lvl="0" marL="0" marR="0" rtl="0" algn="ctr">
              <a:lnSpc>
                <a:spcPct val="100000"/>
              </a:lnSpc>
              <a:spcBef>
                <a:spcPts val="0"/>
              </a:spcBef>
              <a:spcAft>
                <a:spcPts val="0"/>
              </a:spcAft>
              <a:buClr>
                <a:srgbClr val="204586"/>
              </a:buClr>
              <a:buSzPts val="1400"/>
              <a:buFont typeface="Helvetica Neue"/>
              <a:buNone/>
            </a:pPr>
            <a:r>
              <a:rPr b="1" i="0" lang="en" sz="1300" u="none" cap="none" strike="noStrike">
                <a:solidFill>
                  <a:srgbClr val="204586"/>
                </a:solidFill>
              </a:rPr>
              <a:t>Tauroi </a:t>
            </a:r>
            <a:r>
              <a:rPr b="1" i="0" lang="en" sz="1300" u="none" cap="none" strike="noStrike">
                <a:solidFill>
                  <a:srgbClr val="AC914D"/>
                </a:solidFill>
              </a:rPr>
              <a:t>=</a:t>
            </a:r>
            <a:r>
              <a:rPr b="1" i="0" lang="en" sz="1300" u="none" cap="none" strike="noStrike">
                <a:solidFill>
                  <a:srgbClr val="204586"/>
                </a:solidFill>
              </a:rPr>
              <a:t> Tauroi Khalkeoi were mechanical bronze bulls in greek mythology</a:t>
            </a:r>
            <a:endParaRPr sz="400"/>
          </a:p>
        </p:txBody>
      </p:sp>
      <p:cxnSp>
        <p:nvCxnSpPr>
          <p:cNvPr id="371" name="Google Shape;371;p59"/>
          <p:cNvCxnSpPr/>
          <p:nvPr/>
        </p:nvCxnSpPr>
        <p:spPr>
          <a:xfrm rot="10800000">
            <a:off x="4565650" y="2550489"/>
            <a:ext cx="0" cy="804600"/>
          </a:xfrm>
          <a:prstGeom prst="straightConnector1">
            <a:avLst/>
          </a:prstGeom>
          <a:noFill/>
          <a:ln cap="flat" cmpd="sng" w="50800">
            <a:solidFill>
              <a:srgbClr val="AC914D"/>
            </a:solidFill>
            <a:prstDash val="solid"/>
            <a:miter lim="400000"/>
            <a:headEnd len="sm" w="sm" type="none"/>
            <a:tailEnd len="sm" w="sm" type="none"/>
          </a:ln>
        </p:spPr>
      </p:cxn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6" name="Shape 376"/>
        <p:cNvGrpSpPr/>
        <p:nvPr/>
      </p:nvGrpSpPr>
      <p:grpSpPr>
        <a:xfrm>
          <a:off x="0" y="0"/>
          <a:ext cx="0" cy="0"/>
          <a:chOff x="0" y="0"/>
          <a:chExt cx="0" cy="0"/>
        </a:xfrm>
      </p:grpSpPr>
      <p:sp>
        <p:nvSpPr>
          <p:cNvPr id="377" name="Google Shape;377;p60"/>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ETF / Index Arbitrage</a:t>
            </a:r>
            <a:endParaRPr b="1" i="0" sz="4000" u="none" cap="none" strike="noStrike">
              <a:solidFill>
                <a:srgbClr val="6D3BF5"/>
              </a:solidFill>
              <a:latin typeface="Poppins"/>
              <a:ea typeface="Poppins"/>
              <a:cs typeface="Poppins"/>
              <a:sym typeface="Poppins"/>
            </a:endParaRPr>
          </a:p>
        </p:txBody>
      </p:sp>
      <p:graphicFrame>
        <p:nvGraphicFramePr>
          <p:cNvPr id="378" name="Google Shape;378;p60"/>
          <p:cNvGraphicFramePr/>
          <p:nvPr/>
        </p:nvGraphicFramePr>
        <p:xfrm>
          <a:off x="6158000" y="170175"/>
          <a:ext cx="3000000" cy="3000000"/>
        </p:xfrm>
        <a:graphic>
          <a:graphicData uri="http://schemas.openxmlformats.org/drawingml/2006/table">
            <a:tbl>
              <a:tblPr>
                <a:noFill/>
                <a:tableStyleId>{8E988DE2-97A2-416A-9140-A02111780125}</a:tableStyleId>
              </a:tblPr>
              <a:tblGrid>
                <a:gridCol w="674425"/>
                <a:gridCol w="498475"/>
                <a:gridCol w="351875"/>
                <a:gridCol w="351875"/>
                <a:gridCol w="239475"/>
                <a:gridCol w="263900"/>
                <a:gridCol w="605975"/>
              </a:tblGrid>
              <a:tr h="247650">
                <a:tc>
                  <a:txBody>
                    <a:bodyPr/>
                    <a:lstStyle/>
                    <a:p>
                      <a:pPr indent="0" lvl="0" marL="0" rtl="0" algn="l">
                        <a:lnSpc>
                          <a:spcPct val="115000"/>
                        </a:lnSpc>
                        <a:spcBef>
                          <a:spcPts val="0"/>
                        </a:spcBef>
                        <a:spcAft>
                          <a:spcPts val="0"/>
                        </a:spcAft>
                        <a:buNone/>
                      </a:pPr>
                      <a:r>
                        <a:rPr b="1" lang="en" sz="800">
                          <a:solidFill>
                            <a:srgbClr val="FFFFFF"/>
                          </a:solidFill>
                        </a:rPr>
                        <a:t>Unit</a:t>
                      </a:r>
                      <a:endParaRPr b="1" sz="800">
                        <a:solidFill>
                          <a:srgbClr val="FFFFFF"/>
                        </a:solidFill>
                      </a:endParaRPr>
                    </a:p>
                  </a:txBody>
                  <a:tcPr marT="6350" marB="91425" marR="6350" marL="6350" anchor="b">
                    <a:lnL cap="flat" cmpd="sng" w="9525">
                      <a:solidFill>
                        <a:srgbClr val="029B2D"/>
                      </a:solidFill>
                      <a:prstDash val="solid"/>
                      <a:round/>
                      <a:headEnd len="sm" w="sm" type="none"/>
                      <a:tailEnd len="sm" w="sm" type="none"/>
                    </a:lnL>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Last</a:t>
                      </a:r>
                      <a:endParaRPr b="1" sz="800">
                        <a:solidFill>
                          <a:srgbClr val="FFFFFF"/>
                        </a:solidFill>
                      </a:endParaRPr>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Bid</a:t>
                      </a:r>
                      <a:endParaRPr b="1" sz="800">
                        <a:solidFill>
                          <a:srgbClr val="FFFFFF"/>
                        </a:solidFill>
                      </a:endParaRPr>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Ask</a:t>
                      </a:r>
                      <a:endParaRPr b="1" sz="800">
                        <a:solidFill>
                          <a:srgbClr val="FFFFFF"/>
                        </a:solidFill>
                      </a:endParaRPr>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Size</a:t>
                      </a:r>
                      <a:endParaRPr b="1" sz="800">
                        <a:solidFill>
                          <a:srgbClr val="FFFFFF"/>
                        </a:solidFill>
                      </a:endParaRPr>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Net</a:t>
                      </a:r>
                      <a:endParaRPr b="1" sz="800">
                        <a:solidFill>
                          <a:srgbClr val="FFFFFF"/>
                        </a:solidFill>
                      </a:endParaRPr>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800">
                          <a:solidFill>
                            <a:srgbClr val="FFFFFF"/>
                          </a:solidFill>
                        </a:rPr>
                        <a:t>Percentage</a:t>
                      </a:r>
                      <a:endParaRPr b="1" sz="800">
                        <a:solidFill>
                          <a:srgbClr val="FFFFFF"/>
                        </a:solidFill>
                      </a:endParaRPr>
                    </a:p>
                  </a:txBody>
                  <a:tcPr marT="6350" marB="91425" marR="6350" marL="6350" anchor="b">
                    <a:lnR cap="flat" cmpd="sng" w="9525">
                      <a:solidFill>
                        <a:srgbClr val="029B2D"/>
                      </a:solidFill>
                      <a:prstDash val="solid"/>
                      <a:round/>
                      <a:headEnd len="sm" w="sm" type="none"/>
                      <a:tailEnd len="sm" w="sm" type="none"/>
                    </a:lnR>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solidFill>
                      <a:srgbClr val="029B2D"/>
                    </a:solidFill>
                  </a:tcPr>
                </a:tc>
              </a:tr>
              <a:tr h="247650">
                <a:tc>
                  <a:txBody>
                    <a:bodyPr/>
                    <a:lstStyle/>
                    <a:p>
                      <a:pPr indent="0" lvl="0" marL="0" rtl="0" algn="l">
                        <a:lnSpc>
                          <a:spcPct val="115000"/>
                        </a:lnSpc>
                        <a:spcBef>
                          <a:spcPts val="0"/>
                        </a:spcBef>
                        <a:spcAft>
                          <a:spcPts val="0"/>
                        </a:spcAft>
                        <a:buNone/>
                      </a:pPr>
                      <a:r>
                        <a:rPr lang="en" sz="800"/>
                        <a:t>AMD</a:t>
                      </a:r>
                      <a:endParaRPr sz="800"/>
                    </a:p>
                  </a:txBody>
                  <a:tcPr marT="6350" marB="91425" marR="6350" marL="6350" anchor="b">
                    <a:lnL cap="flat" cmpd="sng" w="9525">
                      <a:solidFill>
                        <a:srgbClr val="029B2D"/>
                      </a:solidFill>
                      <a:prstDash val="solid"/>
                      <a:round/>
                      <a:headEnd len="sm" w="sm" type="none"/>
                      <a:tailEnd len="sm" w="sm" type="none"/>
                    </a:lnL>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13.7</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13.69</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13.7</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100</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1370</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16.31%</a:t>
                      </a:r>
                      <a:endParaRPr sz="800"/>
                    </a:p>
                  </a:txBody>
                  <a:tcPr marT="6350" marB="91425" marR="6350" marL="6350" anchor="b">
                    <a:lnR cap="flat" cmpd="sng" w="9525">
                      <a:solidFill>
                        <a:srgbClr val="029B2D"/>
                      </a:solidFill>
                      <a:prstDash val="solid"/>
                      <a:round/>
                      <a:headEnd len="sm" w="sm" type="none"/>
                      <a:tailEnd len="sm" w="sm" type="none"/>
                    </a:lnR>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r>
              <a:tr h="247650">
                <a:tc>
                  <a:txBody>
                    <a:bodyPr/>
                    <a:lstStyle/>
                    <a:p>
                      <a:pPr indent="0" lvl="0" marL="0" rtl="0" algn="l">
                        <a:lnSpc>
                          <a:spcPct val="115000"/>
                        </a:lnSpc>
                        <a:spcBef>
                          <a:spcPts val="0"/>
                        </a:spcBef>
                        <a:spcAft>
                          <a:spcPts val="0"/>
                        </a:spcAft>
                        <a:buNone/>
                      </a:pPr>
                      <a:r>
                        <a:rPr lang="en" sz="800"/>
                        <a:t>INTC</a:t>
                      </a:r>
                      <a:endParaRPr sz="800"/>
                    </a:p>
                  </a:txBody>
                  <a:tcPr marT="6350" marB="91425" marR="6350" marL="6350" anchor="b">
                    <a:lnL cap="flat" cmpd="sng" w="9525">
                      <a:solidFill>
                        <a:srgbClr val="029B2D"/>
                      </a:solidFill>
                      <a:prstDash val="solid"/>
                      <a:round/>
                      <a:headEnd len="sm" w="sm" type="none"/>
                      <a:tailEnd len="sm" w="sm" type="none"/>
                    </a:lnL>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35.16</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35.16</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35.17</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100</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3516</a:t>
                      </a:r>
                      <a:endParaRPr sz="800"/>
                    </a:p>
                  </a:txBody>
                  <a:tcPr marT="6350" marB="91425" marR="6350" marL="6350" anchor="b">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41.85%</a:t>
                      </a:r>
                      <a:endParaRPr sz="800"/>
                    </a:p>
                  </a:txBody>
                  <a:tcPr marT="6350" marB="91425" marR="6350" marL="6350" anchor="b">
                    <a:lnR cap="flat" cmpd="sng" w="9525">
                      <a:solidFill>
                        <a:srgbClr val="029B2D"/>
                      </a:solidFill>
                      <a:prstDash val="solid"/>
                      <a:round/>
                      <a:headEnd len="sm" w="sm" type="none"/>
                      <a:tailEnd len="sm" w="sm" type="none"/>
                    </a:lnR>
                    <a:lnT cap="flat" cmpd="sng" w="95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r>
              <a:tr h="266700">
                <a:tc>
                  <a:txBody>
                    <a:bodyPr/>
                    <a:lstStyle/>
                    <a:p>
                      <a:pPr indent="0" lvl="0" marL="0" rtl="0" algn="l">
                        <a:lnSpc>
                          <a:spcPct val="115000"/>
                        </a:lnSpc>
                        <a:spcBef>
                          <a:spcPts val="0"/>
                        </a:spcBef>
                        <a:spcAft>
                          <a:spcPts val="0"/>
                        </a:spcAft>
                        <a:buNone/>
                      </a:pPr>
                      <a:r>
                        <a:rPr lang="en" sz="800"/>
                        <a:t>AAPL</a:t>
                      </a:r>
                      <a:endParaRPr sz="800"/>
                    </a:p>
                  </a:txBody>
                  <a:tcPr marT="6350" marB="91425" marR="6350" marL="6350" anchor="b">
                    <a:lnL cap="flat" cmpd="sng" w="9525">
                      <a:solidFill>
                        <a:srgbClr val="029B2D"/>
                      </a:solidFill>
                      <a:prstDash val="solid"/>
                      <a:round/>
                      <a:headEnd len="sm" w="sm" type="none"/>
                      <a:tailEnd len="sm" w="sm" type="none"/>
                    </a:lnL>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140.64</a:t>
                      </a:r>
                      <a:endParaRPr sz="800"/>
                    </a:p>
                  </a:txBody>
                  <a:tcPr marT="6350" marB="91425" marR="6350" marL="6350" anchor="b">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140.63</a:t>
                      </a:r>
                      <a:endParaRPr sz="800"/>
                    </a:p>
                  </a:txBody>
                  <a:tcPr marT="6350" marB="91425" marR="6350" marL="6350" anchor="b">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140.64</a:t>
                      </a:r>
                      <a:endParaRPr sz="800"/>
                    </a:p>
                  </a:txBody>
                  <a:tcPr marT="6350" marB="91425" marR="6350" marL="6350" anchor="b">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25</a:t>
                      </a:r>
                      <a:endParaRPr sz="800"/>
                    </a:p>
                  </a:txBody>
                  <a:tcPr marT="6350" marB="91425" marR="6350" marL="6350" anchor="b">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3516</a:t>
                      </a:r>
                      <a:endParaRPr sz="800"/>
                    </a:p>
                  </a:txBody>
                  <a:tcPr marT="6350" marB="91425" marR="6350" marL="6350" anchor="b">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lang="en" sz="800"/>
                        <a:t>41.85%</a:t>
                      </a:r>
                      <a:endParaRPr sz="800"/>
                    </a:p>
                  </a:txBody>
                  <a:tcPr marT="6350" marB="91425" marR="6350" marL="6350" anchor="b">
                    <a:lnR cap="flat" cmpd="sng" w="9525">
                      <a:solidFill>
                        <a:srgbClr val="029B2D"/>
                      </a:solidFill>
                      <a:prstDash val="solid"/>
                      <a:round/>
                      <a:headEnd len="sm" w="sm" type="none"/>
                      <a:tailEnd len="sm" w="sm" type="none"/>
                    </a:lnR>
                    <a:lnT cap="flat" cmpd="sng" w="9525">
                      <a:solidFill>
                        <a:srgbClr val="029B2D"/>
                      </a:solidFill>
                      <a:prstDash val="solid"/>
                      <a:round/>
                      <a:headEnd len="sm" w="sm" type="none"/>
                      <a:tailEnd len="sm" w="sm" type="none"/>
                    </a:lnT>
                    <a:lnB cap="flat" cmpd="sng" w="47625">
                      <a:solidFill>
                        <a:srgbClr val="029B2D"/>
                      </a:solidFill>
                      <a:prstDash val="solid"/>
                      <a:round/>
                      <a:headEnd len="sm" w="sm" type="none"/>
                      <a:tailEnd len="sm" w="sm" type="none"/>
                    </a:lnB>
                  </a:tcPr>
                </a:tc>
              </a:tr>
              <a:tr h="266700">
                <a:tc>
                  <a:txBody>
                    <a:bodyPr/>
                    <a:lstStyle/>
                    <a:p>
                      <a:pPr indent="0" lvl="0" marL="0" rtl="0" algn="l">
                        <a:lnSpc>
                          <a:spcPct val="115000"/>
                        </a:lnSpc>
                        <a:spcBef>
                          <a:spcPts val="0"/>
                        </a:spcBef>
                        <a:spcAft>
                          <a:spcPts val="0"/>
                        </a:spcAft>
                        <a:buNone/>
                      </a:pPr>
                      <a:r>
                        <a:rPr b="1" lang="en" sz="800"/>
                        <a:t>Creation Unit</a:t>
                      </a:r>
                      <a:endParaRPr b="1" sz="800"/>
                    </a:p>
                  </a:txBody>
                  <a:tcPr marT="6350" marB="91425" marR="6350" marL="6350" anchor="b">
                    <a:lnL cap="flat" cmpd="sng" w="9525">
                      <a:solidFill>
                        <a:srgbClr val="029B2D"/>
                      </a:solidFill>
                      <a:prstDash val="solid"/>
                      <a:round/>
                      <a:headEnd len="sm" w="sm" type="none"/>
                      <a:tailEnd len="sm" w="sm" type="none"/>
                    </a:lnL>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84.02</a:t>
                      </a:r>
                      <a:endParaRPr b="1" sz="800"/>
                    </a:p>
                  </a:txBody>
                  <a:tcPr marT="6350" marB="91425" marR="6350" marL="6350" anchor="b">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84.01</a:t>
                      </a:r>
                      <a:endParaRPr b="1" sz="800"/>
                    </a:p>
                  </a:txBody>
                  <a:tcPr marT="6350" marB="91425" marR="6350" marL="6350" anchor="b">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84.03</a:t>
                      </a:r>
                      <a:endParaRPr b="1" sz="800"/>
                    </a:p>
                  </a:txBody>
                  <a:tcPr marT="6350" marB="91425" marR="6350" marL="6350" anchor="b">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100</a:t>
                      </a:r>
                      <a:endParaRPr b="1" sz="800"/>
                    </a:p>
                  </a:txBody>
                  <a:tcPr marT="6350" marB="91425" marR="6350" marL="6350" anchor="b">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8402</a:t>
                      </a:r>
                      <a:endParaRPr b="1" sz="800"/>
                    </a:p>
                  </a:txBody>
                  <a:tcPr marT="6350" marB="91425" marR="6350" marL="6350" anchor="b">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c>
                  <a:txBody>
                    <a:bodyPr/>
                    <a:lstStyle/>
                    <a:p>
                      <a:pPr indent="0" lvl="0" marL="0" rtl="0" algn="r">
                        <a:lnSpc>
                          <a:spcPct val="115000"/>
                        </a:lnSpc>
                        <a:spcBef>
                          <a:spcPts val="0"/>
                        </a:spcBef>
                        <a:spcAft>
                          <a:spcPts val="0"/>
                        </a:spcAft>
                        <a:buNone/>
                      </a:pPr>
                      <a:r>
                        <a:rPr b="1" lang="en" sz="800"/>
                        <a:t>100.00%</a:t>
                      </a:r>
                      <a:endParaRPr b="1" sz="800"/>
                    </a:p>
                  </a:txBody>
                  <a:tcPr marT="6350" marB="91425" marR="6350" marL="6350" anchor="b">
                    <a:lnR cap="flat" cmpd="sng" w="9525">
                      <a:solidFill>
                        <a:srgbClr val="029B2D"/>
                      </a:solidFill>
                      <a:prstDash val="solid"/>
                      <a:round/>
                      <a:headEnd len="sm" w="sm" type="none"/>
                      <a:tailEnd len="sm" w="sm" type="none"/>
                    </a:lnR>
                    <a:lnT cap="flat" cmpd="sng" w="47625">
                      <a:solidFill>
                        <a:srgbClr val="029B2D"/>
                      </a:solidFill>
                      <a:prstDash val="solid"/>
                      <a:round/>
                      <a:headEnd len="sm" w="sm" type="none"/>
                      <a:tailEnd len="sm" w="sm" type="none"/>
                    </a:lnT>
                    <a:lnB cap="flat" cmpd="sng" w="9525">
                      <a:solidFill>
                        <a:srgbClr val="029B2D"/>
                      </a:solidFill>
                      <a:prstDash val="solid"/>
                      <a:round/>
                      <a:headEnd len="sm" w="sm" type="none"/>
                      <a:tailEnd len="sm" w="sm" type="none"/>
                    </a:lnB>
                  </a:tcPr>
                </a:tc>
              </a:tr>
            </a:tbl>
          </a:graphicData>
        </a:graphic>
      </p:graphicFrame>
      <p:graphicFrame>
        <p:nvGraphicFramePr>
          <p:cNvPr id="379" name="Google Shape;379;p60"/>
          <p:cNvGraphicFramePr/>
          <p:nvPr/>
        </p:nvGraphicFramePr>
        <p:xfrm>
          <a:off x="6612775" y="1671550"/>
          <a:ext cx="3000000" cy="3000000"/>
        </p:xfrm>
        <a:graphic>
          <a:graphicData uri="http://schemas.openxmlformats.org/drawingml/2006/table">
            <a:tbl>
              <a:tblPr>
                <a:noFill/>
                <a:tableStyleId>{8E988DE2-97A2-416A-9140-A02111780125}</a:tableStyleId>
              </a:tblPr>
              <a:tblGrid>
                <a:gridCol w="952500"/>
                <a:gridCol w="819150"/>
              </a:tblGrid>
              <a:tr h="166225">
                <a:tc>
                  <a:txBody>
                    <a:bodyPr/>
                    <a:lstStyle/>
                    <a:p>
                      <a:pPr indent="0" lvl="0" marL="0" rtl="0" algn="l">
                        <a:lnSpc>
                          <a:spcPct val="115000"/>
                        </a:lnSpc>
                        <a:spcBef>
                          <a:spcPts val="0"/>
                        </a:spcBef>
                        <a:spcAft>
                          <a:spcPts val="0"/>
                        </a:spcAft>
                        <a:buNone/>
                      </a:pPr>
                      <a:r>
                        <a:rPr b="1" lang="en" sz="1000">
                          <a:solidFill>
                            <a:srgbClr val="FFFFFF"/>
                          </a:solidFill>
                        </a:rPr>
                        <a:t>Example</a:t>
                      </a:r>
                      <a:endParaRPr b="1" sz="1000">
                        <a:solidFill>
                          <a:srgbClr val="FFFFFF"/>
                        </a:solidFill>
                      </a:endParaRPr>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029B2D"/>
                    </a:solidFill>
                  </a:tcPr>
                </a:tc>
                <a:tc>
                  <a:txBody>
                    <a:bodyPr/>
                    <a:lstStyle/>
                    <a:p>
                      <a:pPr indent="0" lvl="0" marL="0" rtl="0" algn="l">
                        <a:lnSpc>
                          <a:spcPct val="115000"/>
                        </a:lnSpc>
                        <a:spcBef>
                          <a:spcPts val="0"/>
                        </a:spcBef>
                        <a:spcAft>
                          <a:spcPts val="0"/>
                        </a:spcAft>
                        <a:buNone/>
                      </a:pPr>
                      <a:r>
                        <a:rPr b="1" lang="en" sz="1000">
                          <a:solidFill>
                            <a:srgbClr val="FFFFFF"/>
                          </a:solidFill>
                        </a:rPr>
                        <a:t>Price</a:t>
                      </a:r>
                      <a:endParaRPr b="1" sz="1000">
                        <a:solidFill>
                          <a:srgbClr val="FFFFFF"/>
                        </a:solidFill>
                      </a:endParaRPr>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38100">
                      <a:solidFill>
                        <a:srgbClr val="FFFFFF"/>
                      </a:solidFill>
                      <a:prstDash val="solid"/>
                      <a:round/>
                      <a:headEnd len="sm" w="sm" type="none"/>
                      <a:tailEnd len="sm" w="sm" type="none"/>
                    </a:lnB>
                    <a:solidFill>
                      <a:srgbClr val="029B2D"/>
                    </a:solidFill>
                  </a:tcPr>
                </a:tc>
              </a:tr>
              <a:tr h="235250">
                <a:tc>
                  <a:txBody>
                    <a:bodyPr/>
                    <a:lstStyle/>
                    <a:p>
                      <a:pPr indent="0" lvl="0" marL="0" rtl="0" algn="l">
                        <a:lnSpc>
                          <a:spcPct val="115000"/>
                        </a:lnSpc>
                        <a:spcBef>
                          <a:spcPts val="0"/>
                        </a:spcBef>
                        <a:spcAft>
                          <a:spcPts val="0"/>
                        </a:spcAft>
                        <a:buNone/>
                      </a:pPr>
                      <a:r>
                        <a:rPr lang="en" sz="1000"/>
                        <a:t>Calculated Ask</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c>
                  <a:txBody>
                    <a:bodyPr/>
                    <a:lstStyle/>
                    <a:p>
                      <a:pPr indent="0" lvl="0" marL="0" rtl="0" algn="r">
                        <a:lnSpc>
                          <a:spcPct val="115000"/>
                        </a:lnSpc>
                        <a:spcBef>
                          <a:spcPts val="0"/>
                        </a:spcBef>
                        <a:spcAft>
                          <a:spcPts val="0"/>
                        </a:spcAft>
                        <a:buNone/>
                      </a:pPr>
                      <a:r>
                        <a:rPr lang="en" sz="1000"/>
                        <a:t>84.03</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38100">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r>
              <a:tr h="166225">
                <a:tc>
                  <a:txBody>
                    <a:bodyPr/>
                    <a:lstStyle/>
                    <a:p>
                      <a:pPr indent="0" lvl="0" marL="0" rtl="0" algn="l">
                        <a:lnSpc>
                          <a:spcPct val="115000"/>
                        </a:lnSpc>
                        <a:spcBef>
                          <a:spcPts val="0"/>
                        </a:spcBef>
                        <a:spcAft>
                          <a:spcPts val="0"/>
                        </a:spcAft>
                        <a:buNone/>
                      </a:pPr>
                      <a:r>
                        <a:rPr lang="en" sz="1000"/>
                        <a:t>Calculated Bid</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c>
                  <a:txBody>
                    <a:bodyPr/>
                    <a:lstStyle/>
                    <a:p>
                      <a:pPr indent="0" lvl="0" marL="0" rtl="0" algn="r">
                        <a:lnSpc>
                          <a:spcPct val="115000"/>
                        </a:lnSpc>
                        <a:spcBef>
                          <a:spcPts val="0"/>
                        </a:spcBef>
                        <a:spcAft>
                          <a:spcPts val="0"/>
                        </a:spcAft>
                        <a:buNone/>
                      </a:pPr>
                      <a:r>
                        <a:rPr lang="en" sz="1000"/>
                        <a:t>84.0075</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r>
              <a:tr h="166225">
                <a:tc>
                  <a:txBody>
                    <a:bodyPr/>
                    <a:lstStyle/>
                    <a:p>
                      <a:pPr indent="0" lvl="0" marL="0" rtl="0" algn="l">
                        <a:lnSpc>
                          <a:spcPct val="115000"/>
                        </a:lnSpc>
                        <a:spcBef>
                          <a:spcPts val="0"/>
                        </a:spcBef>
                        <a:spcAft>
                          <a:spcPts val="0"/>
                        </a:spcAft>
                        <a:buNone/>
                      </a:pPr>
                      <a:r>
                        <a:rPr lang="en" sz="1000"/>
                        <a:t>ETF Bid</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c>
                  <a:txBody>
                    <a:bodyPr/>
                    <a:lstStyle/>
                    <a:p>
                      <a:pPr indent="0" lvl="0" marL="0" rtl="0" algn="r">
                        <a:lnSpc>
                          <a:spcPct val="115000"/>
                        </a:lnSpc>
                        <a:spcBef>
                          <a:spcPts val="0"/>
                        </a:spcBef>
                        <a:spcAft>
                          <a:spcPts val="0"/>
                        </a:spcAft>
                        <a:buNone/>
                      </a:pPr>
                      <a:r>
                        <a:rPr lang="en" sz="1000"/>
                        <a:t>84.04</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r>
              <a:tr h="166225">
                <a:tc>
                  <a:txBody>
                    <a:bodyPr/>
                    <a:lstStyle/>
                    <a:p>
                      <a:pPr indent="0" lvl="0" marL="0" rtl="0" algn="l">
                        <a:lnSpc>
                          <a:spcPct val="115000"/>
                        </a:lnSpc>
                        <a:spcBef>
                          <a:spcPts val="0"/>
                        </a:spcBef>
                        <a:spcAft>
                          <a:spcPts val="0"/>
                        </a:spcAft>
                        <a:buNone/>
                      </a:pPr>
                      <a:r>
                        <a:rPr lang="en" sz="1000"/>
                        <a:t>ETF Ask</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c>
                  <a:txBody>
                    <a:bodyPr/>
                    <a:lstStyle/>
                    <a:p>
                      <a:pPr indent="0" lvl="0" marL="0" rtl="0" algn="r">
                        <a:lnSpc>
                          <a:spcPct val="115000"/>
                        </a:lnSpc>
                        <a:spcBef>
                          <a:spcPts val="0"/>
                        </a:spcBef>
                        <a:spcAft>
                          <a:spcPts val="0"/>
                        </a:spcAft>
                        <a:buNone/>
                      </a:pPr>
                      <a:r>
                        <a:rPr lang="en" sz="1000"/>
                        <a:t>84.05</a:t>
                      </a:r>
                      <a:endParaRPr sz="1000"/>
                    </a:p>
                  </a:txBody>
                  <a:tcPr marT="6350" marB="91425" marR="6350" marL="6350" anchor="b">
                    <a:lnL cap="flat" cmpd="sng" w="9525">
                      <a:solidFill>
                        <a:srgbClr val="FFFFFF"/>
                      </a:solidFill>
                      <a:prstDash val="solid"/>
                      <a:round/>
                      <a:headEnd len="sm" w="sm" type="none"/>
                      <a:tailEnd len="sm" w="sm" type="none"/>
                    </a:lnL>
                    <a:lnR cap="flat" cmpd="sng" w="9525">
                      <a:solidFill>
                        <a:srgbClr val="FFFFFF"/>
                      </a:solidFill>
                      <a:prstDash val="solid"/>
                      <a:round/>
                      <a:headEnd len="sm" w="sm" type="none"/>
                      <a:tailEnd len="sm" w="sm" type="none"/>
                    </a:lnR>
                    <a:lnT cap="flat" cmpd="sng" w="9525">
                      <a:solidFill>
                        <a:srgbClr val="FFFFFF"/>
                      </a:solidFill>
                      <a:prstDash val="solid"/>
                      <a:round/>
                      <a:headEnd len="sm" w="sm" type="none"/>
                      <a:tailEnd len="sm" w="sm" type="none"/>
                    </a:lnT>
                    <a:lnB cap="flat" cmpd="sng" w="9525">
                      <a:solidFill>
                        <a:srgbClr val="FFFFFF"/>
                      </a:solidFill>
                      <a:prstDash val="solid"/>
                      <a:round/>
                      <a:headEnd len="sm" w="sm" type="none"/>
                      <a:tailEnd len="sm" w="sm" type="none"/>
                    </a:lnB>
                    <a:solidFill>
                      <a:srgbClr val="E7EFE8"/>
                    </a:solidFill>
                  </a:tcPr>
                </a:tc>
              </a:tr>
            </a:tbl>
          </a:graphicData>
        </a:graphic>
      </p:graphicFrame>
      <p:sp>
        <p:nvSpPr>
          <p:cNvPr id="380" name="Google Shape;380;p60"/>
          <p:cNvSpPr txBox="1"/>
          <p:nvPr/>
        </p:nvSpPr>
        <p:spPr>
          <a:xfrm>
            <a:off x="131475" y="1007875"/>
            <a:ext cx="6214500" cy="3586500"/>
          </a:xfrm>
          <a:prstGeom prst="rect">
            <a:avLst/>
          </a:prstGeom>
          <a:noFill/>
          <a:ln>
            <a:noFill/>
          </a:ln>
        </p:spPr>
        <p:txBody>
          <a:bodyPr anchorCtr="0" anchor="t" bIns="91425" lIns="91425" spcFirstLastPara="1" rIns="91425" wrap="square" tIns="91425">
            <a:spAutoFit/>
          </a:bodyPr>
          <a:lstStyle/>
          <a:p>
            <a:pPr indent="-311150" lvl="0" marL="457200" rtl="0" algn="l">
              <a:spcBef>
                <a:spcPts val="0"/>
              </a:spcBef>
              <a:spcAft>
                <a:spcPts val="0"/>
              </a:spcAft>
              <a:buSzPts val="1300"/>
              <a:buChar char="●"/>
            </a:pPr>
            <a:r>
              <a:rPr lang="en" sz="1300"/>
              <a:t>This is a common strategy, and typically need flow</a:t>
            </a:r>
            <a:endParaRPr sz="1300"/>
          </a:p>
          <a:p>
            <a:pPr indent="0" lvl="0" marL="457200" rtl="0" algn="l">
              <a:spcBef>
                <a:spcPts val="0"/>
              </a:spcBef>
              <a:spcAft>
                <a:spcPts val="0"/>
              </a:spcAft>
              <a:buNone/>
            </a:pPr>
            <a:r>
              <a:t/>
            </a:r>
            <a:endParaRPr sz="1300"/>
          </a:p>
          <a:p>
            <a:pPr indent="-311150" lvl="0" marL="457200" rtl="0" algn="l">
              <a:spcBef>
                <a:spcPts val="0"/>
              </a:spcBef>
              <a:spcAft>
                <a:spcPts val="0"/>
              </a:spcAft>
              <a:buSzPts val="1300"/>
              <a:buChar char="●"/>
            </a:pPr>
            <a:r>
              <a:rPr lang="en" sz="1300"/>
              <a:t>Arbitrage happens when ETF trades at a discount or premium to the NAV</a:t>
            </a:r>
            <a:endParaRPr sz="1300"/>
          </a:p>
          <a:p>
            <a:pPr indent="-311150" lvl="1" marL="914400" rtl="0" algn="l">
              <a:spcBef>
                <a:spcPts val="0"/>
              </a:spcBef>
              <a:spcAft>
                <a:spcPts val="0"/>
              </a:spcAft>
              <a:buSzPts val="1300"/>
              <a:buChar char="○"/>
            </a:pPr>
            <a:r>
              <a:rPr b="1" lang="en" sz="1300"/>
              <a:t>Institutional</a:t>
            </a:r>
            <a:r>
              <a:rPr lang="en" sz="1300"/>
              <a:t>: When ETF price &gt; NAV, the AP will sell shares it received during creation and make a spread between the cost of the assets it bought for the ETF issuer and the selling price from the ETF shares. AP can also buy the underlying shares that compose the ETF directly at lower prices, sell ETF shares on the open market at the higher price, capturing the spread.</a:t>
            </a:r>
            <a:endParaRPr sz="1300"/>
          </a:p>
          <a:p>
            <a:pPr indent="-311150" lvl="1" marL="914400" rtl="0" algn="l">
              <a:spcBef>
                <a:spcPts val="0"/>
              </a:spcBef>
              <a:spcAft>
                <a:spcPts val="0"/>
              </a:spcAft>
              <a:buSzPts val="1300"/>
              <a:buChar char="○"/>
            </a:pPr>
            <a:r>
              <a:rPr b="1" lang="en" sz="1300"/>
              <a:t>Individuals</a:t>
            </a:r>
            <a:r>
              <a:rPr lang="en" sz="1300"/>
              <a:t>: When the ETF is selling at a premium (or discount), individuals can buy (short) the underlying securities in the same proportions and short (or buy) the ETF. Limited by liquidity and spread</a:t>
            </a:r>
            <a:endParaRPr sz="1300"/>
          </a:p>
          <a:p>
            <a:pPr indent="-311150" lvl="2" marL="1371600" rtl="0" algn="l">
              <a:spcBef>
                <a:spcPts val="0"/>
              </a:spcBef>
              <a:spcAft>
                <a:spcPts val="0"/>
              </a:spcAft>
              <a:buSzPts val="1300"/>
              <a:buChar char="■"/>
            </a:pPr>
            <a:r>
              <a:rPr lang="en" sz="1300"/>
              <a:t>If inside the spread need to know if the ETF goes to share price or share price goes to ETF price</a:t>
            </a:r>
            <a:endParaRPr sz="1300"/>
          </a:p>
          <a:p>
            <a:pPr indent="-311150" lvl="0" marL="457200" rtl="0" algn="l">
              <a:spcBef>
                <a:spcPts val="0"/>
              </a:spcBef>
              <a:spcAft>
                <a:spcPts val="0"/>
              </a:spcAft>
              <a:buSzPts val="1300"/>
              <a:buChar char="●"/>
            </a:pPr>
            <a:r>
              <a:t/>
            </a:r>
            <a:endParaRPr sz="1300"/>
          </a:p>
          <a:p>
            <a:pPr indent="-311150" lvl="0" marL="457200" rtl="0" algn="l">
              <a:spcBef>
                <a:spcPts val="0"/>
              </a:spcBef>
              <a:spcAft>
                <a:spcPts val="0"/>
              </a:spcAft>
              <a:buSzPts val="1300"/>
              <a:buChar char="●"/>
            </a:pPr>
            <a:r>
              <a:rPr lang="en" sz="1300"/>
              <a:t>Do this at an international level with ADR’s</a:t>
            </a:r>
            <a:endParaRPr sz="1300"/>
          </a:p>
          <a:p>
            <a:pPr indent="0" lvl="0" marL="0" rtl="0" algn="l">
              <a:spcBef>
                <a:spcPts val="0"/>
              </a:spcBef>
              <a:spcAft>
                <a:spcPts val="0"/>
              </a:spcAft>
              <a:buNone/>
            </a:pPr>
            <a:r>
              <a:t/>
            </a:r>
            <a:endParaRPr sz="1300"/>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5" name="Shape 385"/>
        <p:cNvGrpSpPr/>
        <p:nvPr/>
      </p:nvGrpSpPr>
      <p:grpSpPr>
        <a:xfrm>
          <a:off x="0" y="0"/>
          <a:ext cx="0" cy="0"/>
          <a:chOff x="0" y="0"/>
          <a:chExt cx="0" cy="0"/>
        </a:xfrm>
      </p:grpSpPr>
      <p:sp>
        <p:nvSpPr>
          <p:cNvPr id="386" name="Google Shape;386;p61"/>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Deal Flow</a:t>
            </a:r>
            <a:endParaRPr b="1" i="0" sz="4000" u="none" cap="none" strike="noStrike">
              <a:solidFill>
                <a:srgbClr val="6D3BF5"/>
              </a:solidFill>
              <a:latin typeface="Poppins"/>
              <a:ea typeface="Poppins"/>
              <a:cs typeface="Poppins"/>
              <a:sym typeface="Poppins"/>
            </a:endParaRPr>
          </a:p>
        </p:txBody>
      </p:sp>
      <p:sp>
        <p:nvSpPr>
          <p:cNvPr id="387" name="Google Shape;387;p61"/>
          <p:cNvSpPr txBox="1"/>
          <p:nvPr/>
        </p:nvSpPr>
        <p:spPr>
          <a:xfrm>
            <a:off x="340225" y="988863"/>
            <a:ext cx="5481300" cy="1989300"/>
          </a:xfrm>
          <a:prstGeom prst="rect">
            <a:avLst/>
          </a:prstGeom>
          <a:noFill/>
          <a:ln>
            <a:noFill/>
          </a:ln>
        </p:spPr>
        <p:txBody>
          <a:bodyPr anchorCtr="0" anchor="t" bIns="91425" lIns="91425" spcFirstLastPara="1" rIns="91425" wrap="square" tIns="91425">
            <a:noAutofit/>
          </a:bodyPr>
          <a:lstStyle/>
          <a:p>
            <a:pPr indent="-355600" lvl="0" marL="457200" rtl="0" algn="l">
              <a:lnSpc>
                <a:spcPct val="90000"/>
              </a:lnSpc>
              <a:spcBef>
                <a:spcPts val="1000"/>
              </a:spcBef>
              <a:spcAft>
                <a:spcPts val="0"/>
              </a:spcAft>
              <a:buClr>
                <a:srgbClr val="404040"/>
              </a:buClr>
              <a:buSzPts val="2000"/>
              <a:buChar char="●"/>
            </a:pPr>
            <a:r>
              <a:rPr lang="en" sz="2000">
                <a:solidFill>
                  <a:srgbClr val="404040"/>
                </a:solidFill>
              </a:rPr>
              <a:t>Bank will trade all of the positions on behalf of FTSE Russell (moves ~20 Billion in a few hours) for a single client</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Buys up in anticipation of the trade and sells their own shares to the client</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Massive market moves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Legalized insider trading and market manipulation due to sheer size of orders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Goldman actually pays Russell (and the like) for their order flow!</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Robinhood and Citadel!</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t/>
            </a:r>
            <a:endParaRPr sz="2000">
              <a:solidFill>
                <a:srgbClr val="404040"/>
              </a:solidFill>
            </a:endParaRPr>
          </a:p>
        </p:txBody>
      </p:sp>
      <p:pic>
        <p:nvPicPr>
          <p:cNvPr id="388" name="Google Shape;388;p61"/>
          <p:cNvPicPr preferRelativeResize="0"/>
          <p:nvPr/>
        </p:nvPicPr>
        <p:blipFill>
          <a:blip r:embed="rId3">
            <a:alphaModFix/>
          </a:blip>
          <a:stretch>
            <a:fillRect/>
          </a:stretch>
        </p:blipFill>
        <p:spPr>
          <a:xfrm>
            <a:off x="5900900" y="1561988"/>
            <a:ext cx="3017676" cy="2019521"/>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3" name="Shape 393"/>
        <p:cNvGrpSpPr/>
        <p:nvPr/>
      </p:nvGrpSpPr>
      <p:grpSpPr>
        <a:xfrm>
          <a:off x="0" y="0"/>
          <a:ext cx="0" cy="0"/>
          <a:chOff x="0" y="0"/>
          <a:chExt cx="0" cy="0"/>
        </a:xfrm>
      </p:grpSpPr>
      <p:sp>
        <p:nvSpPr>
          <p:cNvPr id="394" name="Google Shape;394;p62"/>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Sentiment</a:t>
            </a:r>
            <a:endParaRPr b="1" i="0" sz="4000" u="none" cap="none" strike="noStrike">
              <a:solidFill>
                <a:srgbClr val="6D3BF5"/>
              </a:solidFill>
              <a:latin typeface="Poppins"/>
              <a:ea typeface="Poppins"/>
              <a:cs typeface="Poppins"/>
              <a:sym typeface="Poppins"/>
            </a:endParaRPr>
          </a:p>
        </p:txBody>
      </p:sp>
      <p:sp>
        <p:nvSpPr>
          <p:cNvPr id="395" name="Google Shape;395;p62"/>
          <p:cNvSpPr txBox="1"/>
          <p:nvPr/>
        </p:nvSpPr>
        <p:spPr>
          <a:xfrm>
            <a:off x="340225" y="988863"/>
            <a:ext cx="5481300" cy="1989300"/>
          </a:xfrm>
          <a:prstGeom prst="rect">
            <a:avLst/>
          </a:prstGeom>
          <a:noFill/>
          <a:ln>
            <a:noFill/>
          </a:ln>
        </p:spPr>
        <p:txBody>
          <a:bodyPr anchorCtr="0" anchor="t" bIns="91425" lIns="91425" spcFirstLastPara="1" rIns="91425" wrap="square" tIns="91425">
            <a:noAutofit/>
          </a:bodyPr>
          <a:lstStyle/>
          <a:p>
            <a:pPr indent="-355600" lvl="0" marL="457200" rtl="0" algn="l">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Twitter and other news sources (Reuters, etc.) can give me an information advantage</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Train an ML model to understand Donald Trumps Tweets, trade the resulting market sentiment</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Example:</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https://www.kaggle.com/c/two-sigma-financial-news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t/>
            </a:r>
            <a:endParaRPr sz="2000">
              <a:solidFill>
                <a:srgbClr val="404040"/>
              </a:solidFill>
            </a:endParaRPr>
          </a:p>
        </p:txBody>
      </p:sp>
      <p:pic>
        <p:nvPicPr>
          <p:cNvPr id="396" name="Google Shape;396;p62"/>
          <p:cNvPicPr preferRelativeResize="0"/>
          <p:nvPr/>
        </p:nvPicPr>
        <p:blipFill>
          <a:blip r:embed="rId3">
            <a:alphaModFix/>
          </a:blip>
          <a:stretch>
            <a:fillRect/>
          </a:stretch>
        </p:blipFill>
        <p:spPr>
          <a:xfrm>
            <a:off x="5973925" y="1049950"/>
            <a:ext cx="3017675" cy="1976365"/>
          </a:xfrm>
          <a:prstGeom prst="rect">
            <a:avLst/>
          </a:prstGeom>
          <a:noFill/>
          <a:ln>
            <a:noFill/>
          </a:ln>
        </p:spPr>
      </p:pic>
      <p:pic>
        <p:nvPicPr>
          <p:cNvPr id="397" name="Google Shape;397;p62"/>
          <p:cNvPicPr preferRelativeResize="0"/>
          <p:nvPr/>
        </p:nvPicPr>
        <p:blipFill>
          <a:blip r:embed="rId4">
            <a:alphaModFix/>
          </a:blip>
          <a:stretch>
            <a:fillRect/>
          </a:stretch>
        </p:blipFill>
        <p:spPr>
          <a:xfrm>
            <a:off x="5615425" y="3282963"/>
            <a:ext cx="3603091" cy="1860538"/>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3"/>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Drone Car Counting</a:t>
            </a:r>
            <a:endParaRPr b="1" i="0" sz="4000" u="none" cap="none" strike="noStrike">
              <a:solidFill>
                <a:srgbClr val="6D3BF5"/>
              </a:solidFill>
              <a:latin typeface="Poppins"/>
              <a:ea typeface="Poppins"/>
              <a:cs typeface="Poppins"/>
              <a:sym typeface="Poppins"/>
            </a:endParaRPr>
          </a:p>
        </p:txBody>
      </p:sp>
      <p:sp>
        <p:nvSpPr>
          <p:cNvPr id="404" name="Google Shape;404;p63"/>
          <p:cNvSpPr txBox="1"/>
          <p:nvPr/>
        </p:nvSpPr>
        <p:spPr>
          <a:xfrm>
            <a:off x="340225" y="988863"/>
            <a:ext cx="5481300" cy="1989300"/>
          </a:xfrm>
          <a:prstGeom prst="rect">
            <a:avLst/>
          </a:prstGeom>
          <a:noFill/>
          <a:ln>
            <a:noFill/>
          </a:ln>
        </p:spPr>
        <p:txBody>
          <a:bodyPr anchorCtr="0" anchor="t" bIns="91425" lIns="91425" spcFirstLastPara="1" rIns="91425" wrap="square" tIns="91425">
            <a:noAutofit/>
          </a:bodyPr>
          <a:lstStyle/>
          <a:p>
            <a:pPr indent="-355600" lvl="0" marL="457200" rtl="0" algn="l">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Storefront business’s financial performance strongly correlated with number of visitors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Use image processing to count the number of cars over time in parking lots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Possible to forecast better than market</a:t>
            </a:r>
            <a:endParaRPr sz="2000">
              <a:solidFill>
                <a:srgbClr val="404040"/>
              </a:solidFill>
            </a:endParaRPr>
          </a:p>
        </p:txBody>
      </p:sp>
      <p:pic>
        <p:nvPicPr>
          <p:cNvPr id="405" name="Google Shape;405;p63"/>
          <p:cNvPicPr preferRelativeResize="0"/>
          <p:nvPr/>
        </p:nvPicPr>
        <p:blipFill>
          <a:blip r:embed="rId3">
            <a:alphaModFix/>
          </a:blip>
          <a:stretch>
            <a:fillRect/>
          </a:stretch>
        </p:blipFill>
        <p:spPr>
          <a:xfrm>
            <a:off x="5673850" y="1786713"/>
            <a:ext cx="3295416" cy="1860537"/>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0" name="Shape 410"/>
        <p:cNvGrpSpPr/>
        <p:nvPr/>
      </p:nvGrpSpPr>
      <p:grpSpPr>
        <a:xfrm>
          <a:off x="0" y="0"/>
          <a:ext cx="0" cy="0"/>
          <a:chOff x="0" y="0"/>
          <a:chExt cx="0" cy="0"/>
        </a:xfrm>
      </p:grpSpPr>
      <p:sp>
        <p:nvSpPr>
          <p:cNvPr id="411" name="Google Shape;411;p6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Alt Data Spend</a:t>
            </a:r>
            <a:endParaRPr b="1" i="0" sz="4000" u="none" cap="none" strike="noStrike">
              <a:solidFill>
                <a:srgbClr val="6D3BF5"/>
              </a:solidFill>
              <a:latin typeface="Poppins"/>
              <a:ea typeface="Poppins"/>
              <a:cs typeface="Poppins"/>
              <a:sym typeface="Poppins"/>
            </a:endParaRPr>
          </a:p>
        </p:txBody>
      </p:sp>
      <p:sp>
        <p:nvSpPr>
          <p:cNvPr id="412" name="Google Shape;412;p64"/>
          <p:cNvSpPr txBox="1"/>
          <p:nvPr/>
        </p:nvSpPr>
        <p:spPr>
          <a:xfrm>
            <a:off x="3466125" y="1207963"/>
            <a:ext cx="5481300" cy="1989300"/>
          </a:xfrm>
          <a:prstGeom prst="rect">
            <a:avLst/>
          </a:prstGeom>
          <a:noFill/>
          <a:ln>
            <a:noFill/>
          </a:ln>
        </p:spPr>
        <p:txBody>
          <a:bodyPr anchorCtr="0" anchor="t" bIns="91425" lIns="91425" spcFirstLastPara="1" rIns="91425" wrap="square" tIns="91425">
            <a:noAutofit/>
          </a:bodyPr>
          <a:lstStyle/>
          <a:p>
            <a:pPr indent="-355600" lvl="0" marL="457200" rtl="0" algn="l">
              <a:lnSpc>
                <a:spcPct val="90000"/>
              </a:lnSpc>
              <a:spcBef>
                <a:spcPts val="1000"/>
              </a:spcBef>
              <a:spcAft>
                <a:spcPts val="0"/>
              </a:spcAft>
              <a:buClr>
                <a:srgbClr val="404040"/>
              </a:buClr>
              <a:buSzPts val="2000"/>
              <a:buChar char="●"/>
            </a:pPr>
            <a:r>
              <a:rPr lang="en" sz="2000">
                <a:solidFill>
                  <a:srgbClr val="404040"/>
                </a:solidFill>
              </a:rPr>
              <a:t>Thesis:</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Consumer spending directly correlates with business performance</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Execution:</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Buy aggregated customer data from financial companies</a:t>
            </a:r>
            <a:endParaRPr sz="2000">
              <a:solidFill>
                <a:srgbClr val="404040"/>
              </a:solidFill>
            </a:endParaRPr>
          </a:p>
          <a:p>
            <a:pPr indent="-355600" lvl="0" marL="457200" rtl="0" algn="l">
              <a:lnSpc>
                <a:spcPct val="90000"/>
              </a:lnSpc>
              <a:spcBef>
                <a:spcPts val="0"/>
              </a:spcBef>
              <a:spcAft>
                <a:spcPts val="0"/>
              </a:spcAft>
              <a:buClr>
                <a:srgbClr val="404040"/>
              </a:buClr>
              <a:buSzPts val="2000"/>
              <a:buChar char="●"/>
            </a:pPr>
            <a:r>
              <a:rPr lang="en" sz="2000">
                <a:solidFill>
                  <a:srgbClr val="404040"/>
                </a:solidFill>
              </a:rPr>
              <a:t>Offline attribution</a:t>
            </a:r>
            <a:endParaRPr sz="2000">
              <a:solidFill>
                <a:srgbClr val="404040"/>
              </a:solidFill>
            </a:endParaRPr>
          </a:p>
          <a:p>
            <a:pPr indent="-355600" lvl="1" marL="914400" rtl="0" algn="l">
              <a:lnSpc>
                <a:spcPct val="90000"/>
              </a:lnSpc>
              <a:spcBef>
                <a:spcPts val="0"/>
              </a:spcBef>
              <a:spcAft>
                <a:spcPts val="0"/>
              </a:spcAft>
              <a:buClr>
                <a:srgbClr val="404040"/>
              </a:buClr>
              <a:buSzPts val="2000"/>
              <a:buChar char="○"/>
            </a:pPr>
            <a:r>
              <a:rPr lang="en" sz="2000">
                <a:solidFill>
                  <a:srgbClr val="404040"/>
                </a:solidFill>
              </a:rPr>
              <a:t>See if a person searches online and then buys from a store</a:t>
            </a:r>
            <a:endParaRPr sz="2000">
              <a:solidFill>
                <a:srgbClr val="404040"/>
              </a:solidFill>
            </a:endParaRPr>
          </a:p>
        </p:txBody>
      </p:sp>
      <p:pic>
        <p:nvPicPr>
          <p:cNvPr id="413" name="Google Shape;413;p64"/>
          <p:cNvPicPr preferRelativeResize="0"/>
          <p:nvPr/>
        </p:nvPicPr>
        <p:blipFill>
          <a:blip r:embed="rId3">
            <a:alphaModFix/>
          </a:blip>
          <a:stretch>
            <a:fillRect/>
          </a:stretch>
        </p:blipFill>
        <p:spPr>
          <a:xfrm>
            <a:off x="738448" y="976925"/>
            <a:ext cx="2530025" cy="3405174"/>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8" name="Shape 418"/>
        <p:cNvGrpSpPr/>
        <p:nvPr/>
      </p:nvGrpSpPr>
      <p:grpSpPr>
        <a:xfrm>
          <a:off x="0" y="0"/>
          <a:ext cx="0" cy="0"/>
          <a:chOff x="0" y="0"/>
          <a:chExt cx="0" cy="0"/>
        </a:xfrm>
      </p:grpSpPr>
      <p:sp>
        <p:nvSpPr>
          <p:cNvPr id="419" name="Google Shape;419;p65"/>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Packet Spoofing</a:t>
            </a:r>
            <a:endParaRPr b="1" i="0" sz="4000" u="none" cap="none" strike="noStrike">
              <a:solidFill>
                <a:srgbClr val="6D3BF5"/>
              </a:solidFill>
              <a:latin typeface="Poppins"/>
              <a:ea typeface="Poppins"/>
              <a:cs typeface="Poppins"/>
              <a:sym typeface="Poppins"/>
            </a:endParaRPr>
          </a:p>
        </p:txBody>
      </p:sp>
      <p:sp>
        <p:nvSpPr>
          <p:cNvPr id="420" name="Google Shape;420;p65"/>
          <p:cNvSpPr txBox="1"/>
          <p:nvPr/>
        </p:nvSpPr>
        <p:spPr>
          <a:xfrm>
            <a:off x="3466125" y="1207963"/>
            <a:ext cx="5481300" cy="1989300"/>
          </a:xfrm>
          <a:prstGeom prst="rect">
            <a:avLst/>
          </a:prstGeom>
          <a:noFill/>
          <a:ln>
            <a:noFill/>
          </a:ln>
        </p:spPr>
        <p:txBody>
          <a:bodyPr anchorCtr="0" anchor="t" bIns="91425" lIns="91425" spcFirstLastPara="1" rIns="91425" wrap="square" tIns="91425">
            <a:noAutofit/>
          </a:bodyPr>
          <a:lstStyle/>
          <a:p>
            <a:pPr indent="-323850" lvl="0" marL="457200" rtl="0" algn="l">
              <a:lnSpc>
                <a:spcPct val="90000"/>
              </a:lnSpc>
              <a:spcBef>
                <a:spcPts val="1000"/>
              </a:spcBef>
              <a:spcAft>
                <a:spcPts val="0"/>
              </a:spcAft>
              <a:buClr>
                <a:srgbClr val="404040"/>
              </a:buClr>
              <a:buSzPts val="1500"/>
              <a:buChar char="●"/>
            </a:pPr>
            <a:r>
              <a:rPr lang="en" sz="1500">
                <a:solidFill>
                  <a:srgbClr val="404040"/>
                </a:solidFill>
              </a:rPr>
              <a:t>Thesis:</a:t>
            </a:r>
            <a:endParaRPr sz="1500">
              <a:solidFill>
                <a:srgbClr val="404040"/>
              </a:solidFill>
            </a:endParaRPr>
          </a:p>
          <a:p>
            <a:pPr indent="-323850" lvl="1" marL="914400" rtl="0" algn="l">
              <a:lnSpc>
                <a:spcPct val="90000"/>
              </a:lnSpc>
              <a:spcBef>
                <a:spcPts val="0"/>
              </a:spcBef>
              <a:spcAft>
                <a:spcPts val="0"/>
              </a:spcAft>
              <a:buClr>
                <a:srgbClr val="404040"/>
              </a:buClr>
              <a:buSzPts val="1500"/>
              <a:buChar char="○"/>
            </a:pPr>
            <a:r>
              <a:rPr lang="en" sz="1500">
                <a:solidFill>
                  <a:srgbClr val="404040"/>
                </a:solidFill>
              </a:rPr>
              <a:t>Being first in the queue at the start of the day will give me a queuing advantage as I can make the market or understand where the market is trading at</a:t>
            </a:r>
            <a:endParaRPr sz="1500">
              <a:solidFill>
                <a:srgbClr val="404040"/>
              </a:solidFill>
            </a:endParaRPr>
          </a:p>
          <a:p>
            <a:pPr indent="-323850" lvl="0" marL="457200" rtl="0" algn="l">
              <a:lnSpc>
                <a:spcPct val="90000"/>
              </a:lnSpc>
              <a:spcBef>
                <a:spcPts val="0"/>
              </a:spcBef>
              <a:spcAft>
                <a:spcPts val="0"/>
              </a:spcAft>
              <a:buClr>
                <a:srgbClr val="404040"/>
              </a:buClr>
              <a:buSzPts val="1500"/>
              <a:buChar char="●"/>
            </a:pPr>
            <a:r>
              <a:rPr lang="en" sz="1500">
                <a:solidFill>
                  <a:srgbClr val="404040"/>
                </a:solidFill>
              </a:rPr>
              <a:t>Execution:</a:t>
            </a:r>
            <a:endParaRPr sz="1500">
              <a:solidFill>
                <a:srgbClr val="404040"/>
              </a:solidFill>
            </a:endParaRPr>
          </a:p>
          <a:p>
            <a:pPr indent="-323850" lvl="1" marL="914400" rtl="0" algn="l">
              <a:lnSpc>
                <a:spcPct val="90000"/>
              </a:lnSpc>
              <a:spcBef>
                <a:spcPts val="0"/>
              </a:spcBef>
              <a:spcAft>
                <a:spcPts val="0"/>
              </a:spcAft>
              <a:buClr>
                <a:srgbClr val="404040"/>
              </a:buClr>
              <a:buSzPts val="1500"/>
              <a:buChar char="○"/>
            </a:pPr>
            <a:r>
              <a:rPr lang="en" sz="1500">
                <a:solidFill>
                  <a:srgbClr val="404040"/>
                </a:solidFill>
              </a:rPr>
              <a:t>Malformed packets may not look like an order with intent to cancel – this will give me an information / time advantage</a:t>
            </a:r>
            <a:endParaRPr sz="1500">
              <a:solidFill>
                <a:srgbClr val="404040"/>
              </a:solidFill>
            </a:endParaRPr>
          </a:p>
          <a:p>
            <a:pPr indent="-323850" lvl="1" marL="914400" rtl="0" algn="l">
              <a:lnSpc>
                <a:spcPct val="90000"/>
              </a:lnSpc>
              <a:spcBef>
                <a:spcPts val="0"/>
              </a:spcBef>
              <a:spcAft>
                <a:spcPts val="0"/>
              </a:spcAft>
              <a:buClr>
                <a:srgbClr val="404040"/>
              </a:buClr>
              <a:buSzPts val="1500"/>
              <a:buChar char="○"/>
            </a:pPr>
            <a:r>
              <a:rPr lang="en" sz="1500">
                <a:solidFill>
                  <a:srgbClr val="404040"/>
                </a:solidFill>
              </a:rPr>
              <a:t>“Rule 575, Disruptive Practices Prohibited, prohibits the entering of an order or causing the entry of an order with the intent to cancel the order before execution or to modify the order to avoid execution. This practice is commonly known as spoofing.”</a:t>
            </a:r>
            <a:endParaRPr sz="1500">
              <a:solidFill>
                <a:srgbClr val="404040"/>
              </a:solidFill>
            </a:endParaRPr>
          </a:p>
          <a:p>
            <a:pPr indent="0" lvl="0" marL="0" rtl="0" algn="l">
              <a:lnSpc>
                <a:spcPct val="90000"/>
              </a:lnSpc>
              <a:spcBef>
                <a:spcPts val="1000"/>
              </a:spcBef>
              <a:spcAft>
                <a:spcPts val="0"/>
              </a:spcAft>
              <a:buNone/>
            </a:pPr>
            <a:r>
              <a:rPr lang="en" sz="1500">
                <a:solidFill>
                  <a:srgbClr val="404040"/>
                </a:solidFill>
              </a:rPr>
              <a:t>cmegroup.com</a:t>
            </a:r>
            <a:endParaRPr sz="1500">
              <a:solidFill>
                <a:srgbClr val="404040"/>
              </a:solidFill>
            </a:endParaRPr>
          </a:p>
        </p:txBody>
      </p:sp>
      <p:pic>
        <p:nvPicPr>
          <p:cNvPr id="421" name="Google Shape;421;p65"/>
          <p:cNvPicPr preferRelativeResize="0"/>
          <p:nvPr/>
        </p:nvPicPr>
        <p:blipFill>
          <a:blip r:embed="rId3">
            <a:alphaModFix/>
          </a:blip>
          <a:stretch>
            <a:fillRect/>
          </a:stretch>
        </p:blipFill>
        <p:spPr>
          <a:xfrm>
            <a:off x="167000" y="1683938"/>
            <a:ext cx="3161325" cy="1775634"/>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Prediction Markets in 2026</a:t>
            </a:r>
            <a:endParaRPr b="1" i="0" sz="4000" u="none" cap="none" strike="noStrik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0"/>
              </a:spcBef>
              <a:spcAft>
                <a:spcPts val="0"/>
              </a:spcAft>
              <a:buClr>
                <a:srgbClr val="595959"/>
              </a:buClr>
              <a:buSzPts val="1800"/>
              <a:buChar char="●"/>
            </a:pPr>
            <a:r>
              <a:rPr lang="en" sz="1800">
                <a:solidFill>
                  <a:srgbClr val="595959"/>
                </a:solidFill>
              </a:rPr>
              <a:t>Event contracts: binary markets that settle at $1 (YES) or $0 (NO) - the price (1¢–99¢) IS the market-implied probability</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CFTC-regulated: Kalshi’s Oct 2024 court win opened election markets - institutions followed (ICE, brokers, retail apps)</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Kalshi traded $23.8B in 2025; the 2026 midterms are the marquee event, with House control alone near $19M traded</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sz="1800">
                <a:solidFill>
                  <a:srgbClr val="595959"/>
                </a:solidFill>
              </a:rPr>
              <a:t>Every price is a probability: a natural playground for agents - forecasting, cross-venue arbitrage, and market making.</a:t>
            </a:r>
            <a:endParaRPr sz="1800">
              <a:solidFill>
                <a:srgbClr val="595959"/>
              </a:solidFill>
            </a:endParaRPr>
          </a:p>
          <a:p>
            <a:pPr indent="0" lvl="0" marL="0" rtl="0" algn="l">
              <a:lnSpc>
                <a:spcPct val="115000"/>
              </a:lnSpc>
              <a:spcBef>
                <a:spcPts val="1200"/>
              </a:spcBef>
              <a:spcAft>
                <a:spcPts val="1200"/>
              </a:spcAft>
              <a:buClr>
                <a:schemeClr val="dk1"/>
              </a:buClr>
              <a:buSzPts val="1100"/>
              <a:buFont typeface="Arial"/>
              <a:buNone/>
            </a:pPr>
            <a:r>
              <a:rPr lang="en" sz="1800">
                <a:solidFill>
                  <a:srgbClr val="595959"/>
                </a:solidFill>
              </a:rPr>
              <a:t>Event outcomes are largely uncorrelated to equities - a genuinely new source of diversifying returns. </a:t>
            </a:r>
            <a:endParaRPr sz="1800">
              <a:solidFill>
                <a:srgbClr val="595959"/>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Making Markets in Binaries</a:t>
            </a:r>
            <a:endParaRPr b="1" i="0" sz="4000" u="none" cap="none" strike="noStrik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0"/>
              </a:spcBef>
              <a:spcAft>
                <a:spcPts val="0"/>
              </a:spcAft>
              <a:buClr>
                <a:srgbClr val="595959"/>
              </a:buClr>
              <a:buSzPts val="1800"/>
              <a:buChar char="●"/>
            </a:pPr>
            <a:r>
              <a:rPr lang="en" sz="1800">
                <a:solidFill>
                  <a:srgbClr val="595959"/>
                </a:solidFill>
              </a:rPr>
              <a:t>One book per contract: buying YES at P is identical to selling NO at 100 - P; ticks are 1¢</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Quote both sides and earn the spread - makers pay no fee on most series; takers pay ≈7% × P × (1 − P) per contract</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The enemy is adverse selection: probabilities jump on news (polls, rulings, debates) faster than you can pull quotes</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sz="1800">
                <a:solidFill>
                  <a:srgbClr val="595959"/>
                </a:solidFill>
              </a:rPr>
              <a:t>Risk is bounded per contract (max loss is known up front), but inventory turns binary near resolution - size accordingly.</a:t>
            </a:r>
            <a:endParaRPr sz="1800">
              <a:solidFill>
                <a:srgbClr val="595959"/>
              </a:solidFill>
            </a:endParaRPr>
          </a:p>
          <a:p>
            <a:pPr indent="0" lvl="0" marL="0" rtl="0" algn="l">
              <a:lnSpc>
                <a:spcPct val="115000"/>
              </a:lnSpc>
              <a:spcBef>
                <a:spcPts val="1200"/>
              </a:spcBef>
              <a:spcAft>
                <a:spcPts val="1200"/>
              </a:spcAft>
              <a:buClr>
                <a:schemeClr val="dk1"/>
              </a:buClr>
              <a:buSzPts val="1100"/>
              <a:buFont typeface="Arial"/>
              <a:buNone/>
            </a:pPr>
            <a:r>
              <a:rPr lang="en" sz="1800">
                <a:solidFill>
                  <a:srgbClr val="595959"/>
                </a:solidFill>
              </a:rPr>
              <a:t>Today: a simple agent quoting the 2026 House control market on Kalshi, live. </a:t>
            </a:r>
            <a:endParaRPr sz="1800">
              <a:solidFill>
                <a:srgbClr val="595959"/>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34"/>
          <p:cNvSpPr txBox="1"/>
          <p:nvPr/>
        </p:nvSpPr>
        <p:spPr>
          <a:xfrm>
            <a:off x="340225" y="380950"/>
            <a:ext cx="7991100" cy="516600"/>
          </a:xfrm>
          <a:prstGeom prst="rect">
            <a:avLst/>
          </a:prstGeom>
          <a:noFill/>
          <a:ln>
            <a:noFill/>
          </a:ln>
        </p:spPr>
        <p:txBody>
          <a:bodyPr anchorCtr="0" anchor="t" bIns="91425" lIns="91425" spcFirstLastPara="1" rIns="91425" wrap="square" tIns="91425">
            <a:noAutofit/>
          </a:bodyPr>
          <a:lstStyle/>
          <a:p>
            <a:pPr indent="0" lvl="0" marL="0" marR="0" rtl="0" algn="l">
              <a:lnSpc>
                <a:spcPct val="70000"/>
              </a:lnSpc>
              <a:spcBef>
                <a:spcPts val="0"/>
              </a:spcBef>
              <a:spcAft>
                <a:spcPts val="0"/>
              </a:spcAft>
              <a:buClr>
                <a:srgbClr val="000000"/>
              </a:buClr>
              <a:buSzPts val="4000"/>
              <a:buFont typeface="Arial"/>
              <a:buNone/>
            </a:pPr>
            <a:r>
              <a:rPr b="1" lang="en" sz="4000">
                <a:solidFill>
                  <a:srgbClr val="6D3BF5"/>
                </a:solidFill>
                <a:latin typeface="Poppins"/>
                <a:ea typeface="Poppins"/>
                <a:cs typeface="Poppins"/>
                <a:sym typeface="Poppins"/>
              </a:rPr>
              <a:t>Prediction Market Arbitrage</a:t>
            </a:r>
            <a:endParaRPr b="1" i="0" sz="4000" u="none" cap="none" strike="noStrike">
              <a:solidFill>
                <a:srgbClr val="6D3BF5"/>
              </a:solidFill>
              <a:latin typeface="Poppins"/>
              <a:ea typeface="Poppins"/>
              <a:cs typeface="Poppins"/>
              <a:sym typeface="Poppins"/>
            </a:endParaRPr>
          </a:p>
        </p:txBody>
      </p:sp>
      <p:sp>
        <p:nvSpPr>
          <p:cNvPr id="170" name="Google Shape;170;p34"/>
          <p:cNvSpPr txBox="1"/>
          <p:nvPr/>
        </p:nvSpPr>
        <p:spPr>
          <a:xfrm>
            <a:off x="332225" y="932000"/>
            <a:ext cx="7932300" cy="693900"/>
          </a:xfrm>
          <a:prstGeom prst="rect">
            <a:avLst/>
          </a:prstGeom>
          <a:noFill/>
          <a:ln>
            <a:noFill/>
          </a:ln>
        </p:spPr>
        <p:txBody>
          <a:bodyPr anchorCtr="0" anchor="t" bIns="91425" lIns="91425" spcFirstLastPara="1" rIns="91425" wrap="square" tIns="91425">
            <a:noAutofit/>
          </a:bodyPr>
          <a:lstStyle/>
          <a:p>
            <a:pPr indent="-342900" lvl="0" marL="457200" rtl="0" algn="l">
              <a:lnSpc>
                <a:spcPct val="115000"/>
              </a:lnSpc>
              <a:spcBef>
                <a:spcPts val="0"/>
              </a:spcBef>
              <a:spcAft>
                <a:spcPts val="0"/>
              </a:spcAft>
              <a:buClr>
                <a:srgbClr val="595959"/>
              </a:buClr>
              <a:buSzPts val="1800"/>
              <a:buChar char="●"/>
            </a:pPr>
            <a:r>
              <a:rPr lang="en" sz="1800">
                <a:solidFill>
                  <a:srgbClr val="595959"/>
                </a:solidFill>
              </a:rPr>
              <a:t>The same event trades on multiple venues: Kalshi, Polymarket, and brokers routing to them (Robinhood, IBKR, Webull)</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If YES is 58¢ on one venue and 62¢ on another: buy YES cheap, buy NO rich — lock in a guaranteed $1 payout for &lt; $1</a:t>
            </a:r>
            <a:endParaRPr sz="1800">
              <a:solidFill>
                <a:srgbClr val="595959"/>
              </a:solidFill>
            </a:endParaRPr>
          </a:p>
          <a:p>
            <a:pPr indent="-342900" lvl="0" marL="457200" rtl="0" algn="l">
              <a:lnSpc>
                <a:spcPct val="115000"/>
              </a:lnSpc>
              <a:spcBef>
                <a:spcPts val="0"/>
              </a:spcBef>
              <a:spcAft>
                <a:spcPts val="0"/>
              </a:spcAft>
              <a:buClr>
                <a:srgbClr val="595959"/>
              </a:buClr>
              <a:buSzPts val="1800"/>
              <a:buChar char="●"/>
            </a:pPr>
            <a:r>
              <a:rPr lang="en" sz="1800">
                <a:solidFill>
                  <a:srgbClr val="595959"/>
                </a:solidFill>
              </a:rPr>
              <a:t>Frictions are the edge and the enemy: fees, capital sitting on both venues, USD vs USDC rails, withdrawal timing</a:t>
            </a:r>
            <a:endParaRPr sz="1800">
              <a:solidFill>
                <a:srgbClr val="595959"/>
              </a:solidFill>
            </a:endParaRPr>
          </a:p>
          <a:p>
            <a:pPr indent="0" lvl="0" marL="0" rtl="0" algn="l">
              <a:lnSpc>
                <a:spcPct val="115000"/>
              </a:lnSpc>
              <a:spcBef>
                <a:spcPts val="1200"/>
              </a:spcBef>
              <a:spcAft>
                <a:spcPts val="0"/>
              </a:spcAft>
              <a:buClr>
                <a:schemeClr val="dk1"/>
              </a:buClr>
              <a:buSzPts val="1100"/>
              <a:buFont typeface="Arial"/>
              <a:buNone/>
            </a:pPr>
            <a:r>
              <a:rPr lang="en" sz="1800">
                <a:solidFill>
                  <a:srgbClr val="595959"/>
                </a:solidFill>
              </a:rPr>
              <a:t>Read the rules: “identical” markets can differ in settlement source and date — resolution risk breaks naive arbs.</a:t>
            </a:r>
            <a:endParaRPr sz="1800">
              <a:solidFill>
                <a:srgbClr val="595959"/>
              </a:solidFill>
            </a:endParaRPr>
          </a:p>
          <a:p>
            <a:pPr indent="0" lvl="0" marL="0" rtl="0" algn="l">
              <a:lnSpc>
                <a:spcPct val="115000"/>
              </a:lnSpc>
              <a:spcBef>
                <a:spcPts val="1200"/>
              </a:spcBef>
              <a:spcAft>
                <a:spcPts val="1200"/>
              </a:spcAft>
              <a:buClr>
                <a:schemeClr val="dk1"/>
              </a:buClr>
              <a:buSzPts val="1100"/>
              <a:buFont typeface="Arial"/>
              <a:buNone/>
            </a:pPr>
            <a:r>
              <a:rPr lang="en" sz="1800">
                <a:solidFill>
                  <a:srgbClr val="595959"/>
                </a:solidFill>
              </a:rPr>
              <a:t>Books re-converge in seconds. Agents win this race; humans watching two browser tabs do not. </a:t>
            </a:r>
            <a:endParaRPr sz="1800">
              <a:solidFill>
                <a:srgbClr val="595959"/>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FFFF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